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278a93-2b4e-4933-d425-35930f9e70d7}">
          <p14:sldIdLst>
            <p14:sldId id="256"/>
            <p14:sldId id="257"/>
            <p14:sldId id="258"/>
          </p14:sldIdLst>
        </p14:section>
        <p14:section name="Pipeline stages" id="{ff2a0861-d179-0788-31a9-cf70dcab71e4}">
          <p14:sldIdLst>
            <p14:sldId id="259"/>
            <p14:sldId id="260"/>
            <p14:sldId id="261"/>
            <p14:sldId id="262"/>
            <p14:sldId id="263"/>
            <p14:sldId id="264"/>
            <p14:sldId id="265"/>
            <p14:sldId id="266"/>
            <p14:sldId id="267"/>
            <p14:sldId id="268"/>
            <p14:sldId id="269"/>
            <p14:sldId id="270"/>
            <p14:sldId id="271"/>
          </p14:sldIdLst>
        </p14:section>
        <p14:section name="Wrap-up" id="{564401d6-a3fd-865b-1bd7-45b5cc47f08c}">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CFEAE4"/>
                </a:solidFill>
                <a:latin typeface="+mn-lt"/>
              </a:defRPr>
            </a:pPr>
            <a:r>
              <a:rPr sz="1400" b="0" i="0" u="none" strike="noStrike">
                <a:solidFill>
                  <a:srgbClr val="CFEAE4"/>
                </a:solidFill>
                <a:latin typeface="+mn-lt"/>
              </a:rPr>
              <a:t>Backend replicas, sampled every ~15 s</a:t>
            </a:r>
          </a:p>
        </c:rich>
      </c:tx>
      <c:layout/>
      <c:overlay val="0"/>
    </c:title>
    <c:autoTitleDeleted val="0"/>
    <c:plotArea>
      <c:layout/>
      <c:barChart>
        <c:barDir val="col"/>
        <c:grouping val="clustered"/>
        <c:varyColors val="0"/>
        <c:ser>
          <c:idx val="0"/>
          <c:order val="0"/>
          <c:tx>
            <c:strRef>
              <c:f>Sheet1!$B$1</c:f>
              <c:strCache>
                <c:ptCount val="1"/>
                <c:pt idx="0">
                  <c:v>Backend pods</c:v>
                </c:pt>
              </c:strCache>
            </c:strRef>
          </c:tx>
          <c:spPr>
            <a:solidFill>
              <a:srgbClr val="2DD4BF"/>
            </a:solidFill>
            <a:effectLst/>
          </c:spPr>
          <c:invertIfNegative val="0"/>
          <c:dLbls>
            <c:numFmt formatCode="#,##0" sourceLinked="0"/>
            <c:txPr>
              <a:bodyPr/>
              <a:lstStyle/>
              <a:p>
                <a:pPr>
                  <a:defRPr b="1" i="0" strike="noStrike" sz="1300" u="none">
                    <a:solidFill>
                      <a:srgbClr val="CFEAE4"/>
                    </a:solidFill>
                    <a:latin typeface="+mn-lt"/>
                  </a:defRPr>
                </a:pPr>
              </a:p>
            </c:txPr>
            <c:showLegendKey val="0"/>
            <c:showVal val="1"/>
            <c:showCatName val="0"/>
            <c:showSerName val="0"/>
            <c:showPercent val="0"/>
            <c:showBubbleSize val="0"/>
            <c:showLeaderLines val="0"/>
          </c:dLbls>
          <c:cat>
            <c:multiLvlStrRef>
              <c:f>Sheet1!$A$2:$A$8</c:f>
              <c:multiLvlStrCache>
                <c:ptCount val="7"/>
                <c:lvl>
                  <c:pt idx="0">
                    <c:v>20:27:55</c:v>
                  </c:pt>
                  <c:pt idx="1">
                    <c:v>20:28:12</c:v>
                  </c:pt>
                  <c:pt idx="2">
                    <c:v>20:28:35</c:v>
                  </c:pt>
                  <c:pt idx="3">
                    <c:v>20:28:51</c:v>
                  </c:pt>
                  <c:pt idx="4">
                    <c:v>20:29:08</c:v>
                  </c:pt>
                  <c:pt idx="5">
                    <c:v>20:29:24</c:v>
                  </c:pt>
                  <c:pt idx="6">
                    <c:v>20:29:41</c:v>
                  </c:pt>
                </c:lvl>
              </c:multiLvlStrCache>
            </c:multiLvlStrRef>
          </c:cat>
          <c:val>
            <c:numRef>
              <c:f>Sheet1!$B$2:$B$8</c:f>
              <c:numCache>
                <c:formatCode>General</c:formatCode>
                <c:ptCount val="7"/>
                <c:pt idx="0">
                  <c:v>2</c:v>
                </c:pt>
                <c:pt idx="1">
                  <c:v>2</c:v>
                </c:pt>
                <c:pt idx="2">
                  <c:v>3</c:v>
                </c:pt>
                <c:pt idx="3">
                  <c:v>4</c:v>
                </c:pt>
                <c:pt idx="4">
                  <c:v>5</c:v>
                </c:pt>
                <c:pt idx="5">
                  <c:v>6</c:v>
                </c:pt>
                <c:pt idx="6">
                  <c:v>6</c:v>
                </c:pt>
              </c:numCache>
            </c:numRef>
          </c:val>
        </c:ser>
        <c:dLbls>
          <c:numFmt formatCode="#,##0" sourceLinked="0"/>
          <c:txPr>
            <a:bodyPr/>
            <a:lstStyle/>
            <a:p>
              <a:pPr>
                <a:defRPr b="1" i="0" strike="noStrike" sz="1300" u="none">
                  <a:solidFill>
                    <a:srgbClr val="CFEAE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9CFC8"/>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1E3A42"/>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9CFC8"/>
                </a:solidFill>
                <a:latin typeface="+mn-lt"/>
              </a:defRPr>
            </a:pPr>
            <a:endParaRPr lang="en-US"/>
          </a:p>
        </c:txPr>
        <c:crossAx val="2094734554"/>
        <c:crosses val="autoZero"/>
        <c:crossBetween val="between"/>
        <c:majorUnit val="1"/>
      </c:valAx>
      <c:spPr>
        <a:solidFill>
          <a:srgbClr val="0B1F2A"/>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presenting ClinicFlow, my DevOps final capstone. The application itself is a clinic appointment scheduler, but the real point of this project is the journey: how a single code commit travels all the way to a running, autoscaling, monitored Kubernetes cluster on AWS, with every step automated. I'll walk through each stage of that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deliberately chose my own domain rather than cloning the reference TaskBoard app, because the rubric gives zero for a direct clone. ClinicFlow is a clinic front desk. The headline feature is that the backend enforces real business rules — it rejects double-bookings for both doctors and patients, with a 409 response. The stack is React and Vite on the front, FastAPI and PostgreSQL on the back, with Alembic managing the database schema, and 36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map, straight from the course outline. Thirteen stages, from the application all the way to live troubleshooting. The key idea is traceability and automation: I make one commit, and GitHub Actions runs the tests, builds and scans the images, pushes them to a registry, and deploys them with Helm to a Kubernetes cluster that Terraform built on AWS. Then Prometheus and Grafana watch it. I'll take each box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the application. The point I want to make is that the DevOps layer is only worth anything if the app underneath actually works. ClinicFlow has a FastAPI backend with more than eight REST endpoints, a PostgreSQL database whose schema is managed as versioned code through Alembic migrations, and three operational endpoints. The panel on the right is a question an examiner often asks: why have both health and ready? Liveness says the process is up, and deliberately does not touch the database, so a brief database problem does not cause Kubernetes to restart every pod simultaneously. Readiness does check the database, so traffic only goes to pods that can actually serve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is Git. Version control is non-negotiable in a professional team. My repository is public, with a clean history built feature by feature — each commit does one logical thing and has a descriptive message, never a vague "fix" or "update". And crucially, my gitignore keeps secrets out: the dot-env file, Terraform variable files and caches are never committed. The grading team rejects any submission with secrets in the history, so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the CI pipeline, is the automation backbone and it carries the most marks. It runs on every push to main, in three conceptual stages. First, test: linting, my 36 pytest tests, the frontend tests, Helm and Terraform validation, and a secret scan. Second, build, scan and push the images. Third, deploy with Helm. The arrows matter — they're dependencies. If the tests fail, the job exits non-zero, and because the later jobs depend on it, nothing gets built and nothing gets deployed. That's the first quality gate: a bad commit stops here, before it can ever become a running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Docker. The goal is that anyone can run the entire stack with a single command. I use multi-stage builds — for the frontend, one stage builds the React app with Node, and a second, clean stage serves the static files with Nginx, so the build tools never end up in the shipped image. Both images run as non-root users, which is a security requirement and a grading criterion. And docker compose up build brings up all three services — frontend, backend and Postgres — together, with health checks so they start in the right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five, security. I run Trivy on both images, and the gate fails the build on any HIGH or CRITICAL vulnerability that has a fix available. This is the example I most want to highlight, because it's a real finding. My first scan failed with four HIGH CVEs — in urllib3, msgpack and setuptools. The interesting part: ClinicFlow never imports any of them. They were there only because pip, and the libraries pip bundles, shipped inside the image. Pip is only needed at build time, so I removed it from the runtime stage. All four findings disappeared and the image got smaller. The lesson is that the best fix is often removing what you don't need, not upgrading it. A scanner isn't a guarantee of security — it's one automated control among several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six is the registry. After the scan passes, the pipeline pushes both images to GitHub's Container Registry, GHCR. The important detail is the tag: I use the full Git commit SHA, never the latest tag. Latest is ambiguous — you can't tell which code is actually running. With a SHA tag, every running pod traces straight back to the exact commit that produced it, so I get full traceability from production back to source, and rolling back is just redeploying an older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seven, Terraform. Kubernetes manages workloads, but it doesn't create the AWS network or the cluster itself — that's Terraform's job. Everything is described in code: a VPC with public and private subnets across two availability zones, the EKS cluster with a managed node group, and the IAM roles. I provisioned this for real in the Mumbai region. One thing I'm proud of is the keyless deploy: GitHub authenticates to AWS through OIDC, so there are no AWS access keys stored anywhere. And because a live cluster costs money by the hour, terraform destroy is just as important as apply — I tore down all 65 resources and verified nothing was left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eight: Kubernetes. Pods are ephemeral — they get killed and replaced. A Deployment makes sure the right number are always running; if one dies, it creates a replacement. A Service gives those pods a stable network address even as individual pods change. In my cluster the backend and frontend each run two replicas, spread across both nodes so a single node failure doesn't take anything down, Postgres runs as a StatefulSet with a persistent EBS volume, and every pod is hardened — non-root, read-only filesystem, all Linux capabilities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nine, Helm. A real Kubernetes deployment is dozens of YAML files. Helm packages them into a single chart with variables, so I describe the deployment once and configure it per environment — I have a dev values file for my local cluster and a prod values file for EKS. One command, helm upgrade install, deploys or updates everything: the Deployments, Services, Ingress, autoscaler, network policy and monitoring hooks. And because it's a release with history, a bad deploy can roll back to the previous version — I actually configured the pipeline to roll back automatically if the new pods never become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ten, Ingress. The application has two logical routes from the outside world: slash goes to the React frontend, and slash-api goes to the FastAPI backend. The browser just talks to one hostname and the Ingress handles the routing, so the frontend never needs to know the backend's internal address. An important teaching point an examiner may probe: the Ingress resource is only configuration — it does nothing on its own. You also need an Ingress Controller to actually implement it. I used Traefik, because the older ingress-nginx project was retired in early 2026, but it speaks the same standard Ingress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eleven, autoscaling. The Horizontal Pod Autoscaler watches the backend's CPU usage and adds pods when it gets busy, then removes them when things calm down. I didn't just configure it — I demonstrated it live. I ran a load generator inside the cluster, the CPU shot up to well over three times the requested amount, and the HPA scaled the backend from two pods up to its maximum of six, in about 90 seconds. The thing to remember is what the HPA depends on: the pods must declare CPU resource requests, and the cluster needs a metrics provider — metrics-server — to tell the HPA what the CPU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twelve, monitoring. A system you can't observe is a system you can't operate. My backend exposes a metrics endpoint in Prometheus format — the standard HTTP metrics plus some custom business counters I added, like how many appointments were booked and how many double-bookings were blocked. A ServiceMonitor tells Prometheus to scrape every backend pod, and during my load test all six showed as UP. Grafana then visualises it in a dashboard I auto-provision with the app, showing request rate, error rate, latency percentiles, how traffic is balanced across pods, and the HPA scaling in real time. It answers the questions an on-call engineer actually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thirteen, the troubleshooting lab. Real operations isn't just deploying — it's diagnosing failures. I built a set of deliberately broken manifests, each teaching one classic failure mode. First, a wrong image tag gives an ImagePullBackOff, which you diagnose by reading the pod's Events with kubectl describe. Second, a Service with a typo in its label selector: it has an IP but zero endpoints, because labels are the only thing linking a Service to its pods — no matching labels, no traffic. Third, a bad database config that puts the pod in CrashLoopBackOff, where you read the logs and see the readiness probe never passing. In the live demo I'll break the Service, show it has no endpoints, find the typo, and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close, I want to call out that this wasn't a tutorial I followed step by step — I hit real problems and solved them. I pinned the Trivy GitHub Action to a specific commit, not a version tag, because those tags were actually hijacked in a supply-chain attack earlier this year. My AWS account is on the Free plan, which blocked the standard instance type, so I had to find and switch to a Free-Tier eligible one. GitHub changed how it formats its identity tokens, which broke my AWS deploy role, and I had to debug the IAM trust policy. And the pip removal I mentioned earlier taught me that sometimes the best security fix is deleting something, not patching it. These are the kinds of problems you actually face in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that is the actual objective of Session 21. I built a real application, but the deliverable is the journey around it — a single commit that flows, automatically, through testing, security scanning, image building, a registry, and a Helm deploy onto an autoscaling, monitored Kubernetes cluster that Terraform provisioned on AWS. Every running pod traces back to the exact commit that created it. Thank you — I'm happy to take questions, and to show any part of this running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AGE_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rtlCol="0"/>
          <a:lstStyle>
            <a:lvl1pPr algn="l" indent="0" marL="0">
              <a:buNone/>
              <a:defRPr lang="en-US" sz="1300" b="1" spc="200" kern="0" dirty="0">
                <a:solidFill>
                  <a:schemeClr val="accent1"/>
                </a:solidFill>
                <a:latin typeface="+mn-lt" pitchFamily="34" charset="0"/>
                <a:ea typeface="+mn-lt" pitchFamily="34" charset="-122"/>
                <a:cs typeface="+mn-lt" pitchFamily="34" charset="-120"/>
              </a:defRPr>
            </a:lvl1pPr>
          </a:lstStyle>
          <a:p>
            <a:pPr algn="l" indent="0" marL="0">
              <a:buNone/>
            </a:pP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rtlCol="0"/>
          <a:lstStyle>
            <a:lvl1pPr algn="l" indent="0" marL="0">
              <a:buNone/>
              <a:defRPr lang="en-US" sz="3400" b="1" dirty="0">
                <a:solidFill>
                  <a:schemeClr val="tx1"/>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chemeClr val="accent6"/>
                </a:solidFill>
                <a:latin typeface="+mn-lt" pitchFamily="34" charset="0"/>
                <a:ea typeface="+mn-lt" pitchFamily="34" charset="-122"/>
                <a:cs typeface="+mn-lt" pitchFamily="34" charset="-120"/>
              </a:rPr>
              <a:t>ClinicFlow  ·  DevOps Final Capstone</a:t>
            </a:r>
            <a:endParaRPr lang="en-US" sz="10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G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rtlCol="0"/>
          <a:lstStyle>
            <a:lvl1pPr algn="l" indent="0" marL="0">
              <a:buNone/>
              <a:defRPr lang="en-US" sz="1300" b="1" spc="200" kern="0" dirty="0">
                <a:solidFill>
                  <a:schemeClr val="accent2"/>
                </a:solidFill>
                <a:latin typeface="+mn-lt" pitchFamily="34" charset="0"/>
                <a:ea typeface="+mn-lt" pitchFamily="34" charset="-122"/>
                <a:cs typeface="+mn-lt" pitchFamily="34" charset="-120"/>
              </a:defRPr>
            </a:lvl1pPr>
          </a:lstStyle>
          <a:p>
            <a:pPr algn="l" indent="0" marL="0">
              <a:buNone/>
            </a:pP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rtlCol="0"/>
          <a:lstStyle>
            <a:lvl1pPr algn="l" indent="0" marL="0">
              <a:buNone/>
              <a:defRPr lang="en-US" sz="3400" b="1" dirty="0">
                <a:solidFill>
                  <a:schemeClr val="bg1"/>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chemeClr val="accent6"/>
                </a:solidFill>
                <a:latin typeface="+mn-lt" pitchFamily="34" charset="0"/>
                <a:ea typeface="+mn-lt" pitchFamily="34" charset="-122"/>
                <a:cs typeface="+mn-lt" pitchFamily="34" charset="-120"/>
              </a:rPr>
              <a:t>ClinicFlow  ·  DevOps Final Capstone</a:t>
            </a:r>
            <a:endParaRPr lang="en-US" sz="10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48840"/>
            <a:ext cx="10607040" cy="201168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logo tile"/>
          <p:cNvSpPr/>
          <p:nvPr/>
        </p:nvSpPr>
        <p:spPr>
          <a:xfrm>
            <a:off x="640080" y="685800"/>
            <a:ext cx="566928" cy="566928"/>
          </a:xfrm>
          <a:prstGeom prst="roundRect">
            <a:avLst>
              <a:gd name="adj" fmla="val 22581"/>
            </a:avLst>
          </a:prstGeom>
          <a:solidFill>
            <a:srgbClr val="2DD4BF"/>
          </a:solidFill>
          <a:ln/>
        </p:spPr>
      </p:sp>
      <p:pic>
        <p:nvPicPr>
          <p:cNvPr id="4" name="Image 0" descr="ClinicFlow logo">    </p:cNvPr>
          <p:cNvPicPr>
            <a:picLocks noChangeAspect="1"/>
          </p:cNvPicPr>
          <p:nvPr/>
        </p:nvPicPr>
        <p:blipFill>
          <a:blip r:embed="rId1"/>
          <a:stretch>
            <a:fillRect/>
          </a:stretch>
        </p:blipFill>
        <p:spPr>
          <a:xfrm>
            <a:off x="749808" y="795528"/>
            <a:ext cx="347472" cy="347472"/>
          </a:xfrm>
          <a:prstGeom prst="rect">
            <a:avLst/>
          </a:prstGeom>
        </p:spPr>
      </p:pic>
      <p:sp>
        <p:nvSpPr>
          <p:cNvPr id="5" name="brand"/>
          <p:cNvSpPr txBox="1"/>
          <p:nvPr/>
        </p:nvSpPr>
        <p:spPr>
          <a:xfrm>
            <a:off x="1371600" y="749808"/>
            <a:ext cx="3657600" cy="457200"/>
          </a:xfrm>
          <a:prstGeom prst="rect">
            <a:avLst/>
          </a:prstGeom>
          <a:noFill/>
          <a:ln/>
        </p:spPr>
        <p:txBody>
          <a:bodyPr wrap="square" lIns="0" tIns="0" rIns="0" bIns="0" rtlCol="0" anchor="ctr"/>
          <a:lstStyle/>
          <a:p>
            <a:pPr indent="0" marL="0">
              <a:buNone/>
            </a:pPr>
            <a:r>
              <a:rPr lang="en-US" sz="2200" b="1" dirty="0">
                <a:solidFill>
                  <a:schemeClr val="accent2"/>
                </a:solidFill>
                <a:latin typeface="+mn-lt" pitchFamily="34" charset="0"/>
                <a:ea typeface="+mn-lt" pitchFamily="34" charset="-122"/>
                <a:cs typeface="+mn-lt" pitchFamily="34" charset="-120"/>
              </a:rPr>
              <a:t>ClinicFlow</a:t>
            </a:r>
            <a:endParaRPr lang="en-US" sz="2200" dirty="0"/>
          </a:p>
        </p:txBody>
      </p:sp>
      <p:sp>
        <p:nvSpPr>
          <p:cNvPr id="6" name="eyebrow"/>
          <p:cNvSpPr txBox="1"/>
          <p:nvPr/>
        </p:nvSpPr>
        <p:spPr>
          <a:xfrm>
            <a:off x="640080" y="1691640"/>
            <a:ext cx="10058400" cy="365760"/>
          </a:xfrm>
          <a:prstGeom prst="rect">
            <a:avLst/>
          </a:prstGeom>
          <a:noFill/>
          <a:ln/>
        </p:spPr>
        <p:txBody>
          <a:bodyPr wrap="square" lIns="0" tIns="0" rIns="0" bIns="0" rtlCol="0" anchor="t"/>
          <a:lstStyle/>
          <a:p>
            <a:pPr indent="0" marL="0">
              <a:buNone/>
            </a:pPr>
            <a:r>
              <a:rPr lang="en-US" sz="1500" b="1" spc="300" kern="0" dirty="0">
                <a:solidFill>
                  <a:schemeClr val="accent2"/>
                </a:solidFill>
                <a:latin typeface="+mn-lt" pitchFamily="34" charset="0"/>
                <a:ea typeface="+mn-lt" pitchFamily="34" charset="-122"/>
                <a:cs typeface="+mn-lt" pitchFamily="34" charset="-120"/>
              </a:rPr>
              <a:t>DEVOPS FINAL CAPSTONE  ·  SESSION 21</a:t>
            </a:r>
            <a:endParaRPr lang="en-US" sz="1500" dirty="0"/>
          </a:p>
        </p:txBody>
      </p:sp>
      <p:sp>
        <p:nvSpPr>
          <p:cNvPr id="7" name="Text 0"/>
          <p:cNvSpPr/>
          <p:nvPr>
            <p:ph idx="100" type="title" hasCustomPrompt="1"/>
          </p:nvPr>
        </p:nvSpPr>
        <p:spPr>
          <a:xfrm>
            <a:off x="640080" y="2148840"/>
            <a:ext cx="10607040" cy="2011680"/>
          </a:xfrm>
          <a:prstGeom prst="rect">
            <a:avLst/>
          </a:prstGeom>
          <a:noFill/>
          <a:ln/>
        </p:spPr>
        <p:txBody>
          <a:bodyPr wrap="square" lIns="0" tIns="0" rIns="0" bIns="0" rtlCol="0" anchor="t"/>
          <a:lstStyle/>
          <a:p>
            <a:pPr algn="l" indent="0" marL="0">
              <a:buNone/>
            </a:pPr>
            <a:r>
              <a:rPr lang="en-US" sz="4400" b="1" dirty="0">
                <a:solidFill>
                  <a:schemeClr val="bg1"/>
                </a:solidFill>
                <a:latin typeface="+mj-lt" pitchFamily="34" charset="0"/>
                <a:ea typeface="+mj-lt" pitchFamily="34" charset="-122"/>
                <a:cs typeface="+mj-lt" pitchFamily="34" charset="-120"/>
              </a:rPr>
              <a:t>From a laptop to a monitored Kubernetes cluster on AWS</a:t>
            </a:r>
            <a:endParaRPr lang="en-US" sz="4400" dirty="0"/>
          </a:p>
        </p:txBody>
      </p:sp>
      <p:sp>
        <p:nvSpPr>
          <p:cNvPr id="8" name="subtitle"/>
          <p:cNvSpPr txBox="1"/>
          <p:nvPr/>
        </p:nvSpPr>
        <p:spPr>
          <a:xfrm>
            <a:off x="640080" y="4251960"/>
            <a:ext cx="9601200" cy="822960"/>
          </a:xfrm>
          <a:prstGeom prst="rect">
            <a:avLst/>
          </a:prstGeom>
          <a:noFill/>
          <a:ln/>
        </p:spPr>
        <p:txBody>
          <a:bodyPr wrap="square" lIns="0" tIns="0" rIns="0" bIns="0" rtlCol="0" anchor="t"/>
          <a:lstStyle/>
          <a:p>
            <a:pPr indent="0" marL="0">
              <a:buNone/>
            </a:pPr>
            <a:r>
              <a:rPr lang="en-US" sz="2000" dirty="0">
                <a:solidFill>
                  <a:srgbClr val="A9CFC8"/>
                </a:solidFill>
                <a:latin typeface="+mn-lt" pitchFamily="34" charset="0"/>
                <a:ea typeface="+mn-lt" pitchFamily="34" charset="-122"/>
                <a:cs typeface="+mn-lt" pitchFamily="34" charset="-120"/>
              </a:rPr>
              <a:t>A clinic appointment system, shipped through a complete, automated delivery pipeline.</a:t>
            </a:r>
            <a:endParaRPr lang="en-US" sz="2000" dirty="0"/>
          </a:p>
        </p:txBody>
      </p:sp>
      <p:sp>
        <p:nvSpPr>
          <p:cNvPr id="9" name="presenter"/>
          <p:cNvSpPr txBox="1"/>
          <p:nvPr/>
        </p:nvSpPr>
        <p:spPr>
          <a:xfrm>
            <a:off x="640080" y="5989320"/>
            <a:ext cx="4572000" cy="365760"/>
          </a:xfrm>
          <a:prstGeom prst="rect">
            <a:avLst/>
          </a:prstGeom>
          <a:noFill/>
          <a:ln/>
        </p:spPr>
        <p:txBody>
          <a:bodyPr wrap="square" lIns="0" tIns="0" rIns="0" bIns="0" rtlCol="0" anchor="t"/>
          <a:lstStyle/>
          <a:p>
            <a:pPr indent="0" marL="0">
              <a:buNone/>
            </a:pPr>
            <a:r>
              <a:rPr lang="en-US" sz="1500" dirty="0">
                <a:solidFill>
                  <a:srgbClr val="CFEAE4"/>
                </a:solidFill>
                <a:latin typeface="+mn-lt" pitchFamily="34" charset="0"/>
                <a:ea typeface="+mn-lt" pitchFamily="34" charset="-122"/>
                <a:cs typeface="+mn-lt" pitchFamily="34" charset="-120"/>
              </a:rPr>
              <a:t>Arjun Aggarwal</a:t>
            </a:r>
            <a:endParaRPr lang="en-US" sz="1500" dirty="0"/>
          </a:p>
        </p:txBody>
      </p:sp>
      <p:sp>
        <p:nvSpPr>
          <p:cNvPr id="10" name="repo"/>
          <p:cNvSpPr txBox="1"/>
          <p:nvPr/>
        </p:nvSpPr>
        <p:spPr>
          <a:xfrm>
            <a:off x="7071055" y="5989320"/>
            <a:ext cx="4572000" cy="365760"/>
          </a:xfrm>
          <a:prstGeom prst="rect">
            <a:avLst/>
          </a:prstGeom>
          <a:noFill/>
          <a:ln/>
        </p:spPr>
        <p:txBody>
          <a:bodyPr wrap="square" lIns="0" tIns="0" rIns="0" bIns="0" rtlCol="0" anchor="t"/>
          <a:lstStyle/>
          <a:p>
            <a:pPr algn="r" indent="0" marL="0">
              <a:buNone/>
            </a:pPr>
            <a:r>
              <a:rPr lang="en-US" sz="1300" dirty="0">
                <a:solidFill>
                  <a:srgbClr val="A9CFC8"/>
                </a:solidFill>
                <a:latin typeface="Courier New" pitchFamily="34" charset="0"/>
                <a:ea typeface="Courier New" pitchFamily="34" charset="-122"/>
                <a:cs typeface="Courier New" pitchFamily="34" charset="-120"/>
              </a:rPr>
              <a:t>github.com/arju-prog/clinicflow</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THE APPLICATION</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What ClinicFlow does</a:t>
            </a:r>
            <a:endParaRPr lang="en-US" sz="3400" dirty="0"/>
          </a:p>
        </p:txBody>
      </p:sp>
      <p:sp>
        <p:nvSpPr>
          <p:cNvPr id="5" name="lead"/>
          <p:cNvSpPr txBox="1"/>
          <p:nvPr/>
        </p:nvSpPr>
        <p:spPr>
          <a:xfrm>
            <a:off x="548640" y="1600200"/>
            <a:ext cx="10241280" cy="777240"/>
          </a:xfrm>
          <a:prstGeom prst="rect">
            <a:avLst/>
          </a:prstGeom>
          <a:noFill/>
          <a:ln/>
        </p:spPr>
        <p:txBody>
          <a:bodyPr wrap="square" lIns="0" tIns="0" rIns="0" bIns="0" rtlCol="0" anchor="t"/>
          <a:lstStyle/>
          <a:p>
            <a:pPr indent="0" marL="0">
              <a:buNone/>
            </a:pPr>
            <a:r>
              <a:rPr lang="en-US" sz="1800" dirty="0">
                <a:solidFill>
                  <a:schemeClr val="accent6"/>
                </a:solidFill>
                <a:latin typeface="+mn-lt" pitchFamily="34" charset="0"/>
                <a:ea typeface="+mn-lt" pitchFamily="34" charset="-122"/>
                <a:cs typeface="+mn-lt" pitchFamily="34" charset="-120"/>
              </a:rPr>
              <a:t>A clinic front-desk system. Receptionists register patients, manage doctors and book appointments, and the backend refuses any double-booking.</a:t>
            </a:r>
            <a:endParaRPr lang="en-US" sz="1800" dirty="0"/>
          </a:p>
        </p:txBody>
      </p:sp>
      <p:sp>
        <p:nvSpPr>
          <p:cNvPr id="6" name="Appointments card"/>
          <p:cNvSpPr/>
          <p:nvPr/>
        </p:nvSpPr>
        <p:spPr>
          <a:xfrm>
            <a:off x="548640" y="2606040"/>
            <a:ext cx="3484778" cy="2331720"/>
          </a:xfrm>
          <a:prstGeom prst="roundRect">
            <a:avLst>
              <a:gd name="adj" fmla="val 4706"/>
            </a:avLst>
          </a:prstGeom>
          <a:solidFill>
            <a:srgbClr val="FFFFFF"/>
          </a:solidFill>
          <a:ln w="12700">
            <a:solidFill>
              <a:srgbClr val="D6E3DF"/>
            </a:solidFill>
            <a:prstDash val="solid"/>
          </a:ln>
        </p:spPr>
      </p:sp>
      <p:sp>
        <p:nvSpPr>
          <p:cNvPr id="7" name="Appointments dot"/>
          <p:cNvSpPr/>
          <p:nvPr/>
        </p:nvSpPr>
        <p:spPr>
          <a:xfrm>
            <a:off x="868680" y="2926080"/>
            <a:ext cx="640080" cy="640080"/>
          </a:xfrm>
          <a:prstGeom prst="ellipse">
            <a:avLst/>
          </a:prstGeom>
          <a:solidFill>
            <a:srgbClr val="CCFBF1"/>
          </a:solidFill>
          <a:ln/>
        </p:spPr>
      </p:sp>
      <p:pic>
        <p:nvPicPr>
          <p:cNvPr id="8" name="Image 0" descr="Appointments">    </p:cNvPr>
          <p:cNvPicPr>
            <a:picLocks noChangeAspect="1"/>
          </p:cNvPicPr>
          <p:nvPr/>
        </p:nvPicPr>
        <p:blipFill>
          <a:blip r:embed="rId1"/>
          <a:stretch>
            <a:fillRect/>
          </a:stretch>
        </p:blipFill>
        <p:spPr>
          <a:xfrm>
            <a:off x="1022299" y="3079699"/>
            <a:ext cx="332842" cy="332842"/>
          </a:xfrm>
          <a:prstGeom prst="rect">
            <a:avLst/>
          </a:prstGeom>
        </p:spPr>
      </p:pic>
      <p:sp>
        <p:nvSpPr>
          <p:cNvPr id="9" name="Appointments title"/>
          <p:cNvSpPr txBox="1"/>
          <p:nvPr/>
        </p:nvSpPr>
        <p:spPr>
          <a:xfrm>
            <a:off x="868680" y="3703320"/>
            <a:ext cx="2844698" cy="365760"/>
          </a:xfrm>
          <a:prstGeom prst="rect">
            <a:avLst/>
          </a:prstGeom>
          <a:noFill/>
          <a:ln/>
        </p:spPr>
        <p:txBody>
          <a:bodyPr wrap="square" lIns="0" tIns="0" rIns="0" bIns="0" rtlCol="0" anchor="t"/>
          <a:lstStyle/>
          <a:p>
            <a:pPr indent="0" marL="0">
              <a:buNone/>
            </a:pPr>
            <a:r>
              <a:rPr lang="en-US" sz="1900" b="1" dirty="0">
                <a:solidFill>
                  <a:schemeClr val="tx1"/>
                </a:solidFill>
                <a:latin typeface="+mn-lt" pitchFamily="34" charset="0"/>
                <a:ea typeface="+mn-lt" pitchFamily="34" charset="-122"/>
                <a:cs typeface="+mn-lt" pitchFamily="34" charset="-120"/>
              </a:rPr>
              <a:t>Appointments</a:t>
            </a:r>
            <a:endParaRPr lang="en-US" sz="1900" dirty="0"/>
          </a:p>
        </p:txBody>
      </p:sp>
      <p:sp>
        <p:nvSpPr>
          <p:cNvPr id="10" name="Appointments desc"/>
          <p:cNvSpPr txBox="1"/>
          <p:nvPr/>
        </p:nvSpPr>
        <p:spPr>
          <a:xfrm>
            <a:off x="868680" y="4114800"/>
            <a:ext cx="2844698" cy="73152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Book, check in, complete or cancel. A doctor or patient is never in two places at once.</a:t>
            </a:r>
            <a:endParaRPr lang="en-US" sz="1500" dirty="0"/>
          </a:p>
        </p:txBody>
      </p:sp>
      <p:sp>
        <p:nvSpPr>
          <p:cNvPr id="11" name="Doctors &amp; patients card"/>
          <p:cNvSpPr/>
          <p:nvPr/>
        </p:nvSpPr>
        <p:spPr>
          <a:xfrm>
            <a:off x="4353458" y="2606040"/>
            <a:ext cx="3484778" cy="2331720"/>
          </a:xfrm>
          <a:prstGeom prst="roundRect">
            <a:avLst>
              <a:gd name="adj" fmla="val 4706"/>
            </a:avLst>
          </a:prstGeom>
          <a:solidFill>
            <a:srgbClr val="FFFFFF"/>
          </a:solidFill>
          <a:ln w="12700">
            <a:solidFill>
              <a:srgbClr val="D6E3DF"/>
            </a:solidFill>
            <a:prstDash val="solid"/>
          </a:ln>
        </p:spPr>
      </p:sp>
      <p:sp>
        <p:nvSpPr>
          <p:cNvPr id="12" name="Doctors &amp; patients dot"/>
          <p:cNvSpPr/>
          <p:nvPr/>
        </p:nvSpPr>
        <p:spPr>
          <a:xfrm>
            <a:off x="4673498" y="2926080"/>
            <a:ext cx="640080" cy="640080"/>
          </a:xfrm>
          <a:prstGeom prst="ellipse">
            <a:avLst/>
          </a:prstGeom>
          <a:solidFill>
            <a:srgbClr val="E0E7FF"/>
          </a:solidFill>
          <a:ln/>
        </p:spPr>
      </p:sp>
      <p:pic>
        <p:nvPicPr>
          <p:cNvPr id="13" name="Image 1" descr="Doctors &amp; patients">    </p:cNvPr>
          <p:cNvPicPr>
            <a:picLocks noChangeAspect="1"/>
          </p:cNvPicPr>
          <p:nvPr/>
        </p:nvPicPr>
        <p:blipFill>
          <a:blip r:embed="rId2"/>
          <a:stretch>
            <a:fillRect/>
          </a:stretch>
        </p:blipFill>
        <p:spPr>
          <a:xfrm>
            <a:off x="4827118" y="3079699"/>
            <a:ext cx="332842" cy="332842"/>
          </a:xfrm>
          <a:prstGeom prst="rect">
            <a:avLst/>
          </a:prstGeom>
        </p:spPr>
      </p:pic>
      <p:sp>
        <p:nvSpPr>
          <p:cNvPr id="14" name="Doctors &amp;amp; patients title"/>
          <p:cNvSpPr txBox="1"/>
          <p:nvPr/>
        </p:nvSpPr>
        <p:spPr>
          <a:xfrm>
            <a:off x="4673498" y="3703320"/>
            <a:ext cx="2844698" cy="365760"/>
          </a:xfrm>
          <a:prstGeom prst="rect">
            <a:avLst/>
          </a:prstGeom>
          <a:noFill/>
          <a:ln/>
        </p:spPr>
        <p:txBody>
          <a:bodyPr wrap="square" lIns="0" tIns="0" rIns="0" bIns="0" rtlCol="0" anchor="t"/>
          <a:lstStyle/>
          <a:p>
            <a:pPr indent="0" marL="0">
              <a:buNone/>
            </a:pPr>
            <a:r>
              <a:rPr lang="en-US" sz="1900" b="1" dirty="0">
                <a:solidFill>
                  <a:schemeClr val="tx1"/>
                </a:solidFill>
                <a:latin typeface="+mn-lt" pitchFamily="34" charset="0"/>
                <a:ea typeface="+mn-lt" pitchFamily="34" charset="-122"/>
                <a:cs typeface="+mn-lt" pitchFamily="34" charset="-120"/>
              </a:rPr>
              <a:t>Doctors &amp; patients</a:t>
            </a:r>
            <a:endParaRPr lang="en-US" sz="1900" dirty="0"/>
          </a:p>
        </p:txBody>
      </p:sp>
      <p:sp>
        <p:nvSpPr>
          <p:cNvPr id="15" name="Doctors &amp;amp; patients desc"/>
          <p:cNvSpPr txBox="1"/>
          <p:nvPr/>
        </p:nvSpPr>
        <p:spPr>
          <a:xfrm>
            <a:off x="4673498" y="4114800"/>
            <a:ext cx="2844698" cy="73152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Full CRUD across three resources, validated input and a searchable patient register.</a:t>
            </a:r>
            <a:endParaRPr lang="en-US" sz="1500" dirty="0"/>
          </a:p>
        </p:txBody>
      </p:sp>
      <p:sp>
        <p:nvSpPr>
          <p:cNvPr id="16" name="Live dashboard card"/>
          <p:cNvSpPr/>
          <p:nvPr/>
        </p:nvSpPr>
        <p:spPr>
          <a:xfrm>
            <a:off x="8158277" y="2606040"/>
            <a:ext cx="3484778" cy="2331720"/>
          </a:xfrm>
          <a:prstGeom prst="roundRect">
            <a:avLst>
              <a:gd name="adj" fmla="val 4706"/>
            </a:avLst>
          </a:prstGeom>
          <a:solidFill>
            <a:srgbClr val="FFFFFF"/>
          </a:solidFill>
          <a:ln w="12700">
            <a:solidFill>
              <a:srgbClr val="D6E3DF"/>
            </a:solidFill>
            <a:prstDash val="solid"/>
          </a:ln>
        </p:spPr>
      </p:sp>
      <p:sp>
        <p:nvSpPr>
          <p:cNvPr id="17" name="Live dashboard dot"/>
          <p:cNvSpPr/>
          <p:nvPr/>
        </p:nvSpPr>
        <p:spPr>
          <a:xfrm>
            <a:off x="8478317" y="2926080"/>
            <a:ext cx="640080" cy="640080"/>
          </a:xfrm>
          <a:prstGeom prst="ellipse">
            <a:avLst/>
          </a:prstGeom>
          <a:solidFill>
            <a:srgbClr val="FEF3C7"/>
          </a:solidFill>
          <a:ln/>
        </p:spPr>
      </p:sp>
      <p:pic>
        <p:nvPicPr>
          <p:cNvPr id="18" name="Image 2" descr="Live dashboard">    </p:cNvPr>
          <p:cNvPicPr>
            <a:picLocks noChangeAspect="1"/>
          </p:cNvPicPr>
          <p:nvPr/>
        </p:nvPicPr>
        <p:blipFill>
          <a:blip r:embed="rId3"/>
          <a:stretch>
            <a:fillRect/>
          </a:stretch>
        </p:blipFill>
        <p:spPr>
          <a:xfrm>
            <a:off x="8631936" y="3079699"/>
            <a:ext cx="332842" cy="332842"/>
          </a:xfrm>
          <a:prstGeom prst="rect">
            <a:avLst/>
          </a:prstGeom>
        </p:spPr>
      </p:pic>
      <p:sp>
        <p:nvSpPr>
          <p:cNvPr id="19" name="Live dashboard title"/>
          <p:cNvSpPr txBox="1"/>
          <p:nvPr/>
        </p:nvSpPr>
        <p:spPr>
          <a:xfrm>
            <a:off x="8478317" y="3703320"/>
            <a:ext cx="2844698" cy="365760"/>
          </a:xfrm>
          <a:prstGeom prst="rect">
            <a:avLst/>
          </a:prstGeom>
          <a:noFill/>
          <a:ln/>
        </p:spPr>
        <p:txBody>
          <a:bodyPr wrap="square" lIns="0" tIns="0" rIns="0" bIns="0" rtlCol="0" anchor="t"/>
          <a:lstStyle/>
          <a:p>
            <a:pPr indent="0" marL="0">
              <a:buNone/>
            </a:pPr>
            <a:r>
              <a:rPr lang="en-US" sz="1900" b="1" dirty="0">
                <a:solidFill>
                  <a:schemeClr val="tx1"/>
                </a:solidFill>
                <a:latin typeface="+mn-lt" pitchFamily="34" charset="0"/>
                <a:ea typeface="+mn-lt" pitchFamily="34" charset="-122"/>
                <a:cs typeface="+mn-lt" pitchFamily="34" charset="-120"/>
              </a:rPr>
              <a:t>Live dashboard</a:t>
            </a:r>
            <a:endParaRPr lang="en-US" sz="1900" dirty="0"/>
          </a:p>
        </p:txBody>
      </p:sp>
      <p:sp>
        <p:nvSpPr>
          <p:cNvPr id="20" name="Live dashboard desc"/>
          <p:cNvSpPr txBox="1"/>
          <p:nvPr/>
        </p:nvSpPr>
        <p:spPr>
          <a:xfrm>
            <a:off x="8478317" y="4114800"/>
            <a:ext cx="2844698" cy="73152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KPI cards, today’s schedule and doctor workload, all from the API’s stats endpoint.</a:t>
            </a:r>
            <a:endParaRPr lang="en-US" sz="1500" dirty="0"/>
          </a:p>
        </p:txBody>
      </p:sp>
      <p:sp>
        <p:nvSpPr>
          <p:cNvPr id="21" name="tech React + Vite"/>
          <p:cNvSpPr/>
          <p:nvPr/>
        </p:nvSpPr>
        <p:spPr>
          <a:xfrm>
            <a:off x="548640" y="5257800"/>
            <a:ext cx="1527048" cy="384048"/>
          </a:xfrm>
          <a:prstGeom prst="roundRect">
            <a:avLst>
              <a:gd name="adj" fmla="val 50000"/>
            </a:avLst>
          </a:prstGeom>
          <a:solidFill>
            <a:srgbClr val="E6F6F3"/>
          </a:solidFill>
          <a:ln/>
        </p:spPr>
      </p:sp>
      <p:sp>
        <p:nvSpPr>
          <p:cNvPr id="22" name="tech React + Vite label"/>
          <p:cNvSpPr txBox="1"/>
          <p:nvPr/>
        </p:nvSpPr>
        <p:spPr>
          <a:xfrm>
            <a:off x="548640" y="5257800"/>
            <a:ext cx="1527048"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React + Vite</a:t>
            </a:r>
            <a:endParaRPr lang="en-US" sz="1300" dirty="0"/>
          </a:p>
        </p:txBody>
      </p:sp>
      <p:sp>
        <p:nvSpPr>
          <p:cNvPr id="23" name="tech FastAPI"/>
          <p:cNvSpPr/>
          <p:nvPr/>
        </p:nvSpPr>
        <p:spPr>
          <a:xfrm>
            <a:off x="2258568" y="5257800"/>
            <a:ext cx="1081278" cy="384048"/>
          </a:xfrm>
          <a:prstGeom prst="roundRect">
            <a:avLst>
              <a:gd name="adj" fmla="val 50000"/>
            </a:avLst>
          </a:prstGeom>
          <a:solidFill>
            <a:srgbClr val="E6F6F3"/>
          </a:solidFill>
          <a:ln/>
        </p:spPr>
      </p:sp>
      <p:sp>
        <p:nvSpPr>
          <p:cNvPr id="24" name="tech FastAPI label"/>
          <p:cNvSpPr txBox="1"/>
          <p:nvPr/>
        </p:nvSpPr>
        <p:spPr>
          <a:xfrm>
            <a:off x="2258568" y="5257800"/>
            <a:ext cx="1081278"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FastAPI</a:t>
            </a:r>
            <a:endParaRPr lang="en-US" sz="1300" dirty="0"/>
          </a:p>
        </p:txBody>
      </p:sp>
      <p:sp>
        <p:nvSpPr>
          <p:cNvPr id="25" name="tech PostgreSQL"/>
          <p:cNvSpPr/>
          <p:nvPr/>
        </p:nvSpPr>
        <p:spPr>
          <a:xfrm>
            <a:off x="3522726" y="5257800"/>
            <a:ext cx="1348740" cy="384048"/>
          </a:xfrm>
          <a:prstGeom prst="roundRect">
            <a:avLst>
              <a:gd name="adj" fmla="val 50000"/>
            </a:avLst>
          </a:prstGeom>
          <a:solidFill>
            <a:srgbClr val="E6F6F3"/>
          </a:solidFill>
          <a:ln/>
        </p:spPr>
      </p:sp>
      <p:sp>
        <p:nvSpPr>
          <p:cNvPr id="26" name="tech PostgreSQL label"/>
          <p:cNvSpPr txBox="1"/>
          <p:nvPr/>
        </p:nvSpPr>
        <p:spPr>
          <a:xfrm>
            <a:off x="3522726" y="5257800"/>
            <a:ext cx="1348740"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PostgreSQL</a:t>
            </a:r>
            <a:endParaRPr lang="en-US" sz="1300" dirty="0"/>
          </a:p>
        </p:txBody>
      </p:sp>
      <p:sp>
        <p:nvSpPr>
          <p:cNvPr id="27" name="tech SQLAlchemy + Alembic"/>
          <p:cNvSpPr/>
          <p:nvPr/>
        </p:nvSpPr>
        <p:spPr>
          <a:xfrm>
            <a:off x="5054346" y="5257800"/>
            <a:ext cx="2240280" cy="384048"/>
          </a:xfrm>
          <a:prstGeom prst="roundRect">
            <a:avLst>
              <a:gd name="adj" fmla="val 50000"/>
            </a:avLst>
          </a:prstGeom>
          <a:solidFill>
            <a:srgbClr val="E6F6F3"/>
          </a:solidFill>
          <a:ln/>
        </p:spPr>
      </p:sp>
      <p:sp>
        <p:nvSpPr>
          <p:cNvPr id="28" name="tech SQLAlchemy + Alembic label"/>
          <p:cNvSpPr txBox="1"/>
          <p:nvPr/>
        </p:nvSpPr>
        <p:spPr>
          <a:xfrm>
            <a:off x="5054346" y="5257800"/>
            <a:ext cx="2240280"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SQLAlchemy + Alembic</a:t>
            </a:r>
            <a:endParaRPr lang="en-US" sz="1300" dirty="0"/>
          </a:p>
        </p:txBody>
      </p:sp>
      <p:sp>
        <p:nvSpPr>
          <p:cNvPr id="29" name="tech 36 pytest tests"/>
          <p:cNvSpPr/>
          <p:nvPr/>
        </p:nvSpPr>
        <p:spPr>
          <a:xfrm>
            <a:off x="7477506" y="5257800"/>
            <a:ext cx="1794510" cy="384048"/>
          </a:xfrm>
          <a:prstGeom prst="roundRect">
            <a:avLst>
              <a:gd name="adj" fmla="val 50000"/>
            </a:avLst>
          </a:prstGeom>
          <a:solidFill>
            <a:srgbClr val="E6F6F3"/>
          </a:solidFill>
          <a:ln/>
        </p:spPr>
      </p:sp>
      <p:sp>
        <p:nvSpPr>
          <p:cNvPr id="30" name="tech 36 pytest tests label"/>
          <p:cNvSpPr txBox="1"/>
          <p:nvPr/>
        </p:nvSpPr>
        <p:spPr>
          <a:xfrm>
            <a:off x="7477506" y="5257800"/>
            <a:ext cx="1794510"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36 pytest tests</a:t>
            </a:r>
            <a:endParaRPr lang="en-US" sz="13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2"/>
                </a:solidFill>
                <a:latin typeface="+mn-lt" pitchFamily="34" charset="0"/>
                <a:ea typeface="+mn-lt" pitchFamily="34" charset="-122"/>
                <a:cs typeface="+mn-lt" pitchFamily="34" charset="-120"/>
              </a:rPr>
              <a:t>THE JOURNEY</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One commit, thirteen stages</a:t>
            </a:r>
            <a:endParaRPr lang="en-US" sz="3400" dirty="0"/>
          </a:p>
        </p:txBody>
      </p:sp>
      <p:sp>
        <p:nvSpPr>
          <p:cNvPr id="5" name="lead"/>
          <p:cNvSpPr txBox="1"/>
          <p:nvPr/>
        </p:nvSpPr>
        <p:spPr>
          <a:xfrm>
            <a:off x="548640" y="1600200"/>
            <a:ext cx="10515600" cy="777240"/>
          </a:xfrm>
          <a:prstGeom prst="rect">
            <a:avLst/>
          </a:prstGeom>
          <a:noFill/>
          <a:ln/>
        </p:spPr>
        <p:txBody>
          <a:bodyPr wrap="square" lIns="0" tIns="0" rIns="0" bIns="0" rtlCol="0" anchor="t"/>
          <a:lstStyle/>
          <a:p>
            <a:pPr indent="0" marL="0">
              <a:buNone/>
            </a:pPr>
            <a:r>
              <a:rPr lang="en-US" sz="1800" dirty="0">
                <a:solidFill>
                  <a:srgbClr val="A9CFC8"/>
                </a:solidFill>
                <a:latin typeface="+mn-lt" pitchFamily="34" charset="0"/>
                <a:ea typeface="+mn-lt" pitchFamily="34" charset="-122"/>
                <a:cs typeface="+mn-lt" pitchFamily="34" charset="-120"/>
              </a:rPr>
              <a:t>This is the sequence I’ll demonstrate. Each box is a stage, and every stage is automated: pushing code to GitHub sets the whole chain in motion.</a:t>
            </a:r>
            <a:endParaRPr lang="en-US" sz="1800" dirty="0"/>
          </a:p>
        </p:txBody>
      </p:sp>
      <p:sp>
        <p:nvSpPr>
          <p:cNvPr id="6" name="stage 1"/>
          <p:cNvSpPr/>
          <p:nvPr/>
        </p:nvSpPr>
        <p:spPr>
          <a:xfrm>
            <a:off x="548640" y="2743200"/>
            <a:ext cx="1298448" cy="1005840"/>
          </a:xfrm>
          <a:prstGeom prst="roundRect">
            <a:avLst>
              <a:gd name="adj" fmla="val 10909"/>
            </a:avLst>
          </a:prstGeom>
          <a:solidFill>
            <a:srgbClr val="0F4A44"/>
          </a:solidFill>
          <a:ln w="12700">
            <a:solidFill>
              <a:srgbClr val="2DD4BF"/>
            </a:solidFill>
            <a:prstDash val="solid"/>
          </a:ln>
        </p:spPr>
      </p:sp>
      <p:sp>
        <p:nvSpPr>
          <p:cNvPr id="7" name="stage 1 no"/>
          <p:cNvSpPr txBox="1"/>
          <p:nvPr/>
        </p:nvSpPr>
        <p:spPr>
          <a:xfrm>
            <a:off x="676656" y="286207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01</a:t>
            </a:r>
            <a:endParaRPr lang="en-US" sz="1200" dirty="0"/>
          </a:p>
        </p:txBody>
      </p:sp>
      <p:sp>
        <p:nvSpPr>
          <p:cNvPr id="8" name="stage 1 name"/>
          <p:cNvSpPr txBox="1"/>
          <p:nvPr/>
        </p:nvSpPr>
        <p:spPr>
          <a:xfrm>
            <a:off x="640080" y="315468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Application</a:t>
            </a:r>
            <a:endParaRPr lang="en-US" sz="1300" dirty="0"/>
          </a:p>
        </p:txBody>
      </p:sp>
      <p:sp>
        <p:nvSpPr>
          <p:cNvPr id="9" name="arrow 1"/>
          <p:cNvSpPr/>
          <p:nvPr/>
        </p:nvSpPr>
        <p:spPr>
          <a:xfrm>
            <a:off x="1920240" y="3154680"/>
            <a:ext cx="155448" cy="182880"/>
          </a:xfrm>
          <a:prstGeom prst="rightArrow">
            <a:avLst/>
          </a:prstGeom>
          <a:solidFill>
            <a:srgbClr val="2DD4BF"/>
          </a:solidFill>
          <a:ln/>
        </p:spPr>
      </p:sp>
      <p:sp>
        <p:nvSpPr>
          <p:cNvPr id="10" name="stage 2"/>
          <p:cNvSpPr/>
          <p:nvPr/>
        </p:nvSpPr>
        <p:spPr>
          <a:xfrm>
            <a:off x="2148840" y="2743200"/>
            <a:ext cx="1298448" cy="1005840"/>
          </a:xfrm>
          <a:prstGeom prst="roundRect">
            <a:avLst>
              <a:gd name="adj" fmla="val 10909"/>
            </a:avLst>
          </a:prstGeom>
          <a:solidFill>
            <a:srgbClr val="14303A"/>
          </a:solidFill>
          <a:ln/>
        </p:spPr>
      </p:sp>
      <p:sp>
        <p:nvSpPr>
          <p:cNvPr id="11" name="stage 2 no"/>
          <p:cNvSpPr txBox="1"/>
          <p:nvPr/>
        </p:nvSpPr>
        <p:spPr>
          <a:xfrm>
            <a:off x="2276856" y="286207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02</a:t>
            </a:r>
            <a:endParaRPr lang="en-US" sz="1200" dirty="0"/>
          </a:p>
        </p:txBody>
      </p:sp>
      <p:sp>
        <p:nvSpPr>
          <p:cNvPr id="12" name="stage 2 name"/>
          <p:cNvSpPr txBox="1"/>
          <p:nvPr/>
        </p:nvSpPr>
        <p:spPr>
          <a:xfrm>
            <a:off x="2240280" y="315468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Git commit</a:t>
            </a:r>
            <a:endParaRPr lang="en-US" sz="1300" dirty="0"/>
          </a:p>
        </p:txBody>
      </p:sp>
      <p:sp>
        <p:nvSpPr>
          <p:cNvPr id="13" name="arrow 2"/>
          <p:cNvSpPr/>
          <p:nvPr/>
        </p:nvSpPr>
        <p:spPr>
          <a:xfrm>
            <a:off x="3520440" y="3154680"/>
            <a:ext cx="155448" cy="182880"/>
          </a:xfrm>
          <a:prstGeom prst="rightArrow">
            <a:avLst/>
          </a:prstGeom>
          <a:solidFill>
            <a:srgbClr val="2DD4BF"/>
          </a:solidFill>
          <a:ln/>
        </p:spPr>
      </p:sp>
      <p:sp>
        <p:nvSpPr>
          <p:cNvPr id="14" name="stage 3"/>
          <p:cNvSpPr/>
          <p:nvPr/>
        </p:nvSpPr>
        <p:spPr>
          <a:xfrm>
            <a:off x="3749040" y="2743200"/>
            <a:ext cx="1298448" cy="1005840"/>
          </a:xfrm>
          <a:prstGeom prst="roundRect">
            <a:avLst>
              <a:gd name="adj" fmla="val 10909"/>
            </a:avLst>
          </a:prstGeom>
          <a:solidFill>
            <a:srgbClr val="14303A"/>
          </a:solidFill>
          <a:ln/>
        </p:spPr>
      </p:sp>
      <p:sp>
        <p:nvSpPr>
          <p:cNvPr id="15" name="stage 3 no"/>
          <p:cNvSpPr txBox="1"/>
          <p:nvPr/>
        </p:nvSpPr>
        <p:spPr>
          <a:xfrm>
            <a:off x="3877056" y="286207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03</a:t>
            </a:r>
            <a:endParaRPr lang="en-US" sz="1200" dirty="0"/>
          </a:p>
        </p:txBody>
      </p:sp>
      <p:sp>
        <p:nvSpPr>
          <p:cNvPr id="16" name="stage 3 name"/>
          <p:cNvSpPr txBox="1"/>
          <p:nvPr/>
        </p:nvSpPr>
        <p:spPr>
          <a:xfrm>
            <a:off x="3840480" y="315468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CI pipeline</a:t>
            </a:r>
            <a:endParaRPr lang="en-US" sz="1300" dirty="0"/>
          </a:p>
        </p:txBody>
      </p:sp>
      <p:sp>
        <p:nvSpPr>
          <p:cNvPr id="17" name="arrow 3"/>
          <p:cNvSpPr/>
          <p:nvPr/>
        </p:nvSpPr>
        <p:spPr>
          <a:xfrm>
            <a:off x="5120640" y="3154680"/>
            <a:ext cx="155448" cy="182880"/>
          </a:xfrm>
          <a:prstGeom prst="rightArrow">
            <a:avLst/>
          </a:prstGeom>
          <a:solidFill>
            <a:srgbClr val="2DD4BF"/>
          </a:solidFill>
          <a:ln/>
        </p:spPr>
      </p:sp>
      <p:sp>
        <p:nvSpPr>
          <p:cNvPr id="18" name="stage 4"/>
          <p:cNvSpPr/>
          <p:nvPr/>
        </p:nvSpPr>
        <p:spPr>
          <a:xfrm>
            <a:off x="5349240" y="2743200"/>
            <a:ext cx="1298448" cy="1005840"/>
          </a:xfrm>
          <a:prstGeom prst="roundRect">
            <a:avLst>
              <a:gd name="adj" fmla="val 10909"/>
            </a:avLst>
          </a:prstGeom>
          <a:solidFill>
            <a:srgbClr val="14303A"/>
          </a:solidFill>
          <a:ln/>
        </p:spPr>
      </p:sp>
      <p:sp>
        <p:nvSpPr>
          <p:cNvPr id="19" name="stage 4 no"/>
          <p:cNvSpPr txBox="1"/>
          <p:nvPr/>
        </p:nvSpPr>
        <p:spPr>
          <a:xfrm>
            <a:off x="5477256" y="286207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04</a:t>
            </a:r>
            <a:endParaRPr lang="en-US" sz="1200" dirty="0"/>
          </a:p>
        </p:txBody>
      </p:sp>
      <p:sp>
        <p:nvSpPr>
          <p:cNvPr id="20" name="stage 4 name"/>
          <p:cNvSpPr txBox="1"/>
          <p:nvPr/>
        </p:nvSpPr>
        <p:spPr>
          <a:xfrm>
            <a:off x="5440680" y="315468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Docker image</a:t>
            </a:r>
            <a:endParaRPr lang="en-US" sz="1300" dirty="0"/>
          </a:p>
        </p:txBody>
      </p:sp>
      <p:sp>
        <p:nvSpPr>
          <p:cNvPr id="21" name="arrow 4"/>
          <p:cNvSpPr/>
          <p:nvPr/>
        </p:nvSpPr>
        <p:spPr>
          <a:xfrm>
            <a:off x="6720840" y="3154680"/>
            <a:ext cx="155448" cy="182880"/>
          </a:xfrm>
          <a:prstGeom prst="rightArrow">
            <a:avLst/>
          </a:prstGeom>
          <a:solidFill>
            <a:srgbClr val="2DD4BF"/>
          </a:solidFill>
          <a:ln/>
        </p:spPr>
      </p:sp>
      <p:sp>
        <p:nvSpPr>
          <p:cNvPr id="22" name="stage 5"/>
          <p:cNvSpPr/>
          <p:nvPr/>
        </p:nvSpPr>
        <p:spPr>
          <a:xfrm>
            <a:off x="6949440" y="2743200"/>
            <a:ext cx="1298448" cy="1005840"/>
          </a:xfrm>
          <a:prstGeom prst="roundRect">
            <a:avLst>
              <a:gd name="adj" fmla="val 10909"/>
            </a:avLst>
          </a:prstGeom>
          <a:solidFill>
            <a:srgbClr val="14303A"/>
          </a:solidFill>
          <a:ln/>
        </p:spPr>
      </p:sp>
      <p:sp>
        <p:nvSpPr>
          <p:cNvPr id="23" name="stage 5 no"/>
          <p:cNvSpPr txBox="1"/>
          <p:nvPr/>
        </p:nvSpPr>
        <p:spPr>
          <a:xfrm>
            <a:off x="7077456" y="286207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05</a:t>
            </a:r>
            <a:endParaRPr lang="en-US" sz="1200" dirty="0"/>
          </a:p>
        </p:txBody>
      </p:sp>
      <p:sp>
        <p:nvSpPr>
          <p:cNvPr id="24" name="stage 5 name"/>
          <p:cNvSpPr txBox="1"/>
          <p:nvPr/>
        </p:nvSpPr>
        <p:spPr>
          <a:xfrm>
            <a:off x="7040880" y="315468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Security scan</a:t>
            </a:r>
            <a:endParaRPr lang="en-US" sz="1300" dirty="0"/>
          </a:p>
        </p:txBody>
      </p:sp>
      <p:sp>
        <p:nvSpPr>
          <p:cNvPr id="25" name="arrow 5"/>
          <p:cNvSpPr/>
          <p:nvPr/>
        </p:nvSpPr>
        <p:spPr>
          <a:xfrm>
            <a:off x="8321040" y="3154680"/>
            <a:ext cx="155448" cy="182880"/>
          </a:xfrm>
          <a:prstGeom prst="rightArrow">
            <a:avLst/>
          </a:prstGeom>
          <a:solidFill>
            <a:srgbClr val="2DD4BF"/>
          </a:solidFill>
          <a:ln/>
        </p:spPr>
      </p:sp>
      <p:sp>
        <p:nvSpPr>
          <p:cNvPr id="26" name="stage 6"/>
          <p:cNvSpPr/>
          <p:nvPr/>
        </p:nvSpPr>
        <p:spPr>
          <a:xfrm>
            <a:off x="8549640" y="2743200"/>
            <a:ext cx="1298448" cy="1005840"/>
          </a:xfrm>
          <a:prstGeom prst="roundRect">
            <a:avLst>
              <a:gd name="adj" fmla="val 10909"/>
            </a:avLst>
          </a:prstGeom>
          <a:solidFill>
            <a:srgbClr val="14303A"/>
          </a:solidFill>
          <a:ln/>
        </p:spPr>
      </p:sp>
      <p:sp>
        <p:nvSpPr>
          <p:cNvPr id="27" name="stage 6 no"/>
          <p:cNvSpPr txBox="1"/>
          <p:nvPr/>
        </p:nvSpPr>
        <p:spPr>
          <a:xfrm>
            <a:off x="8677656" y="286207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06</a:t>
            </a:r>
            <a:endParaRPr lang="en-US" sz="1200" dirty="0"/>
          </a:p>
        </p:txBody>
      </p:sp>
      <p:sp>
        <p:nvSpPr>
          <p:cNvPr id="28" name="stage 6 name"/>
          <p:cNvSpPr txBox="1"/>
          <p:nvPr/>
        </p:nvSpPr>
        <p:spPr>
          <a:xfrm>
            <a:off x="8641080" y="315468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Registry</a:t>
            </a:r>
            <a:endParaRPr lang="en-US" sz="1300" dirty="0"/>
          </a:p>
        </p:txBody>
      </p:sp>
      <p:sp>
        <p:nvSpPr>
          <p:cNvPr id="29" name="arrow 6"/>
          <p:cNvSpPr/>
          <p:nvPr/>
        </p:nvSpPr>
        <p:spPr>
          <a:xfrm>
            <a:off x="9921240" y="3154680"/>
            <a:ext cx="155448" cy="182880"/>
          </a:xfrm>
          <a:prstGeom prst="rightArrow">
            <a:avLst/>
          </a:prstGeom>
          <a:solidFill>
            <a:srgbClr val="2DD4BF"/>
          </a:solidFill>
          <a:ln/>
        </p:spPr>
      </p:sp>
      <p:sp>
        <p:nvSpPr>
          <p:cNvPr id="30" name="stage 7"/>
          <p:cNvSpPr/>
          <p:nvPr/>
        </p:nvSpPr>
        <p:spPr>
          <a:xfrm>
            <a:off x="10149840" y="2743200"/>
            <a:ext cx="1298448" cy="1005840"/>
          </a:xfrm>
          <a:prstGeom prst="roundRect">
            <a:avLst>
              <a:gd name="adj" fmla="val 10909"/>
            </a:avLst>
          </a:prstGeom>
          <a:solidFill>
            <a:srgbClr val="14303A"/>
          </a:solidFill>
          <a:ln/>
        </p:spPr>
      </p:sp>
      <p:sp>
        <p:nvSpPr>
          <p:cNvPr id="31" name="stage 7 no"/>
          <p:cNvSpPr txBox="1"/>
          <p:nvPr/>
        </p:nvSpPr>
        <p:spPr>
          <a:xfrm>
            <a:off x="10277856" y="286207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07</a:t>
            </a:r>
            <a:endParaRPr lang="en-US" sz="1200" dirty="0"/>
          </a:p>
        </p:txBody>
      </p:sp>
      <p:sp>
        <p:nvSpPr>
          <p:cNvPr id="32" name="stage 7 name"/>
          <p:cNvSpPr txBox="1"/>
          <p:nvPr/>
        </p:nvSpPr>
        <p:spPr>
          <a:xfrm>
            <a:off x="10241280" y="315468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Terraform</a:t>
            </a:r>
            <a:endParaRPr lang="en-US" sz="1300" dirty="0"/>
          </a:p>
        </p:txBody>
      </p:sp>
      <p:sp>
        <p:nvSpPr>
          <p:cNvPr id="33" name="stage 8"/>
          <p:cNvSpPr/>
          <p:nvPr/>
        </p:nvSpPr>
        <p:spPr>
          <a:xfrm>
            <a:off x="548640" y="4160520"/>
            <a:ext cx="1298448" cy="1005840"/>
          </a:xfrm>
          <a:prstGeom prst="roundRect">
            <a:avLst>
              <a:gd name="adj" fmla="val 10909"/>
            </a:avLst>
          </a:prstGeom>
          <a:solidFill>
            <a:srgbClr val="14303A"/>
          </a:solidFill>
          <a:ln/>
        </p:spPr>
      </p:sp>
      <p:sp>
        <p:nvSpPr>
          <p:cNvPr id="34" name="stage 8 no"/>
          <p:cNvSpPr txBox="1"/>
          <p:nvPr/>
        </p:nvSpPr>
        <p:spPr>
          <a:xfrm>
            <a:off x="676656" y="427939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08</a:t>
            </a:r>
            <a:endParaRPr lang="en-US" sz="1200" dirty="0"/>
          </a:p>
        </p:txBody>
      </p:sp>
      <p:sp>
        <p:nvSpPr>
          <p:cNvPr id="35" name="stage 8 name"/>
          <p:cNvSpPr txBox="1"/>
          <p:nvPr/>
        </p:nvSpPr>
        <p:spPr>
          <a:xfrm>
            <a:off x="640080" y="457200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Kubernetes</a:t>
            </a:r>
            <a:endParaRPr lang="en-US" sz="1300" dirty="0"/>
          </a:p>
        </p:txBody>
      </p:sp>
      <p:sp>
        <p:nvSpPr>
          <p:cNvPr id="36" name="arrow 8"/>
          <p:cNvSpPr/>
          <p:nvPr/>
        </p:nvSpPr>
        <p:spPr>
          <a:xfrm>
            <a:off x="1920240" y="4572000"/>
            <a:ext cx="155448" cy="182880"/>
          </a:xfrm>
          <a:prstGeom prst="rightArrow">
            <a:avLst/>
          </a:prstGeom>
          <a:solidFill>
            <a:srgbClr val="2DD4BF"/>
          </a:solidFill>
          <a:ln/>
        </p:spPr>
      </p:sp>
      <p:sp>
        <p:nvSpPr>
          <p:cNvPr id="37" name="stage 9"/>
          <p:cNvSpPr/>
          <p:nvPr/>
        </p:nvSpPr>
        <p:spPr>
          <a:xfrm>
            <a:off x="2148840" y="4160520"/>
            <a:ext cx="1298448" cy="1005840"/>
          </a:xfrm>
          <a:prstGeom prst="roundRect">
            <a:avLst>
              <a:gd name="adj" fmla="val 10909"/>
            </a:avLst>
          </a:prstGeom>
          <a:solidFill>
            <a:srgbClr val="14303A"/>
          </a:solidFill>
          <a:ln/>
        </p:spPr>
      </p:sp>
      <p:sp>
        <p:nvSpPr>
          <p:cNvPr id="38" name="stage 9 no"/>
          <p:cNvSpPr txBox="1"/>
          <p:nvPr/>
        </p:nvSpPr>
        <p:spPr>
          <a:xfrm>
            <a:off x="2276856" y="427939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09</a:t>
            </a:r>
            <a:endParaRPr lang="en-US" sz="1200" dirty="0"/>
          </a:p>
        </p:txBody>
      </p:sp>
      <p:sp>
        <p:nvSpPr>
          <p:cNvPr id="39" name="stage 9 name"/>
          <p:cNvSpPr txBox="1"/>
          <p:nvPr/>
        </p:nvSpPr>
        <p:spPr>
          <a:xfrm>
            <a:off x="2240280" y="457200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Helm</a:t>
            </a:r>
            <a:endParaRPr lang="en-US" sz="1300" dirty="0"/>
          </a:p>
        </p:txBody>
      </p:sp>
      <p:sp>
        <p:nvSpPr>
          <p:cNvPr id="40" name="arrow 9"/>
          <p:cNvSpPr/>
          <p:nvPr/>
        </p:nvSpPr>
        <p:spPr>
          <a:xfrm>
            <a:off x="3520440" y="4572000"/>
            <a:ext cx="155448" cy="182880"/>
          </a:xfrm>
          <a:prstGeom prst="rightArrow">
            <a:avLst/>
          </a:prstGeom>
          <a:solidFill>
            <a:srgbClr val="2DD4BF"/>
          </a:solidFill>
          <a:ln/>
        </p:spPr>
      </p:sp>
      <p:sp>
        <p:nvSpPr>
          <p:cNvPr id="41" name="stage 10"/>
          <p:cNvSpPr/>
          <p:nvPr/>
        </p:nvSpPr>
        <p:spPr>
          <a:xfrm>
            <a:off x="3749040" y="4160520"/>
            <a:ext cx="1298448" cy="1005840"/>
          </a:xfrm>
          <a:prstGeom prst="roundRect">
            <a:avLst>
              <a:gd name="adj" fmla="val 10909"/>
            </a:avLst>
          </a:prstGeom>
          <a:solidFill>
            <a:srgbClr val="14303A"/>
          </a:solidFill>
          <a:ln/>
        </p:spPr>
      </p:sp>
      <p:sp>
        <p:nvSpPr>
          <p:cNvPr id="42" name="stage 10 no"/>
          <p:cNvSpPr txBox="1"/>
          <p:nvPr/>
        </p:nvSpPr>
        <p:spPr>
          <a:xfrm>
            <a:off x="3877056" y="427939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10</a:t>
            </a:r>
            <a:endParaRPr lang="en-US" sz="1200" dirty="0"/>
          </a:p>
        </p:txBody>
      </p:sp>
      <p:sp>
        <p:nvSpPr>
          <p:cNvPr id="43" name="stage 10 name"/>
          <p:cNvSpPr txBox="1"/>
          <p:nvPr/>
        </p:nvSpPr>
        <p:spPr>
          <a:xfrm>
            <a:off x="3840480" y="457200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Ingress</a:t>
            </a:r>
            <a:endParaRPr lang="en-US" sz="1300" dirty="0"/>
          </a:p>
        </p:txBody>
      </p:sp>
      <p:sp>
        <p:nvSpPr>
          <p:cNvPr id="44" name="arrow 10"/>
          <p:cNvSpPr/>
          <p:nvPr/>
        </p:nvSpPr>
        <p:spPr>
          <a:xfrm>
            <a:off x="5120640" y="4572000"/>
            <a:ext cx="155448" cy="182880"/>
          </a:xfrm>
          <a:prstGeom prst="rightArrow">
            <a:avLst/>
          </a:prstGeom>
          <a:solidFill>
            <a:srgbClr val="2DD4BF"/>
          </a:solidFill>
          <a:ln/>
        </p:spPr>
      </p:sp>
      <p:sp>
        <p:nvSpPr>
          <p:cNvPr id="45" name="stage 11"/>
          <p:cNvSpPr/>
          <p:nvPr/>
        </p:nvSpPr>
        <p:spPr>
          <a:xfrm>
            <a:off x="5349240" y="4160520"/>
            <a:ext cx="1298448" cy="1005840"/>
          </a:xfrm>
          <a:prstGeom prst="roundRect">
            <a:avLst>
              <a:gd name="adj" fmla="val 10909"/>
            </a:avLst>
          </a:prstGeom>
          <a:solidFill>
            <a:srgbClr val="14303A"/>
          </a:solidFill>
          <a:ln/>
        </p:spPr>
      </p:sp>
      <p:sp>
        <p:nvSpPr>
          <p:cNvPr id="46" name="stage 11 no"/>
          <p:cNvSpPr txBox="1"/>
          <p:nvPr/>
        </p:nvSpPr>
        <p:spPr>
          <a:xfrm>
            <a:off x="5477256" y="427939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11</a:t>
            </a:r>
            <a:endParaRPr lang="en-US" sz="1200" dirty="0"/>
          </a:p>
        </p:txBody>
      </p:sp>
      <p:sp>
        <p:nvSpPr>
          <p:cNvPr id="47" name="stage 11 name"/>
          <p:cNvSpPr txBox="1"/>
          <p:nvPr/>
        </p:nvSpPr>
        <p:spPr>
          <a:xfrm>
            <a:off x="5440680" y="457200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Autoscaling</a:t>
            </a:r>
            <a:endParaRPr lang="en-US" sz="1300" dirty="0"/>
          </a:p>
        </p:txBody>
      </p:sp>
      <p:sp>
        <p:nvSpPr>
          <p:cNvPr id="48" name="arrow 11"/>
          <p:cNvSpPr/>
          <p:nvPr/>
        </p:nvSpPr>
        <p:spPr>
          <a:xfrm>
            <a:off x="6720840" y="4572000"/>
            <a:ext cx="155448" cy="182880"/>
          </a:xfrm>
          <a:prstGeom prst="rightArrow">
            <a:avLst/>
          </a:prstGeom>
          <a:solidFill>
            <a:srgbClr val="2DD4BF"/>
          </a:solidFill>
          <a:ln/>
        </p:spPr>
      </p:sp>
      <p:sp>
        <p:nvSpPr>
          <p:cNvPr id="49" name="stage 12"/>
          <p:cNvSpPr/>
          <p:nvPr/>
        </p:nvSpPr>
        <p:spPr>
          <a:xfrm>
            <a:off x="6949440" y="4160520"/>
            <a:ext cx="1298448" cy="1005840"/>
          </a:xfrm>
          <a:prstGeom prst="roundRect">
            <a:avLst>
              <a:gd name="adj" fmla="val 10909"/>
            </a:avLst>
          </a:prstGeom>
          <a:solidFill>
            <a:srgbClr val="14303A"/>
          </a:solidFill>
          <a:ln/>
        </p:spPr>
      </p:sp>
      <p:sp>
        <p:nvSpPr>
          <p:cNvPr id="50" name="stage 12 no"/>
          <p:cNvSpPr txBox="1"/>
          <p:nvPr/>
        </p:nvSpPr>
        <p:spPr>
          <a:xfrm>
            <a:off x="7077456" y="427939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12</a:t>
            </a:r>
            <a:endParaRPr lang="en-US" sz="1200" dirty="0"/>
          </a:p>
        </p:txBody>
      </p:sp>
      <p:sp>
        <p:nvSpPr>
          <p:cNvPr id="51" name="stage 12 name"/>
          <p:cNvSpPr txBox="1"/>
          <p:nvPr/>
        </p:nvSpPr>
        <p:spPr>
          <a:xfrm>
            <a:off x="7040880" y="457200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Monitoring</a:t>
            </a:r>
            <a:endParaRPr lang="en-US" sz="1300" dirty="0"/>
          </a:p>
        </p:txBody>
      </p:sp>
      <p:sp>
        <p:nvSpPr>
          <p:cNvPr id="52" name="arrow 12"/>
          <p:cNvSpPr/>
          <p:nvPr/>
        </p:nvSpPr>
        <p:spPr>
          <a:xfrm>
            <a:off x="8321040" y="4572000"/>
            <a:ext cx="155448" cy="182880"/>
          </a:xfrm>
          <a:prstGeom prst="rightArrow">
            <a:avLst/>
          </a:prstGeom>
          <a:solidFill>
            <a:srgbClr val="2DD4BF"/>
          </a:solidFill>
          <a:ln/>
        </p:spPr>
      </p:sp>
      <p:sp>
        <p:nvSpPr>
          <p:cNvPr id="53" name="stage 13"/>
          <p:cNvSpPr/>
          <p:nvPr/>
        </p:nvSpPr>
        <p:spPr>
          <a:xfrm>
            <a:off x="8549640" y="4160520"/>
            <a:ext cx="1298448" cy="1005840"/>
          </a:xfrm>
          <a:prstGeom prst="roundRect">
            <a:avLst>
              <a:gd name="adj" fmla="val 10909"/>
            </a:avLst>
          </a:prstGeom>
          <a:solidFill>
            <a:srgbClr val="14303A"/>
          </a:solidFill>
          <a:ln/>
        </p:spPr>
      </p:sp>
      <p:sp>
        <p:nvSpPr>
          <p:cNvPr id="54" name="stage 13 no"/>
          <p:cNvSpPr txBox="1"/>
          <p:nvPr/>
        </p:nvSpPr>
        <p:spPr>
          <a:xfrm>
            <a:off x="8677656" y="4279392"/>
            <a:ext cx="1042416" cy="274320"/>
          </a:xfrm>
          <a:prstGeom prst="rect">
            <a:avLst/>
          </a:prstGeom>
          <a:noFill/>
          <a:ln/>
        </p:spPr>
        <p:txBody>
          <a:bodyPr wrap="square" lIns="0" tIns="0" rIns="0" bIns="0" rtlCol="0" anchor="t"/>
          <a:lstStyle/>
          <a:p>
            <a:pPr indent="0" marL="0">
              <a:buNone/>
            </a:pPr>
            <a:r>
              <a:rPr lang="en-US" sz="1200" b="1" dirty="0">
                <a:solidFill>
                  <a:schemeClr val="accent2"/>
                </a:solidFill>
                <a:latin typeface="+mn-lt" pitchFamily="34" charset="0"/>
                <a:ea typeface="+mn-lt" pitchFamily="34" charset="-122"/>
                <a:cs typeface="+mn-lt" pitchFamily="34" charset="-120"/>
              </a:rPr>
              <a:t>13</a:t>
            </a:r>
            <a:endParaRPr lang="en-US" sz="1200" dirty="0"/>
          </a:p>
        </p:txBody>
      </p:sp>
      <p:sp>
        <p:nvSpPr>
          <p:cNvPr id="55" name="stage 13 name"/>
          <p:cNvSpPr txBox="1"/>
          <p:nvPr/>
        </p:nvSpPr>
        <p:spPr>
          <a:xfrm>
            <a:off x="8641080" y="4572000"/>
            <a:ext cx="1170432" cy="502920"/>
          </a:xfrm>
          <a:prstGeom prst="rect">
            <a:avLst/>
          </a:prstGeom>
          <a:noFill/>
          <a:ln/>
        </p:spPr>
        <p:txBody>
          <a:bodyPr wrap="square" lIns="0" tIns="0" rIns="0" bIns="0" rtlCol="0" anchor="t"/>
          <a:lstStyle/>
          <a:p>
            <a:pPr indent="0" marL="0">
              <a:buNone/>
            </a:pPr>
            <a:r>
              <a:rPr lang="en-US" sz="1300" b="1" dirty="0">
                <a:solidFill>
                  <a:srgbClr val="CFEAE4"/>
                </a:solidFill>
                <a:latin typeface="+mn-lt" pitchFamily="34" charset="0"/>
                <a:ea typeface="+mn-lt" pitchFamily="34" charset="-122"/>
                <a:cs typeface="+mn-lt" pitchFamily="34" charset="-120"/>
              </a:rPr>
              <a:t>Troubleshooting</a:t>
            </a:r>
            <a:endParaRPr lang="en-US" sz="1300" dirty="0"/>
          </a:p>
        </p:txBody>
      </p:sp>
      <p:sp>
        <p:nvSpPr>
          <p:cNvPr id="56" name="summary"/>
          <p:cNvSpPr txBox="1"/>
          <p:nvPr/>
        </p:nvSpPr>
        <p:spPr>
          <a:xfrm>
            <a:off x="548640" y="5806440"/>
            <a:ext cx="10515600" cy="365760"/>
          </a:xfrm>
          <a:prstGeom prst="rect">
            <a:avLst/>
          </a:prstGeom>
          <a:noFill/>
          <a:ln/>
        </p:spPr>
        <p:txBody>
          <a:bodyPr wrap="square" lIns="0" tIns="0" rIns="0" bIns="0" rtlCol="0" anchor="t"/>
          <a:lstStyle/>
          <a:p>
            <a:pPr indent="0" marL="0">
              <a:buNone/>
            </a:pPr>
            <a:r>
              <a:rPr lang="en-US" sz="1500" i="1" dirty="0">
                <a:solidFill>
                  <a:srgbClr val="A9CFC8"/>
                </a:solidFill>
                <a:latin typeface="+mn-lt" pitchFamily="34" charset="0"/>
                <a:ea typeface="+mn-lt" pitchFamily="34" charset="-122"/>
                <a:cs typeface="+mn-lt" pitchFamily="34" charset="-120"/>
              </a:rPr>
              <a:t>Commit  →  test  →  build  →  scan  →  publish  →  deploy  →  observe</a:t>
            </a:r>
            <a:endParaRPr lang="en-US" sz="15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01  ·  APPLICATION</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The working app</a:t>
            </a:r>
            <a:endParaRPr lang="en-US" sz="3400" dirty="0"/>
          </a:p>
        </p:txBody>
      </p:sp>
      <p:sp>
        <p:nvSpPr>
          <p:cNvPr id="5" name="lead"/>
          <p:cNvSpPr txBox="1"/>
          <p:nvPr/>
        </p:nvSpPr>
        <p:spPr>
          <a:xfrm>
            <a:off x="548640" y="1600200"/>
            <a:ext cx="5394960" cy="86868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Without a working application, no DevOps layer means anything. This is the foundation everything else carries.</a:t>
            </a:r>
            <a:endParaRPr lang="en-US" sz="1700" dirty="0"/>
          </a:p>
        </p:txBody>
      </p:sp>
      <p:sp>
        <p:nvSpPr>
          <p:cNvPr id="6" name="app facts"/>
          <p:cNvSpPr txBox="1"/>
          <p:nvPr/>
        </p:nvSpPr>
        <p:spPr>
          <a:xfrm>
            <a:off x="548640" y="2606040"/>
            <a:ext cx="5394960" cy="310896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chemeClr val="tx1"/>
                </a:solidFill>
                <a:latin typeface="+mn-lt" pitchFamily="34" charset="0"/>
                <a:ea typeface="+mn-lt" pitchFamily="34" charset="-122"/>
                <a:cs typeface="+mn-lt" pitchFamily="34" charset="-120"/>
              </a:rPr>
              <a:t>FastAPI backend, </a:t>
            </a:r>
            <a:pPr indent="0" marL="0">
              <a:spcAft>
                <a:spcPts val="900"/>
              </a:spcAft>
              <a:buNone/>
            </a:pPr>
            <a:r>
              <a:rPr lang="en-US" sz="1700" b="1" dirty="0">
                <a:solidFill>
                  <a:schemeClr val="tx1"/>
                </a:solidFill>
                <a:latin typeface="+mn-lt" pitchFamily="34" charset="0"/>
                <a:ea typeface="+mn-lt" pitchFamily="34" charset="-122"/>
                <a:cs typeface="+mn-lt" pitchFamily="34" charset="-120"/>
              </a:rPr>
              <a:t>8+ REST endpoints</a:t>
            </a:r>
            <a:pPr indent="0" marL="0">
              <a:spcAft>
                <a:spcPts val="900"/>
              </a:spcAft>
              <a:buNone/>
            </a:pPr>
            <a:r>
              <a:rPr lang="en-US" sz="1700" dirty="0">
                <a:solidFill>
                  <a:schemeClr val="tx1"/>
                </a:solidFill>
                <a:latin typeface="+mn-lt" pitchFamily="34" charset="0"/>
                <a:ea typeface="+mn-lt" pitchFamily="34" charset="-122"/>
                <a:cs typeface="+mn-lt" pitchFamily="34" charset="-120"/>
              </a:rPr>
              <a:t> across doctors, patients and appointments</a:t>
            </a:r>
            <a:endParaRPr lang="en-US" sz="1700" dirty="0"/>
          </a:p>
          <a:p>
            <a:pPr marL="228600" indent="-228600">
              <a:spcAft>
                <a:spcPts val="900"/>
              </a:spcAft>
              <a:buSzPct val="100000"/>
              <a:buChar char="•"/>
            </a:pPr>
            <a:r>
              <a:rPr lang="en-US" sz="1700" dirty="0">
                <a:solidFill>
                  <a:schemeClr val="tx1"/>
                </a:solidFill>
                <a:latin typeface="+mn-lt" pitchFamily="34" charset="0"/>
                <a:ea typeface="+mn-lt" pitchFamily="34" charset="-122"/>
                <a:cs typeface="+mn-lt" pitchFamily="34" charset="-120"/>
              </a:rPr>
              <a:t>PostgreSQL with </a:t>
            </a:r>
            <a:pPr indent="0" marL="0">
              <a:spcAft>
                <a:spcPts val="900"/>
              </a:spcAft>
              <a:buNone/>
            </a:pPr>
            <a:r>
              <a:rPr lang="en-US" sz="1700" b="1" dirty="0">
                <a:solidFill>
                  <a:schemeClr val="tx1"/>
                </a:solidFill>
                <a:latin typeface="+mn-lt" pitchFamily="34" charset="0"/>
                <a:ea typeface="+mn-lt" pitchFamily="34" charset="-122"/>
                <a:cs typeface="+mn-lt" pitchFamily="34" charset="-120"/>
              </a:rPr>
              <a:t>Alembic migrations</a:t>
            </a:r>
            <a:pPr indent="0" marL="0">
              <a:spcAft>
                <a:spcPts val="900"/>
              </a:spcAft>
              <a:buNone/>
            </a:pPr>
            <a:r>
              <a:rPr lang="en-US" sz="1700" dirty="0">
                <a:solidFill>
                  <a:schemeClr val="tx1"/>
                </a:solidFill>
                <a:latin typeface="+mn-lt" pitchFamily="34" charset="0"/>
                <a:ea typeface="+mn-lt" pitchFamily="34" charset="-122"/>
                <a:cs typeface="+mn-lt" pitchFamily="34" charset="-120"/>
              </a:rPr>
              <a:t>: schema as versioned code</a:t>
            </a:r>
            <a:endParaRPr lang="en-US" sz="1700" dirty="0"/>
          </a:p>
          <a:p>
            <a:pPr marL="228600" indent="-228600">
              <a:spcAft>
                <a:spcPts val="900"/>
              </a:spcAft>
              <a:buSzPct val="100000"/>
              <a:buChar char="•"/>
            </a:pPr>
            <a:r>
              <a:rPr lang="en-US" sz="1700" dirty="0">
                <a:solidFill>
                  <a:schemeClr val="tx1"/>
                </a:solidFill>
                <a:latin typeface="Courier New" pitchFamily="34" charset="0"/>
                <a:ea typeface="Courier New" pitchFamily="34" charset="-122"/>
                <a:cs typeface="Courier New" pitchFamily="34" charset="-120"/>
              </a:rPr>
              <a:t>/health</a:t>
            </a:r>
            <a:pPr indent="0" marL="0">
              <a:spcAft>
                <a:spcPts val="900"/>
              </a:spcAft>
              <a:buNone/>
            </a:pPr>
            <a:r>
              <a:rPr lang="en-US" sz="1700" dirty="0">
                <a:solidFill>
                  <a:schemeClr val="tx1"/>
                </a:solidFill>
                <a:latin typeface="+mn-lt" pitchFamily="34" charset="0"/>
                <a:ea typeface="+mn-lt" pitchFamily="34" charset="-122"/>
                <a:cs typeface="+mn-lt" pitchFamily="34" charset="-120"/>
              </a:rPr>
              <a:t>, </a:t>
            </a:r>
            <a:pPr indent="0" marL="0">
              <a:spcAft>
                <a:spcPts val="900"/>
              </a:spcAft>
              <a:buNone/>
            </a:pPr>
            <a:r>
              <a:rPr lang="en-US" sz="1700" dirty="0">
                <a:solidFill>
                  <a:schemeClr val="tx1"/>
                </a:solidFill>
                <a:latin typeface="Courier New" pitchFamily="34" charset="0"/>
                <a:ea typeface="Courier New" pitchFamily="34" charset="-122"/>
                <a:cs typeface="Courier New" pitchFamily="34" charset="-120"/>
              </a:rPr>
              <a:t>/ready</a:t>
            </a:r>
            <a:pPr indent="0" marL="0">
              <a:spcAft>
                <a:spcPts val="900"/>
              </a:spcAft>
              <a:buNone/>
            </a:pPr>
            <a:r>
              <a:rPr lang="en-US" sz="1700" dirty="0">
                <a:solidFill>
                  <a:schemeClr val="tx1"/>
                </a:solidFill>
                <a:latin typeface="+mn-lt" pitchFamily="34" charset="0"/>
                <a:ea typeface="+mn-lt" pitchFamily="34" charset="-122"/>
                <a:cs typeface="+mn-lt" pitchFamily="34" charset="-120"/>
              </a:rPr>
              <a:t> and </a:t>
            </a:r>
            <a:pPr indent="0" marL="0">
              <a:spcAft>
                <a:spcPts val="900"/>
              </a:spcAft>
              <a:buNone/>
            </a:pPr>
            <a:r>
              <a:rPr lang="en-US" sz="1700" dirty="0">
                <a:solidFill>
                  <a:schemeClr val="tx1"/>
                </a:solidFill>
                <a:latin typeface="Courier New" pitchFamily="34" charset="0"/>
                <a:ea typeface="Courier New" pitchFamily="34" charset="-122"/>
                <a:cs typeface="Courier New" pitchFamily="34" charset="-120"/>
              </a:rPr>
              <a:t>/metrics</a:t>
            </a:r>
            <a:pPr indent="0" marL="0">
              <a:spcAft>
                <a:spcPts val="900"/>
              </a:spcAft>
              <a:buNone/>
            </a:pPr>
            <a:r>
              <a:rPr lang="en-US" sz="1700" dirty="0">
                <a:solidFill>
                  <a:schemeClr val="tx1"/>
                </a:solidFill>
                <a:latin typeface="+mn-lt" pitchFamily="34" charset="0"/>
                <a:ea typeface="+mn-lt" pitchFamily="34" charset="-122"/>
                <a:cs typeface="+mn-lt" pitchFamily="34" charset="-120"/>
              </a:rPr>
              <a:t> endpoints</a:t>
            </a:r>
            <a:endParaRPr lang="en-US" sz="1700" dirty="0"/>
          </a:p>
          <a:p>
            <a:pPr marL="228600" indent="-228600">
              <a:spcAft>
                <a:spcPts val="900"/>
              </a:spcAft>
              <a:buSzPct val="100000"/>
              <a:buChar char="•"/>
            </a:pPr>
            <a:r>
              <a:rPr lang="en-US" sz="1700" dirty="0">
                <a:solidFill>
                  <a:schemeClr val="tx1"/>
                </a:solidFill>
                <a:latin typeface="+mn-lt" pitchFamily="34" charset="0"/>
                <a:ea typeface="+mn-lt" pitchFamily="34" charset="-122"/>
                <a:cs typeface="+mn-lt" pitchFamily="34" charset="-120"/>
              </a:rPr>
              <a:t>Responsive React UI: a real dashboard, not a blank page</a:t>
            </a:r>
            <a:endParaRPr lang="en-US" sz="1700" dirty="0"/>
          </a:p>
        </p:txBody>
      </p:sp>
      <p:sp>
        <p:nvSpPr>
          <p:cNvPr id="7" name="health panel"/>
          <p:cNvSpPr/>
          <p:nvPr/>
        </p:nvSpPr>
        <p:spPr>
          <a:xfrm>
            <a:off x="6446520" y="1600200"/>
            <a:ext cx="5196535" cy="4526280"/>
          </a:xfrm>
          <a:prstGeom prst="roundRect">
            <a:avLst>
              <a:gd name="adj" fmla="val 2424"/>
            </a:avLst>
          </a:prstGeom>
          <a:solidFill>
            <a:srgbClr val="0B1F2A"/>
          </a:solidFill>
          <a:ln/>
        </p:spPr>
      </p:sp>
      <p:sp>
        <p:nvSpPr>
          <p:cNvPr id="8" name="panel eyebrow"/>
          <p:cNvSpPr txBox="1"/>
          <p:nvPr/>
        </p:nvSpPr>
        <p:spPr>
          <a:xfrm>
            <a:off x="6812280" y="1920240"/>
            <a:ext cx="4572000" cy="320040"/>
          </a:xfrm>
          <a:prstGeom prst="rect">
            <a:avLst/>
          </a:prstGeom>
          <a:noFill/>
          <a:ln/>
        </p:spPr>
        <p:txBody>
          <a:bodyPr wrap="square" lIns="0" tIns="0" rIns="0" bIns="0" rtlCol="0" anchor="t"/>
          <a:lstStyle/>
          <a:p>
            <a:pPr indent="0" marL="0">
              <a:buNone/>
            </a:pPr>
            <a:r>
              <a:rPr lang="en-US" sz="1300" b="1" spc="200" kern="0" dirty="0">
                <a:solidFill>
                  <a:schemeClr val="accent2"/>
                </a:solidFill>
                <a:latin typeface="+mn-lt" pitchFamily="34" charset="0"/>
                <a:ea typeface="+mn-lt" pitchFamily="34" charset="-122"/>
                <a:cs typeface="+mn-lt" pitchFamily="34" charset="-120"/>
              </a:rPr>
              <a:t>WHY TWO HEALTH ENDPOINTS?</a:t>
            </a:r>
            <a:endParaRPr lang="en-US" sz="1300" dirty="0"/>
          </a:p>
        </p:txBody>
      </p:sp>
      <p:sp>
        <p:nvSpPr>
          <p:cNvPr id="9" name="liveness dot"/>
          <p:cNvSpPr/>
          <p:nvPr/>
        </p:nvSpPr>
        <p:spPr>
          <a:xfrm>
            <a:off x="6812280" y="2514600"/>
            <a:ext cx="566928" cy="566928"/>
          </a:xfrm>
          <a:prstGeom prst="ellipse">
            <a:avLst/>
          </a:prstGeom>
          <a:solidFill>
            <a:srgbClr val="14303A"/>
          </a:solidFill>
          <a:ln/>
        </p:spPr>
      </p:sp>
      <p:pic>
        <p:nvPicPr>
          <p:cNvPr id="10" name="Image 0" descr="liveness">    </p:cNvPr>
          <p:cNvPicPr>
            <a:picLocks noChangeAspect="1"/>
          </p:cNvPicPr>
          <p:nvPr/>
        </p:nvPicPr>
        <p:blipFill>
          <a:blip r:embed="rId1"/>
          <a:stretch>
            <a:fillRect/>
          </a:stretch>
        </p:blipFill>
        <p:spPr>
          <a:xfrm>
            <a:off x="6948343" y="2650663"/>
            <a:ext cx="294803" cy="294803"/>
          </a:xfrm>
          <a:prstGeom prst="rect">
            <a:avLst/>
          </a:prstGeom>
        </p:spPr>
      </p:pic>
      <p:sp>
        <p:nvSpPr>
          <p:cNvPr id="11" name="liveness title"/>
          <p:cNvSpPr txBox="1"/>
          <p:nvPr/>
        </p:nvSpPr>
        <p:spPr>
          <a:xfrm>
            <a:off x="7543800" y="2514600"/>
            <a:ext cx="3931920" cy="365760"/>
          </a:xfrm>
          <a:prstGeom prst="rect">
            <a:avLst/>
          </a:prstGeom>
          <a:noFill/>
          <a:ln/>
        </p:spPr>
        <p:txBody>
          <a:bodyPr wrap="square" lIns="0" tIns="0" rIns="0" bIns="0" rtlCol="0" anchor="t"/>
          <a:lstStyle/>
          <a:p>
            <a:pPr indent="0" marL="0">
              <a:buNone/>
            </a:pPr>
            <a:r>
              <a:rPr lang="en-US" sz="1800" b="1" dirty="0">
                <a:solidFill>
                  <a:schemeClr val="bg1"/>
                </a:solidFill>
                <a:latin typeface="+mn-lt" pitchFamily="34" charset="0"/>
                <a:ea typeface="+mn-lt" pitchFamily="34" charset="-122"/>
                <a:cs typeface="+mn-lt" pitchFamily="34" charset="-120"/>
              </a:rPr>
              <a:t>/health  ·  liveness</a:t>
            </a:r>
            <a:endParaRPr lang="en-US" sz="1800" dirty="0"/>
          </a:p>
        </p:txBody>
      </p:sp>
      <p:sp>
        <p:nvSpPr>
          <p:cNvPr id="12" name="liveness desc"/>
          <p:cNvSpPr txBox="1"/>
          <p:nvPr/>
        </p:nvSpPr>
        <p:spPr>
          <a:xfrm>
            <a:off x="7543800" y="2907792"/>
            <a:ext cx="3931920" cy="914400"/>
          </a:xfrm>
          <a:prstGeom prst="rect">
            <a:avLst/>
          </a:prstGeom>
          <a:noFill/>
          <a:ln/>
        </p:spPr>
        <p:txBody>
          <a:bodyPr wrap="square" lIns="0" tIns="0" rIns="0" bIns="0" rtlCol="0" anchor="t"/>
          <a:lstStyle/>
          <a:p>
            <a:pPr indent="0" marL="0">
              <a:buNone/>
            </a:pPr>
            <a:r>
              <a:rPr lang="en-US" sz="1500" dirty="0">
                <a:solidFill>
                  <a:srgbClr val="A9CFC8"/>
                </a:solidFill>
                <a:latin typeface="+mn-lt" pitchFamily="34" charset="0"/>
                <a:ea typeface="+mn-lt" pitchFamily="34" charset="-122"/>
                <a:cs typeface="+mn-lt" pitchFamily="34" charset="-120"/>
              </a:rPr>
              <a:t>“Is the process up?” No database call, so a database blip never restarts every pod at once.</a:t>
            </a:r>
            <a:endParaRPr lang="en-US" sz="1500" dirty="0"/>
          </a:p>
        </p:txBody>
      </p:sp>
      <p:sp>
        <p:nvSpPr>
          <p:cNvPr id="13" name="readiness dot"/>
          <p:cNvSpPr/>
          <p:nvPr/>
        </p:nvSpPr>
        <p:spPr>
          <a:xfrm>
            <a:off x="6812280" y="4206240"/>
            <a:ext cx="566928" cy="566928"/>
          </a:xfrm>
          <a:prstGeom prst="ellipse">
            <a:avLst/>
          </a:prstGeom>
          <a:solidFill>
            <a:srgbClr val="14303A"/>
          </a:solidFill>
          <a:ln/>
        </p:spPr>
      </p:sp>
      <p:pic>
        <p:nvPicPr>
          <p:cNvPr id="14" name="Image 1" descr="readiness">    </p:cNvPr>
          <p:cNvPicPr>
            <a:picLocks noChangeAspect="1"/>
          </p:cNvPicPr>
          <p:nvPr/>
        </p:nvPicPr>
        <p:blipFill>
          <a:blip r:embed="rId2"/>
          <a:stretch>
            <a:fillRect/>
          </a:stretch>
        </p:blipFill>
        <p:spPr>
          <a:xfrm>
            <a:off x="6948343" y="4342303"/>
            <a:ext cx="294803" cy="294803"/>
          </a:xfrm>
          <a:prstGeom prst="rect">
            <a:avLst/>
          </a:prstGeom>
        </p:spPr>
      </p:pic>
      <p:sp>
        <p:nvSpPr>
          <p:cNvPr id="15" name="readiness title"/>
          <p:cNvSpPr txBox="1"/>
          <p:nvPr/>
        </p:nvSpPr>
        <p:spPr>
          <a:xfrm>
            <a:off x="7543800" y="4206240"/>
            <a:ext cx="3931920" cy="365760"/>
          </a:xfrm>
          <a:prstGeom prst="rect">
            <a:avLst/>
          </a:prstGeom>
          <a:noFill/>
          <a:ln/>
        </p:spPr>
        <p:txBody>
          <a:bodyPr wrap="square" lIns="0" tIns="0" rIns="0" bIns="0" rtlCol="0" anchor="t"/>
          <a:lstStyle/>
          <a:p>
            <a:pPr indent="0" marL="0">
              <a:buNone/>
            </a:pPr>
            <a:r>
              <a:rPr lang="en-US" sz="1800" b="1" dirty="0">
                <a:solidFill>
                  <a:schemeClr val="bg1"/>
                </a:solidFill>
                <a:latin typeface="+mn-lt" pitchFamily="34" charset="0"/>
                <a:ea typeface="+mn-lt" pitchFamily="34" charset="-122"/>
                <a:cs typeface="+mn-lt" pitchFamily="34" charset="-120"/>
              </a:rPr>
              <a:t>/ready  ·  readiness</a:t>
            </a:r>
            <a:endParaRPr lang="en-US" sz="1800" dirty="0"/>
          </a:p>
        </p:txBody>
      </p:sp>
      <p:sp>
        <p:nvSpPr>
          <p:cNvPr id="16" name="readiness desc"/>
          <p:cNvSpPr txBox="1"/>
          <p:nvPr/>
        </p:nvSpPr>
        <p:spPr>
          <a:xfrm>
            <a:off x="7543800" y="4599432"/>
            <a:ext cx="3931920" cy="914400"/>
          </a:xfrm>
          <a:prstGeom prst="rect">
            <a:avLst/>
          </a:prstGeom>
          <a:noFill/>
          <a:ln/>
        </p:spPr>
        <p:txBody>
          <a:bodyPr wrap="square" lIns="0" tIns="0" rIns="0" bIns="0" rtlCol="0" anchor="t"/>
          <a:lstStyle/>
          <a:p>
            <a:pPr indent="0" marL="0">
              <a:buNone/>
            </a:pPr>
            <a:r>
              <a:rPr lang="en-US" sz="1500" dirty="0">
                <a:solidFill>
                  <a:srgbClr val="A9CFC8"/>
                </a:solidFill>
                <a:latin typeface="+mn-lt" pitchFamily="34" charset="0"/>
                <a:ea typeface="+mn-lt" pitchFamily="34" charset="-122"/>
                <a:cs typeface="+mn-lt" pitchFamily="34" charset="-120"/>
              </a:rPr>
              <a:t>“Can it serve traffic now?” Checks the database first and returns 503 until it answers.</a:t>
            </a:r>
            <a:endParaRPr lang="en-US" sz="15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02  ·  GIT COMMIT</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Version control</a:t>
            </a:r>
            <a:endParaRPr lang="en-US" sz="3400" dirty="0"/>
          </a:p>
        </p:txBody>
      </p:sp>
      <p:sp>
        <p:nvSpPr>
          <p:cNvPr id="5" name="lead"/>
          <p:cNvSpPr txBox="1"/>
          <p:nvPr/>
        </p:nvSpPr>
        <p:spPr>
          <a:xfrm>
            <a:off x="548640" y="1600200"/>
            <a:ext cx="5120640" cy="86868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Every change is an immutable checkpoint. The commit is where the whole pipeline starts.</a:t>
            </a:r>
            <a:endParaRPr lang="en-US" sz="1700" dirty="0"/>
          </a:p>
        </p:txBody>
      </p:sp>
      <p:sp>
        <p:nvSpPr>
          <p:cNvPr id="6" name="git facts"/>
          <p:cNvSpPr txBox="1"/>
          <p:nvPr/>
        </p:nvSpPr>
        <p:spPr>
          <a:xfrm>
            <a:off x="548640" y="2606040"/>
            <a:ext cx="5120640" cy="310896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chemeClr val="tx1"/>
                </a:solidFill>
                <a:latin typeface="+mn-lt" pitchFamily="34" charset="0"/>
                <a:ea typeface="+mn-lt" pitchFamily="34" charset="-122"/>
                <a:cs typeface="+mn-lt" pitchFamily="34" charset="-120"/>
              </a:rPr>
              <a:t>Public repository with a clean, feature-by-feature history</a:t>
            </a:r>
            <a:endParaRPr lang="en-US" sz="1700" dirty="0"/>
          </a:p>
          <a:p>
            <a:pPr marL="228600" indent="-228600">
              <a:spcAft>
                <a:spcPts val="900"/>
              </a:spcAft>
              <a:buSzPct val="100000"/>
              <a:buChar char="•"/>
            </a:pPr>
            <a:r>
              <a:rPr lang="en-US" sz="1700" dirty="0">
                <a:solidFill>
                  <a:schemeClr val="tx1"/>
                </a:solidFill>
                <a:latin typeface="+mn-lt" pitchFamily="34" charset="0"/>
                <a:ea typeface="+mn-lt" pitchFamily="34" charset="-122"/>
                <a:cs typeface="+mn-lt" pitchFamily="34" charset="-120"/>
              </a:rPr>
              <a:t>Meaningful commit messages, never “update” or “fix”</a:t>
            </a:r>
            <a:endParaRPr lang="en-US" sz="1700" dirty="0"/>
          </a:p>
          <a:p>
            <a:pPr marL="228600" indent="-228600">
              <a:spcAft>
                <a:spcPts val="900"/>
              </a:spcAft>
              <a:buSzPct val="100000"/>
              <a:buChar char="•"/>
            </a:pPr>
            <a:r>
              <a:rPr lang="en-US" sz="1700" dirty="0">
                <a:solidFill>
                  <a:schemeClr val="tx1"/>
                </a:solidFill>
                <a:latin typeface="Courier New" pitchFamily="34" charset="0"/>
                <a:ea typeface="Courier New" pitchFamily="34" charset="-122"/>
                <a:cs typeface="Courier New" pitchFamily="34" charset="-120"/>
              </a:rPr>
              <a:t>.gitignore</a:t>
            </a:r>
            <a:pPr indent="0" marL="0">
              <a:spcAft>
                <a:spcPts val="900"/>
              </a:spcAft>
              <a:buNone/>
            </a:pPr>
            <a:r>
              <a:rPr lang="en-US" sz="1700" dirty="0">
                <a:solidFill>
                  <a:schemeClr val="tx1"/>
                </a:solidFill>
                <a:latin typeface="+mn-lt" pitchFamily="34" charset="0"/>
                <a:ea typeface="+mn-lt" pitchFamily="34" charset="-122"/>
                <a:cs typeface="+mn-lt" pitchFamily="34" charset="-120"/>
              </a:rPr>
              <a:t> keeps </a:t>
            </a:r>
            <a:pPr indent="0" marL="0">
              <a:spcAft>
                <a:spcPts val="900"/>
              </a:spcAft>
              <a:buNone/>
            </a:pPr>
            <a:r>
              <a:rPr lang="en-US" sz="1700" dirty="0">
                <a:solidFill>
                  <a:schemeClr val="tx1"/>
                </a:solidFill>
                <a:latin typeface="Courier New" pitchFamily="34" charset="0"/>
                <a:ea typeface="Courier New" pitchFamily="34" charset="-122"/>
                <a:cs typeface="Courier New" pitchFamily="34" charset="-120"/>
              </a:rPr>
              <a:t>.env</a:t>
            </a:r>
            <a:pPr indent="0" marL="0">
              <a:spcAft>
                <a:spcPts val="900"/>
              </a:spcAft>
              <a:buNone/>
            </a:pPr>
            <a:r>
              <a:rPr lang="en-US" sz="1700" dirty="0">
                <a:solidFill>
                  <a:schemeClr val="tx1"/>
                </a:solidFill>
                <a:latin typeface="+mn-lt" pitchFamily="34" charset="0"/>
                <a:ea typeface="+mn-lt" pitchFamily="34" charset="-122"/>
                <a:cs typeface="+mn-lt" pitchFamily="34" charset="-120"/>
              </a:rPr>
              <a:t>, secrets and caches out of Git</a:t>
            </a:r>
            <a:endParaRPr lang="en-US" sz="1700" dirty="0"/>
          </a:p>
          <a:p>
            <a:pPr marL="228600" indent="-228600">
              <a:spcAft>
                <a:spcPts val="900"/>
              </a:spcAft>
              <a:buSzPct val="100000"/>
              <a:buChar char="•"/>
            </a:pPr>
            <a:r>
              <a:rPr lang="en-US" sz="1700" dirty="0">
                <a:solidFill>
                  <a:schemeClr val="tx1"/>
                </a:solidFill>
                <a:latin typeface="+mn-lt" pitchFamily="34" charset="0"/>
                <a:ea typeface="+mn-lt" pitchFamily="34" charset="-122"/>
                <a:cs typeface="+mn-lt" pitchFamily="34" charset="-120"/>
              </a:rPr>
              <a:t>20+ commits, each doing one logical thing</a:t>
            </a:r>
            <a:endParaRPr lang="en-US" sz="1700" dirty="0"/>
          </a:p>
        </p:txBody>
      </p:sp>
      <p:sp>
        <p:nvSpPr>
          <p:cNvPr id="7" name="git log"/>
          <p:cNvSpPr/>
          <p:nvPr/>
        </p:nvSpPr>
        <p:spPr>
          <a:xfrm>
            <a:off x="6172200" y="1600200"/>
            <a:ext cx="5470855" cy="3246120"/>
          </a:xfrm>
          <a:prstGeom prst="roundRect">
            <a:avLst>
              <a:gd name="adj" fmla="val 3380"/>
            </a:avLst>
          </a:prstGeom>
          <a:solidFill>
            <a:srgbClr val="0E1418"/>
          </a:solidFill>
          <a:ln/>
        </p:spPr>
      </p:sp>
      <p:sp>
        <p:nvSpPr>
          <p:cNvPr id="8" name="git log text"/>
          <p:cNvSpPr txBox="1"/>
          <p:nvPr/>
        </p:nvSpPr>
        <p:spPr>
          <a:xfrm>
            <a:off x="6446520" y="1828800"/>
            <a:ext cx="4922215" cy="2788920"/>
          </a:xfrm>
          <a:prstGeom prst="rect">
            <a:avLst/>
          </a:prstGeom>
          <a:noFill/>
          <a:ln/>
        </p:spPr>
        <p:txBody>
          <a:bodyPr wrap="square" lIns="0" tIns="0" rIns="0" bIns="0" rtlCol="0" anchor="t"/>
          <a:lstStyle/>
          <a:p>
            <a:pPr indent="0" marL="0">
              <a:spcAft>
                <a:spcPts val="500"/>
              </a:spcAft>
              <a:buNone/>
            </a:pPr>
            <a:r>
              <a:rPr lang="en-US" sz="1300" dirty="0">
                <a:solidFill>
                  <a:srgbClr val="7C8B93"/>
                </a:solidFill>
                <a:latin typeface="Courier New" pitchFamily="34" charset="0"/>
                <a:ea typeface="Courier New" pitchFamily="34" charset="-122"/>
                <a:cs typeface="Courier New" pitchFamily="34" charset="-120"/>
              </a:rPr>
              <a:t>$ git log --oneline</a:t>
            </a:r>
            <a:endParaRPr lang="en-US" sz="1300" dirty="0"/>
          </a:p>
          <a:p>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3702b1a </a:t>
            </a:r>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Trust GitHub's ID-based OIDC subject</a:t>
            </a:r>
            <a:endParaRPr lang="en-US" sz="1300" dirty="0"/>
          </a:p>
          <a:p>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30e7766 </a:t>
            </a:r>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Use Free Tier m7i-flex.large nodes</a:t>
            </a:r>
            <a:endParaRPr lang="en-US" sz="1300" dirty="0"/>
          </a:p>
          <a:p>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6147414 </a:t>
            </a:r>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Add Helm chart with Ingress, HPA, PDBs</a:t>
            </a:r>
            <a:endParaRPr lang="en-US" sz="1300" dirty="0"/>
          </a:p>
          <a:p>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65e43e2 </a:t>
            </a:r>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Provision AWS VPC and EKS (Terraform)</a:t>
            </a:r>
            <a:endParaRPr lang="en-US" sz="1300" dirty="0"/>
          </a:p>
          <a:p>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c8ab632 </a:t>
            </a:r>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Add CI/CD pipeline: tests, Trivy, GHCR</a:t>
            </a:r>
            <a:endParaRPr lang="en-US" sz="1300" dirty="0"/>
          </a:p>
          <a:p>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867a739 </a:t>
            </a:r>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Add REST API with double-booking checks</a:t>
            </a:r>
            <a:endParaRPr lang="en-US" sz="1300" dirty="0"/>
          </a:p>
          <a:p>
            <a:pPr indent="0" marL="0">
              <a:spcAft>
                <a:spcPts val="500"/>
              </a:spcAft>
              <a:buNone/>
            </a:pPr>
            <a:r>
              <a:rPr lang="en-US" sz="1300" dirty="0">
                <a:solidFill>
                  <a:srgbClr val="7C8B93"/>
                </a:solidFill>
                <a:latin typeface="Courier New" pitchFamily="34" charset="0"/>
                <a:ea typeface="Courier New" pitchFamily="34" charset="-122"/>
                <a:cs typeface="Courier New" pitchFamily="34" charset="-120"/>
              </a:rPr>
              <a:t>... 20+ commits</a:t>
            </a:r>
            <a:endParaRPr lang="en-US" sz="13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2"/>
                </a:solidFill>
                <a:latin typeface="+mn-lt" pitchFamily="34" charset="0"/>
                <a:ea typeface="+mn-lt" pitchFamily="34" charset="-122"/>
                <a:cs typeface="+mn-lt" pitchFamily="34" charset="-120"/>
              </a:rPr>
              <a:t>STAGE 03  ·  CI PIPELINE</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GitHub Actions: the automation backbone</a:t>
            </a:r>
            <a:endParaRPr lang="en-US" sz="3400" dirty="0"/>
          </a:p>
        </p:txBody>
      </p:sp>
      <p:sp>
        <p:nvSpPr>
          <p:cNvPr id="5" name="lead"/>
          <p:cNvSpPr txBox="1"/>
          <p:nvPr/>
        </p:nvSpPr>
        <p:spPr>
          <a:xfrm>
            <a:off x="548640" y="1600200"/>
            <a:ext cx="10789920" cy="777240"/>
          </a:xfrm>
          <a:prstGeom prst="rect">
            <a:avLst/>
          </a:prstGeom>
          <a:noFill/>
          <a:ln/>
        </p:spPr>
        <p:txBody>
          <a:bodyPr wrap="square" lIns="0" tIns="0" rIns="0" bIns="0" rtlCol="0" anchor="t"/>
          <a:lstStyle/>
          <a:p>
            <a:pPr indent="0" marL="0">
              <a:buNone/>
            </a:pPr>
            <a:r>
              <a:rPr lang="en-US" sz="1800" dirty="0">
                <a:solidFill>
                  <a:srgbClr val="A9CFC8"/>
                </a:solidFill>
                <a:latin typeface="+mn-lt" pitchFamily="34" charset="0"/>
                <a:ea typeface="+mn-lt" pitchFamily="34" charset="-122"/>
                <a:cs typeface="+mn-lt" pitchFamily="34" charset="-120"/>
              </a:rPr>
              <a:t>Runs on every push to </a:t>
            </a:r>
            <a:pPr indent="0" marL="0">
              <a:buNone/>
            </a:pPr>
            <a:r>
              <a:rPr lang="en-US" sz="1800" dirty="0">
                <a:solidFill>
                  <a:srgbClr val="2DD4BF"/>
                </a:solidFill>
                <a:latin typeface="Courier New" pitchFamily="34" charset="0"/>
                <a:ea typeface="Courier New" pitchFamily="34" charset="-122"/>
                <a:cs typeface="Courier New" pitchFamily="34" charset="-120"/>
              </a:rPr>
              <a:t>main</a:t>
            </a:r>
            <a:pPr indent="0" marL="0">
              <a:buNone/>
            </a:pPr>
            <a:r>
              <a:rPr lang="en-US" sz="1800" dirty="0">
                <a:solidFill>
                  <a:srgbClr val="A9CFC8"/>
                </a:solidFill>
                <a:latin typeface="+mn-lt" pitchFamily="34" charset="0"/>
                <a:ea typeface="+mn-lt" pitchFamily="34" charset="-122"/>
                <a:cs typeface="+mn-lt" pitchFamily="34" charset="-120"/>
              </a:rPr>
              <a:t>. Tests are the first quality gate: if they fail, no image is ever built or deployed.</a:t>
            </a:r>
            <a:endParaRPr lang="en-US" sz="1800" dirty="0"/>
          </a:p>
        </p:txBody>
      </p:sp>
      <p:sp>
        <p:nvSpPr>
          <p:cNvPr id="6" name="1 · TEST card"/>
          <p:cNvSpPr/>
          <p:nvPr/>
        </p:nvSpPr>
        <p:spPr>
          <a:xfrm>
            <a:off x="548640" y="2606040"/>
            <a:ext cx="3393338" cy="2148840"/>
          </a:xfrm>
          <a:prstGeom prst="roundRect">
            <a:avLst>
              <a:gd name="adj" fmla="val 5106"/>
            </a:avLst>
          </a:prstGeom>
          <a:solidFill>
            <a:srgbClr val="14303A"/>
          </a:solidFill>
          <a:ln/>
        </p:spPr>
      </p:sp>
      <p:sp>
        <p:nvSpPr>
          <p:cNvPr id="7" name="1 · TEST dot"/>
          <p:cNvSpPr/>
          <p:nvPr/>
        </p:nvSpPr>
        <p:spPr>
          <a:xfrm>
            <a:off x="822960" y="2880360"/>
            <a:ext cx="530352" cy="530352"/>
          </a:xfrm>
          <a:prstGeom prst="ellipse">
            <a:avLst/>
          </a:prstGeom>
          <a:solidFill>
            <a:srgbClr val="1A3B45"/>
          </a:solidFill>
          <a:ln/>
        </p:spPr>
      </p:sp>
      <p:pic>
        <p:nvPicPr>
          <p:cNvPr id="8" name="Image 0" descr="1 · TEST">    </p:cNvPr>
          <p:cNvPicPr>
            <a:picLocks noChangeAspect="1"/>
          </p:cNvPicPr>
          <p:nvPr/>
        </p:nvPicPr>
        <p:blipFill>
          <a:blip r:embed="rId1"/>
          <a:stretch>
            <a:fillRect/>
          </a:stretch>
        </p:blipFill>
        <p:spPr>
          <a:xfrm>
            <a:off x="950244" y="3007644"/>
            <a:ext cx="275783" cy="275783"/>
          </a:xfrm>
          <a:prstGeom prst="rect">
            <a:avLst/>
          </a:prstGeom>
        </p:spPr>
      </p:pic>
      <p:sp>
        <p:nvSpPr>
          <p:cNvPr id="9" name="1 · TEST title"/>
          <p:cNvSpPr txBox="1"/>
          <p:nvPr/>
        </p:nvSpPr>
        <p:spPr>
          <a:xfrm>
            <a:off x="1481328" y="2953512"/>
            <a:ext cx="2296058" cy="411480"/>
          </a:xfrm>
          <a:prstGeom prst="rect">
            <a:avLst/>
          </a:prstGeom>
          <a:noFill/>
          <a:ln/>
        </p:spPr>
        <p:txBody>
          <a:bodyPr wrap="square" lIns="0" tIns="0" rIns="0" bIns="0" rtlCol="0" anchor="ctr"/>
          <a:lstStyle/>
          <a:p>
            <a:pPr indent="0" marL="0">
              <a:buNone/>
            </a:pPr>
            <a:r>
              <a:rPr lang="en-US" sz="1500" b="1" dirty="0">
                <a:solidFill>
                  <a:schemeClr val="accent2"/>
                </a:solidFill>
                <a:latin typeface="+mn-lt" pitchFamily="34" charset="0"/>
                <a:ea typeface="+mn-lt" pitchFamily="34" charset="-122"/>
                <a:cs typeface="+mn-lt" pitchFamily="34" charset="-120"/>
              </a:rPr>
              <a:t>1 · TEST</a:t>
            </a:r>
            <a:endParaRPr lang="en-US" sz="1500" dirty="0"/>
          </a:p>
        </p:txBody>
      </p:sp>
      <p:sp>
        <p:nvSpPr>
          <p:cNvPr id="10" name="1 · TEST desc"/>
          <p:cNvSpPr txBox="1"/>
          <p:nvPr/>
        </p:nvSpPr>
        <p:spPr>
          <a:xfrm>
            <a:off x="822960" y="3611880"/>
            <a:ext cx="2844698" cy="1005840"/>
          </a:xfrm>
          <a:prstGeom prst="rect">
            <a:avLst/>
          </a:prstGeom>
          <a:noFill/>
          <a:ln/>
        </p:spPr>
        <p:txBody>
          <a:bodyPr wrap="square" lIns="0" tIns="0" rIns="0" bIns="0" rtlCol="0" anchor="t"/>
          <a:lstStyle/>
          <a:p>
            <a:pPr indent="0" marL="0">
              <a:buNone/>
            </a:pPr>
            <a:r>
              <a:rPr lang="en-US" sz="1500" dirty="0">
                <a:solidFill>
                  <a:srgbClr val="CFEAE4"/>
                </a:solidFill>
                <a:latin typeface="+mn-lt" pitchFamily="34" charset="0"/>
                <a:ea typeface="+mn-lt" pitchFamily="34" charset="-122"/>
                <a:cs typeface="+mn-lt" pitchFamily="34" charset="-120"/>
              </a:rPr>
              <a:t>ruff + 36 pytest tests, Vitest, helm lint, terraform validate, secret scan</a:t>
            </a:r>
            <a:endParaRPr lang="en-US" sz="1500" dirty="0"/>
          </a:p>
        </p:txBody>
      </p:sp>
      <p:sp>
        <p:nvSpPr>
          <p:cNvPr id="11" name="ci arrow 0"/>
          <p:cNvSpPr/>
          <p:nvPr/>
        </p:nvSpPr>
        <p:spPr>
          <a:xfrm>
            <a:off x="4033418" y="3566160"/>
            <a:ext cx="274320" cy="228600"/>
          </a:xfrm>
          <a:prstGeom prst="rightArrow">
            <a:avLst/>
          </a:prstGeom>
          <a:solidFill>
            <a:srgbClr val="2DD4BF"/>
          </a:solidFill>
          <a:ln/>
        </p:spPr>
      </p:sp>
      <p:sp>
        <p:nvSpPr>
          <p:cNvPr id="12" name="2 · BUILD + SCAN + PUSH card"/>
          <p:cNvSpPr/>
          <p:nvPr/>
        </p:nvSpPr>
        <p:spPr>
          <a:xfrm>
            <a:off x="4399178" y="2606040"/>
            <a:ext cx="3393338" cy="2148840"/>
          </a:xfrm>
          <a:prstGeom prst="roundRect">
            <a:avLst>
              <a:gd name="adj" fmla="val 5106"/>
            </a:avLst>
          </a:prstGeom>
          <a:solidFill>
            <a:srgbClr val="14303A"/>
          </a:solidFill>
          <a:ln/>
        </p:spPr>
      </p:sp>
      <p:sp>
        <p:nvSpPr>
          <p:cNvPr id="13" name="2 · BUILD + SCAN + PUSH dot"/>
          <p:cNvSpPr/>
          <p:nvPr/>
        </p:nvSpPr>
        <p:spPr>
          <a:xfrm>
            <a:off x="4673498" y="2880360"/>
            <a:ext cx="530352" cy="530352"/>
          </a:xfrm>
          <a:prstGeom prst="ellipse">
            <a:avLst/>
          </a:prstGeom>
          <a:solidFill>
            <a:srgbClr val="1A3B45"/>
          </a:solidFill>
          <a:ln/>
        </p:spPr>
      </p:sp>
      <p:pic>
        <p:nvPicPr>
          <p:cNvPr id="14" name="Image 1" descr="2 · BUILD + SCAN + PUSH">    </p:cNvPr>
          <p:cNvPicPr>
            <a:picLocks noChangeAspect="1"/>
          </p:cNvPicPr>
          <p:nvPr/>
        </p:nvPicPr>
        <p:blipFill>
          <a:blip r:embed="rId2"/>
          <a:stretch>
            <a:fillRect/>
          </a:stretch>
        </p:blipFill>
        <p:spPr>
          <a:xfrm>
            <a:off x="4800783" y="3007644"/>
            <a:ext cx="275783" cy="275783"/>
          </a:xfrm>
          <a:prstGeom prst="rect">
            <a:avLst/>
          </a:prstGeom>
        </p:spPr>
      </p:pic>
      <p:sp>
        <p:nvSpPr>
          <p:cNvPr id="15" name="2 · BUILD + SCAN + PUSH title"/>
          <p:cNvSpPr txBox="1"/>
          <p:nvPr/>
        </p:nvSpPr>
        <p:spPr>
          <a:xfrm>
            <a:off x="5331866" y="2953512"/>
            <a:ext cx="2296058" cy="411480"/>
          </a:xfrm>
          <a:prstGeom prst="rect">
            <a:avLst/>
          </a:prstGeom>
          <a:noFill/>
          <a:ln/>
        </p:spPr>
        <p:txBody>
          <a:bodyPr wrap="square" lIns="0" tIns="0" rIns="0" bIns="0" rtlCol="0" anchor="ctr"/>
          <a:lstStyle/>
          <a:p>
            <a:pPr indent="0" marL="0">
              <a:buNone/>
            </a:pPr>
            <a:r>
              <a:rPr lang="en-US" sz="1500" b="1" dirty="0">
                <a:solidFill>
                  <a:schemeClr val="accent2"/>
                </a:solidFill>
                <a:latin typeface="+mn-lt" pitchFamily="34" charset="0"/>
                <a:ea typeface="+mn-lt" pitchFamily="34" charset="-122"/>
                <a:cs typeface="+mn-lt" pitchFamily="34" charset="-120"/>
              </a:rPr>
              <a:t>2 · BUILD + SCAN + PUSH</a:t>
            </a:r>
            <a:endParaRPr lang="en-US" sz="1500" dirty="0"/>
          </a:p>
        </p:txBody>
      </p:sp>
      <p:sp>
        <p:nvSpPr>
          <p:cNvPr id="16" name="2 · BUILD + SCAN + PUSH desc"/>
          <p:cNvSpPr txBox="1"/>
          <p:nvPr/>
        </p:nvSpPr>
        <p:spPr>
          <a:xfrm>
            <a:off x="4673498" y="3611880"/>
            <a:ext cx="2844698" cy="1005840"/>
          </a:xfrm>
          <a:prstGeom prst="rect">
            <a:avLst/>
          </a:prstGeom>
          <a:noFill/>
          <a:ln/>
        </p:spPr>
        <p:txBody>
          <a:bodyPr wrap="square" lIns="0" tIns="0" rIns="0" bIns="0" rtlCol="0" anchor="t"/>
          <a:lstStyle/>
          <a:p>
            <a:pPr indent="0" marL="0">
              <a:buNone/>
            </a:pPr>
            <a:r>
              <a:rPr lang="en-US" sz="1500" dirty="0">
                <a:solidFill>
                  <a:srgbClr val="CFEAE4"/>
                </a:solidFill>
                <a:latin typeface="+mn-lt" pitchFamily="34" charset="0"/>
                <a:ea typeface="+mn-lt" pitchFamily="34" charset="-122"/>
                <a:cs typeface="+mn-lt" pitchFamily="34" charset="-120"/>
              </a:rPr>
              <a:t>Build both images, scan with Trivy, push to GHCR tagged with the Git SHA</a:t>
            </a:r>
            <a:endParaRPr lang="en-US" sz="1500" dirty="0"/>
          </a:p>
        </p:txBody>
      </p:sp>
      <p:sp>
        <p:nvSpPr>
          <p:cNvPr id="17" name="ci arrow 1"/>
          <p:cNvSpPr/>
          <p:nvPr/>
        </p:nvSpPr>
        <p:spPr>
          <a:xfrm>
            <a:off x="7883957" y="3566160"/>
            <a:ext cx="274320" cy="228600"/>
          </a:xfrm>
          <a:prstGeom prst="rightArrow">
            <a:avLst/>
          </a:prstGeom>
          <a:solidFill>
            <a:srgbClr val="2DD4BF"/>
          </a:solidFill>
          <a:ln/>
        </p:spPr>
      </p:sp>
      <p:sp>
        <p:nvSpPr>
          <p:cNvPr id="18" name="3 · DEPLOY card"/>
          <p:cNvSpPr/>
          <p:nvPr/>
        </p:nvSpPr>
        <p:spPr>
          <a:xfrm>
            <a:off x="8249717" y="2606040"/>
            <a:ext cx="3393338" cy="2148840"/>
          </a:xfrm>
          <a:prstGeom prst="roundRect">
            <a:avLst>
              <a:gd name="adj" fmla="val 5106"/>
            </a:avLst>
          </a:prstGeom>
          <a:solidFill>
            <a:srgbClr val="14303A"/>
          </a:solidFill>
          <a:ln/>
        </p:spPr>
      </p:sp>
      <p:sp>
        <p:nvSpPr>
          <p:cNvPr id="19" name="3 · DEPLOY dot"/>
          <p:cNvSpPr/>
          <p:nvPr/>
        </p:nvSpPr>
        <p:spPr>
          <a:xfrm>
            <a:off x="8524037" y="2880360"/>
            <a:ext cx="530352" cy="530352"/>
          </a:xfrm>
          <a:prstGeom prst="ellipse">
            <a:avLst/>
          </a:prstGeom>
          <a:solidFill>
            <a:srgbClr val="1A3B45"/>
          </a:solidFill>
          <a:ln/>
        </p:spPr>
      </p:sp>
      <p:pic>
        <p:nvPicPr>
          <p:cNvPr id="20" name="Image 2" descr="3 · DEPLOY">    </p:cNvPr>
          <p:cNvPicPr>
            <a:picLocks noChangeAspect="1"/>
          </p:cNvPicPr>
          <p:nvPr/>
        </p:nvPicPr>
        <p:blipFill>
          <a:blip r:embed="rId3"/>
          <a:stretch>
            <a:fillRect/>
          </a:stretch>
        </p:blipFill>
        <p:spPr>
          <a:xfrm>
            <a:off x="8651321" y="3007644"/>
            <a:ext cx="275783" cy="275783"/>
          </a:xfrm>
          <a:prstGeom prst="rect">
            <a:avLst/>
          </a:prstGeom>
        </p:spPr>
      </p:pic>
      <p:sp>
        <p:nvSpPr>
          <p:cNvPr id="21" name="3 · DEPLOY title"/>
          <p:cNvSpPr txBox="1"/>
          <p:nvPr/>
        </p:nvSpPr>
        <p:spPr>
          <a:xfrm>
            <a:off x="9182405" y="2953512"/>
            <a:ext cx="2296058" cy="411480"/>
          </a:xfrm>
          <a:prstGeom prst="rect">
            <a:avLst/>
          </a:prstGeom>
          <a:noFill/>
          <a:ln/>
        </p:spPr>
        <p:txBody>
          <a:bodyPr wrap="square" lIns="0" tIns="0" rIns="0" bIns="0" rtlCol="0" anchor="ctr"/>
          <a:lstStyle/>
          <a:p>
            <a:pPr indent="0" marL="0">
              <a:buNone/>
            </a:pPr>
            <a:r>
              <a:rPr lang="en-US" sz="1500" b="1" dirty="0">
                <a:solidFill>
                  <a:schemeClr val="accent2"/>
                </a:solidFill>
                <a:latin typeface="+mn-lt" pitchFamily="34" charset="0"/>
                <a:ea typeface="+mn-lt" pitchFamily="34" charset="-122"/>
                <a:cs typeface="+mn-lt" pitchFamily="34" charset="-120"/>
              </a:rPr>
              <a:t>3 · DEPLOY</a:t>
            </a:r>
            <a:endParaRPr lang="en-US" sz="1500" dirty="0"/>
          </a:p>
        </p:txBody>
      </p:sp>
      <p:sp>
        <p:nvSpPr>
          <p:cNvPr id="22" name="3 · DEPLOY desc"/>
          <p:cNvSpPr txBox="1"/>
          <p:nvPr/>
        </p:nvSpPr>
        <p:spPr>
          <a:xfrm>
            <a:off x="8524037" y="3611880"/>
            <a:ext cx="2844698" cy="1005840"/>
          </a:xfrm>
          <a:prstGeom prst="rect">
            <a:avLst/>
          </a:prstGeom>
          <a:noFill/>
          <a:ln/>
        </p:spPr>
        <p:txBody>
          <a:bodyPr wrap="square" lIns="0" tIns="0" rIns="0" bIns="0" rtlCol="0" anchor="t"/>
          <a:lstStyle/>
          <a:p>
            <a:pPr indent="0" marL="0">
              <a:buNone/>
            </a:pPr>
            <a:r>
              <a:rPr lang="en-US" sz="1500" dirty="0">
                <a:solidFill>
                  <a:srgbClr val="CFEAE4"/>
                </a:solidFill>
                <a:latin typeface="+mn-lt" pitchFamily="34" charset="0"/>
                <a:ea typeface="+mn-lt" pitchFamily="34" charset="-122"/>
                <a:cs typeface="+mn-lt" pitchFamily="34" charset="-120"/>
              </a:rPr>
              <a:t>helm upgrade --install to EKS, keyless through GitHub OIDC</a:t>
            </a:r>
            <a:endParaRPr lang="en-US" sz="1500" dirty="0"/>
          </a:p>
        </p:txBody>
      </p:sp>
      <p:sp>
        <p:nvSpPr>
          <p:cNvPr id="23" name="quality gate"/>
          <p:cNvSpPr/>
          <p:nvPr/>
        </p:nvSpPr>
        <p:spPr>
          <a:xfrm>
            <a:off x="548640" y="5074920"/>
            <a:ext cx="11094415" cy="868680"/>
          </a:xfrm>
          <a:prstGeom prst="roundRect">
            <a:avLst>
              <a:gd name="adj" fmla="val 12632"/>
            </a:avLst>
          </a:prstGeom>
          <a:solidFill>
            <a:srgbClr val="123A30"/>
          </a:solidFill>
          <a:ln w="12700">
            <a:solidFill>
              <a:srgbClr val="1F7A5C"/>
            </a:solidFill>
            <a:prstDash val="solid"/>
          </a:ln>
        </p:spPr>
      </p:sp>
      <p:sp>
        <p:nvSpPr>
          <p:cNvPr id="24" name="gate dot"/>
          <p:cNvSpPr/>
          <p:nvPr/>
        </p:nvSpPr>
        <p:spPr>
          <a:xfrm>
            <a:off x="777240" y="5221224"/>
            <a:ext cx="566928" cy="566928"/>
          </a:xfrm>
          <a:prstGeom prst="ellipse">
            <a:avLst/>
          </a:prstGeom>
          <a:solidFill>
            <a:srgbClr val="1F5C4D"/>
          </a:solidFill>
          <a:ln/>
        </p:spPr>
      </p:sp>
      <p:pic>
        <p:nvPicPr>
          <p:cNvPr id="25" name="Image 3" descr="gate">    </p:cNvPr>
          <p:cNvPicPr>
            <a:picLocks noChangeAspect="1"/>
          </p:cNvPicPr>
          <p:nvPr/>
        </p:nvPicPr>
        <p:blipFill>
          <a:blip r:embed="rId4"/>
          <a:stretch>
            <a:fillRect/>
          </a:stretch>
        </p:blipFill>
        <p:spPr>
          <a:xfrm>
            <a:off x="913303" y="5357287"/>
            <a:ext cx="294803" cy="294803"/>
          </a:xfrm>
          <a:prstGeom prst="rect">
            <a:avLst/>
          </a:prstGeom>
        </p:spPr>
      </p:pic>
      <p:sp>
        <p:nvSpPr>
          <p:cNvPr id="26" name="gate text"/>
          <p:cNvSpPr txBox="1"/>
          <p:nvPr/>
        </p:nvSpPr>
        <p:spPr>
          <a:xfrm>
            <a:off x="1508760" y="5074920"/>
            <a:ext cx="9905695" cy="868680"/>
          </a:xfrm>
          <a:prstGeom prst="rect">
            <a:avLst/>
          </a:prstGeom>
          <a:noFill/>
          <a:ln/>
        </p:spPr>
        <p:txBody>
          <a:bodyPr wrap="square" lIns="0" tIns="0" rIns="0" bIns="0" rtlCol="0" anchor="ctr"/>
          <a:lstStyle/>
          <a:p>
            <a:pPr indent="0" marL="0">
              <a:buNone/>
            </a:pPr>
            <a:r>
              <a:rPr lang="en-US" sz="1600" b="1" dirty="0">
                <a:solidFill>
                  <a:srgbClr val="FFFFFF"/>
                </a:solidFill>
                <a:latin typeface="+mn-lt" pitchFamily="34" charset="0"/>
                <a:ea typeface="+mn-lt" pitchFamily="34" charset="-122"/>
                <a:cs typeface="+mn-lt" pitchFamily="34" charset="-120"/>
              </a:rPr>
              <a:t>Quality gate: </a:t>
            </a:r>
            <a:pPr indent="0" marL="0">
              <a:buNone/>
            </a:pPr>
            <a:r>
              <a:rPr lang="en-US" sz="1600" dirty="0">
                <a:solidFill>
                  <a:srgbClr val="BFF0E2"/>
                </a:solidFill>
                <a:latin typeface="+mn-lt" pitchFamily="34" charset="0"/>
                <a:ea typeface="+mn-lt" pitchFamily="34" charset="-122"/>
                <a:cs typeface="+mn-lt" pitchFamily="34" charset="-120"/>
              </a:rPr>
              <a:t>a failing test exits non-zero, the build stops, and no broken image is ever promoted to production.</a:t>
            </a:r>
            <a:endParaRPr lang="en-US" sz="16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04  ·  DOCKER IMAGE</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Containerised and portable</a:t>
            </a:r>
            <a:endParaRPr lang="en-US" sz="3400" dirty="0"/>
          </a:p>
        </p:txBody>
      </p:sp>
      <p:sp>
        <p:nvSpPr>
          <p:cNvPr id="5" name="lead"/>
          <p:cNvSpPr txBox="1"/>
          <p:nvPr/>
        </p:nvSpPr>
        <p:spPr>
          <a:xfrm>
            <a:off x="548640" y="1600200"/>
            <a:ext cx="5303520" cy="86868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The whole stack runs with one command. Each image ships only what it needs to run.</a:t>
            </a:r>
            <a:endParaRPr lang="en-US" sz="1700" dirty="0"/>
          </a:p>
        </p:txBody>
      </p:sp>
      <p:sp>
        <p:nvSpPr>
          <p:cNvPr id="6" name="docker facts"/>
          <p:cNvSpPr txBox="1"/>
          <p:nvPr/>
        </p:nvSpPr>
        <p:spPr>
          <a:xfrm>
            <a:off x="548640" y="2606040"/>
            <a:ext cx="5303520" cy="3108960"/>
          </a:xfrm>
          <a:prstGeom prst="rect">
            <a:avLst/>
          </a:prstGeom>
          <a:noFill/>
          <a:ln/>
        </p:spPr>
        <p:txBody>
          <a:bodyPr wrap="square" lIns="0" tIns="0" rIns="0" bIns="0" rtlCol="0" anchor="t"/>
          <a:lstStyle/>
          <a:p>
            <a:pPr marL="228600" indent="-228600">
              <a:spcAft>
                <a:spcPts val="900"/>
              </a:spcAft>
              <a:buSzPct val="100000"/>
              <a:buChar char="•"/>
            </a:pPr>
            <a:r>
              <a:rPr lang="en-US" sz="1700" b="1" dirty="0">
                <a:solidFill>
                  <a:schemeClr val="tx1"/>
                </a:solidFill>
                <a:latin typeface="+mn-lt" pitchFamily="34" charset="0"/>
                <a:ea typeface="+mn-lt" pitchFamily="34" charset="-122"/>
                <a:cs typeface="+mn-lt" pitchFamily="34" charset="-120"/>
              </a:rPr>
              <a:t>Multi-stage builds</a:t>
            </a:r>
            <a:pPr indent="0" marL="0">
              <a:spcAft>
                <a:spcPts val="900"/>
              </a:spcAft>
              <a:buNone/>
            </a:pPr>
            <a:r>
              <a:rPr lang="en-US" sz="1700" dirty="0">
                <a:solidFill>
                  <a:schemeClr val="tx1"/>
                </a:solidFill>
                <a:latin typeface="+mn-lt" pitchFamily="34" charset="0"/>
                <a:ea typeface="+mn-lt" pitchFamily="34" charset="-122"/>
                <a:cs typeface="+mn-lt" pitchFamily="34" charset="-120"/>
              </a:rPr>
              <a:t>: Node build, then an Nginx runtime; no build tools in the final image</a:t>
            </a:r>
            <a:endParaRPr lang="en-US" sz="1700" dirty="0"/>
          </a:p>
          <a:p>
            <a:pPr marL="228600" indent="-228600">
              <a:spcAft>
                <a:spcPts val="900"/>
              </a:spcAft>
              <a:buSzPct val="100000"/>
              <a:buChar char="•"/>
            </a:pPr>
            <a:r>
              <a:rPr lang="en-US" sz="1700" dirty="0">
                <a:solidFill>
                  <a:schemeClr val="tx1"/>
                </a:solidFill>
                <a:latin typeface="+mn-lt" pitchFamily="34" charset="0"/>
                <a:ea typeface="+mn-lt" pitchFamily="34" charset="-122"/>
                <a:cs typeface="+mn-lt" pitchFamily="34" charset="-120"/>
              </a:rPr>
              <a:t>Both images run as a </a:t>
            </a:r>
            <a:pPr indent="0" marL="0">
              <a:spcAft>
                <a:spcPts val="900"/>
              </a:spcAft>
              <a:buNone/>
            </a:pPr>
            <a:r>
              <a:rPr lang="en-US" sz="1700" b="1" dirty="0">
                <a:solidFill>
                  <a:schemeClr val="tx1"/>
                </a:solidFill>
                <a:latin typeface="+mn-lt" pitchFamily="34" charset="0"/>
                <a:ea typeface="+mn-lt" pitchFamily="34" charset="-122"/>
                <a:cs typeface="+mn-lt" pitchFamily="34" charset="-120"/>
              </a:rPr>
              <a:t>non-root user</a:t>
            </a:r>
            <a:endParaRPr lang="en-US" sz="1700" dirty="0"/>
          </a:p>
          <a:p>
            <a:pPr marL="228600" indent="-228600">
              <a:spcAft>
                <a:spcPts val="900"/>
              </a:spcAft>
              <a:buSzPct val="100000"/>
              <a:buChar char="•"/>
            </a:pPr>
            <a:r>
              <a:rPr lang="en-US" sz="1700" dirty="0">
                <a:solidFill>
                  <a:schemeClr val="tx1"/>
                </a:solidFill>
                <a:latin typeface="Courier New" pitchFamily="34" charset="0"/>
                <a:ea typeface="Courier New" pitchFamily="34" charset="-122"/>
                <a:cs typeface="Courier New" pitchFamily="34" charset="-120"/>
              </a:rPr>
              <a:t>docker compose up --build</a:t>
            </a:r>
            <a:pPr indent="0" marL="0">
              <a:spcAft>
                <a:spcPts val="900"/>
              </a:spcAft>
              <a:buNone/>
            </a:pPr>
            <a:r>
              <a:rPr lang="en-US" sz="1700" dirty="0">
                <a:solidFill>
                  <a:schemeClr val="tx1"/>
                </a:solidFill>
                <a:latin typeface="+mn-lt" pitchFamily="34" charset="0"/>
                <a:ea typeface="+mn-lt" pitchFamily="34" charset="-122"/>
                <a:cs typeface="+mn-lt" pitchFamily="34" charset="-120"/>
              </a:rPr>
              <a:t> starts all three services</a:t>
            </a:r>
            <a:endParaRPr lang="en-US" sz="1700" dirty="0"/>
          </a:p>
        </p:txBody>
      </p:sp>
      <p:sp>
        <p:nvSpPr>
          <p:cNvPr id="7" name="Backend image card"/>
          <p:cNvSpPr/>
          <p:nvPr/>
        </p:nvSpPr>
        <p:spPr>
          <a:xfrm>
            <a:off x="6309360" y="1600200"/>
            <a:ext cx="5333695" cy="1234440"/>
          </a:xfrm>
          <a:prstGeom prst="roundRect">
            <a:avLst>
              <a:gd name="adj" fmla="val 8889"/>
            </a:avLst>
          </a:prstGeom>
          <a:solidFill>
            <a:srgbClr val="FFFFFF"/>
          </a:solidFill>
          <a:ln w="12700">
            <a:solidFill>
              <a:srgbClr val="D6E3DF"/>
            </a:solidFill>
            <a:prstDash val="solid"/>
          </a:ln>
        </p:spPr>
      </p:sp>
      <p:sp>
        <p:nvSpPr>
          <p:cNvPr id="8" name="Backend image dot"/>
          <p:cNvSpPr/>
          <p:nvPr/>
        </p:nvSpPr>
        <p:spPr>
          <a:xfrm>
            <a:off x="6583680" y="1901952"/>
            <a:ext cx="621792" cy="621792"/>
          </a:xfrm>
          <a:prstGeom prst="ellipse">
            <a:avLst/>
          </a:prstGeom>
          <a:solidFill>
            <a:srgbClr val="CCFBF1"/>
          </a:solidFill>
          <a:ln/>
        </p:spPr>
      </p:sp>
      <p:pic>
        <p:nvPicPr>
          <p:cNvPr id="9" name="Image 0" descr="Backend image">    </p:cNvPr>
          <p:cNvPicPr>
            <a:picLocks noChangeAspect="1"/>
          </p:cNvPicPr>
          <p:nvPr/>
        </p:nvPicPr>
        <p:blipFill>
          <a:blip r:embed="rId1"/>
          <a:stretch>
            <a:fillRect/>
          </a:stretch>
        </p:blipFill>
        <p:spPr>
          <a:xfrm>
            <a:off x="6732910" y="2051182"/>
            <a:ext cx="323332" cy="323332"/>
          </a:xfrm>
          <a:prstGeom prst="rect">
            <a:avLst/>
          </a:prstGeom>
        </p:spPr>
      </p:pic>
      <p:sp>
        <p:nvSpPr>
          <p:cNvPr id="10" name="Backend image title"/>
          <p:cNvSpPr txBox="1"/>
          <p:nvPr/>
        </p:nvSpPr>
        <p:spPr>
          <a:xfrm>
            <a:off x="7406640" y="1847088"/>
            <a:ext cx="4053535" cy="365760"/>
          </a:xfrm>
          <a:prstGeom prst="rect">
            <a:avLst/>
          </a:prstGeom>
          <a:noFill/>
          <a:ln/>
        </p:spPr>
        <p:txBody>
          <a:bodyPr wrap="square" lIns="0" tIns="0" rIns="0" bIns="0" rtlCol="0" anchor="t"/>
          <a:lstStyle/>
          <a:p>
            <a:pPr indent="0" marL="0">
              <a:buNone/>
            </a:pPr>
            <a:r>
              <a:rPr lang="en-US" sz="1800" b="1" dirty="0">
                <a:solidFill>
                  <a:schemeClr val="tx1"/>
                </a:solidFill>
                <a:latin typeface="+mn-lt" pitchFamily="34" charset="0"/>
                <a:ea typeface="+mn-lt" pitchFamily="34" charset="-122"/>
                <a:cs typeface="+mn-lt" pitchFamily="34" charset="-120"/>
              </a:rPr>
              <a:t>Backend image</a:t>
            </a:r>
            <a:endParaRPr lang="en-US" sz="1800" dirty="0"/>
          </a:p>
        </p:txBody>
      </p:sp>
      <p:sp>
        <p:nvSpPr>
          <p:cNvPr id="11" name="Backend image desc"/>
          <p:cNvSpPr txBox="1"/>
          <p:nvPr/>
        </p:nvSpPr>
        <p:spPr>
          <a:xfrm>
            <a:off x="7406640" y="2258568"/>
            <a:ext cx="4099255" cy="411480"/>
          </a:xfrm>
          <a:prstGeom prst="rect">
            <a:avLst/>
          </a:prstGeom>
          <a:noFill/>
          <a:ln/>
        </p:spPr>
        <p:txBody>
          <a:bodyPr wrap="square" lIns="0" tIns="0" rIns="0" bIns="0" rtlCol="0" anchor="t"/>
          <a:lstStyle/>
          <a:p>
            <a:pPr indent="0" marL="0">
              <a:buNone/>
            </a:pPr>
            <a:r>
              <a:rPr lang="en-US" sz="1250" dirty="0">
                <a:solidFill>
                  <a:schemeClr val="accent6"/>
                </a:solidFill>
                <a:latin typeface="Courier New" pitchFamily="34" charset="0"/>
                <a:ea typeface="Courier New" pitchFamily="34" charset="-122"/>
                <a:cs typeface="Courier New" pitchFamily="34" charset="-120"/>
              </a:rPr>
              <a:t>python:3.12-slim  ·  runs as uid 10001</a:t>
            </a:r>
            <a:endParaRPr lang="en-US" sz="1250" dirty="0"/>
          </a:p>
        </p:txBody>
      </p:sp>
      <p:sp>
        <p:nvSpPr>
          <p:cNvPr id="12" name="Frontend image card"/>
          <p:cNvSpPr/>
          <p:nvPr/>
        </p:nvSpPr>
        <p:spPr>
          <a:xfrm>
            <a:off x="6309360" y="3063240"/>
            <a:ext cx="5333695" cy="1234440"/>
          </a:xfrm>
          <a:prstGeom prst="roundRect">
            <a:avLst>
              <a:gd name="adj" fmla="val 8889"/>
            </a:avLst>
          </a:prstGeom>
          <a:solidFill>
            <a:srgbClr val="FFFFFF"/>
          </a:solidFill>
          <a:ln w="12700">
            <a:solidFill>
              <a:srgbClr val="D6E3DF"/>
            </a:solidFill>
            <a:prstDash val="solid"/>
          </a:ln>
        </p:spPr>
      </p:sp>
      <p:sp>
        <p:nvSpPr>
          <p:cNvPr id="13" name="Frontend image dot"/>
          <p:cNvSpPr/>
          <p:nvPr/>
        </p:nvSpPr>
        <p:spPr>
          <a:xfrm>
            <a:off x="6583680" y="3364992"/>
            <a:ext cx="621792" cy="621792"/>
          </a:xfrm>
          <a:prstGeom prst="ellipse">
            <a:avLst/>
          </a:prstGeom>
          <a:solidFill>
            <a:srgbClr val="CCFBF1"/>
          </a:solidFill>
          <a:ln/>
        </p:spPr>
      </p:sp>
      <p:pic>
        <p:nvPicPr>
          <p:cNvPr id="14" name="Image 1" descr="Frontend image">    </p:cNvPr>
          <p:cNvPicPr>
            <a:picLocks noChangeAspect="1"/>
          </p:cNvPicPr>
          <p:nvPr/>
        </p:nvPicPr>
        <p:blipFill>
          <a:blip r:embed="rId2"/>
          <a:stretch>
            <a:fillRect/>
          </a:stretch>
        </p:blipFill>
        <p:spPr>
          <a:xfrm>
            <a:off x="6732910" y="3514222"/>
            <a:ext cx="323332" cy="323332"/>
          </a:xfrm>
          <a:prstGeom prst="rect">
            <a:avLst/>
          </a:prstGeom>
        </p:spPr>
      </p:pic>
      <p:sp>
        <p:nvSpPr>
          <p:cNvPr id="15" name="Frontend image title"/>
          <p:cNvSpPr txBox="1"/>
          <p:nvPr/>
        </p:nvSpPr>
        <p:spPr>
          <a:xfrm>
            <a:off x="7406640" y="3310128"/>
            <a:ext cx="4053535" cy="365760"/>
          </a:xfrm>
          <a:prstGeom prst="rect">
            <a:avLst/>
          </a:prstGeom>
          <a:noFill/>
          <a:ln/>
        </p:spPr>
        <p:txBody>
          <a:bodyPr wrap="square" lIns="0" tIns="0" rIns="0" bIns="0" rtlCol="0" anchor="t"/>
          <a:lstStyle/>
          <a:p>
            <a:pPr indent="0" marL="0">
              <a:buNone/>
            </a:pPr>
            <a:r>
              <a:rPr lang="en-US" sz="1800" b="1" dirty="0">
                <a:solidFill>
                  <a:schemeClr val="tx1"/>
                </a:solidFill>
                <a:latin typeface="+mn-lt" pitchFamily="34" charset="0"/>
                <a:ea typeface="+mn-lt" pitchFamily="34" charset="-122"/>
                <a:cs typeface="+mn-lt" pitchFamily="34" charset="-120"/>
              </a:rPr>
              <a:t>Frontend image</a:t>
            </a:r>
            <a:endParaRPr lang="en-US" sz="1800" dirty="0"/>
          </a:p>
        </p:txBody>
      </p:sp>
      <p:sp>
        <p:nvSpPr>
          <p:cNvPr id="16" name="Frontend image desc"/>
          <p:cNvSpPr txBox="1"/>
          <p:nvPr/>
        </p:nvSpPr>
        <p:spPr>
          <a:xfrm>
            <a:off x="7406640" y="3721608"/>
            <a:ext cx="4099255" cy="411480"/>
          </a:xfrm>
          <a:prstGeom prst="rect">
            <a:avLst/>
          </a:prstGeom>
          <a:noFill/>
          <a:ln/>
        </p:spPr>
        <p:txBody>
          <a:bodyPr wrap="square" lIns="0" tIns="0" rIns="0" bIns="0" rtlCol="0" anchor="t"/>
          <a:lstStyle/>
          <a:p>
            <a:pPr indent="0" marL="0">
              <a:buNone/>
            </a:pPr>
            <a:r>
              <a:rPr lang="en-US" sz="1250" dirty="0">
                <a:solidFill>
                  <a:schemeClr val="accent6"/>
                </a:solidFill>
                <a:latin typeface="Courier New" pitchFamily="34" charset="0"/>
                <a:ea typeface="Courier New" pitchFamily="34" charset="-122"/>
                <a:cs typeface="Courier New" pitchFamily="34" charset="-120"/>
              </a:rPr>
              <a:t>nginx-unprivileged  ·  runs as uid 101</a:t>
            </a:r>
            <a:endParaRPr lang="en-US" sz="1250" dirty="0"/>
          </a:p>
        </p:txBody>
      </p:sp>
      <p:sp>
        <p:nvSpPr>
          <p:cNvPr id="17" name="compose card"/>
          <p:cNvSpPr/>
          <p:nvPr/>
        </p:nvSpPr>
        <p:spPr>
          <a:xfrm>
            <a:off x="6309360" y="4526280"/>
            <a:ext cx="5333695" cy="1234440"/>
          </a:xfrm>
          <a:prstGeom prst="roundRect">
            <a:avLst>
              <a:gd name="adj" fmla="val 8889"/>
            </a:avLst>
          </a:prstGeom>
          <a:solidFill>
            <a:srgbClr val="E7F7F1"/>
          </a:solidFill>
          <a:ln w="12700">
            <a:solidFill>
              <a:srgbClr val="A7E3CF"/>
            </a:solidFill>
            <a:prstDash val="solid"/>
          </a:ln>
        </p:spPr>
      </p:sp>
      <p:sp>
        <p:nvSpPr>
          <p:cNvPr id="18" name="compose dot"/>
          <p:cNvSpPr/>
          <p:nvPr/>
        </p:nvSpPr>
        <p:spPr>
          <a:xfrm>
            <a:off x="6583680" y="4828032"/>
            <a:ext cx="621792" cy="621792"/>
          </a:xfrm>
          <a:prstGeom prst="ellipse">
            <a:avLst/>
          </a:prstGeom>
          <a:solidFill>
            <a:srgbClr val="FFFFFF"/>
          </a:solidFill>
          <a:ln/>
        </p:spPr>
      </p:sp>
      <p:pic>
        <p:nvPicPr>
          <p:cNvPr id="19" name="Image 2" descr="compose">    </p:cNvPr>
          <p:cNvPicPr>
            <a:picLocks noChangeAspect="1"/>
          </p:cNvPicPr>
          <p:nvPr/>
        </p:nvPicPr>
        <p:blipFill>
          <a:blip r:embed="rId3"/>
          <a:stretch>
            <a:fillRect/>
          </a:stretch>
        </p:blipFill>
        <p:spPr>
          <a:xfrm>
            <a:off x="6732910" y="4977262"/>
            <a:ext cx="323332" cy="323332"/>
          </a:xfrm>
          <a:prstGeom prst="rect">
            <a:avLst/>
          </a:prstGeom>
        </p:spPr>
      </p:pic>
      <p:sp>
        <p:nvSpPr>
          <p:cNvPr id="20" name="compose text"/>
          <p:cNvSpPr txBox="1"/>
          <p:nvPr/>
        </p:nvSpPr>
        <p:spPr>
          <a:xfrm>
            <a:off x="7406640" y="4526280"/>
            <a:ext cx="4053535" cy="1234440"/>
          </a:xfrm>
          <a:prstGeom prst="rect">
            <a:avLst/>
          </a:prstGeom>
          <a:noFill/>
          <a:ln/>
        </p:spPr>
        <p:txBody>
          <a:bodyPr wrap="square" lIns="0" tIns="0" rIns="0" bIns="0" rtlCol="0" anchor="ctr"/>
          <a:lstStyle/>
          <a:p>
            <a:pPr indent="0" marL="0">
              <a:buNone/>
            </a:pPr>
            <a:r>
              <a:rPr lang="en-US" sz="1600" b="1" dirty="0">
                <a:solidFill>
                  <a:srgbClr val="065F46"/>
                </a:solidFill>
                <a:latin typeface="+mn-lt" pitchFamily="34" charset="0"/>
                <a:ea typeface="+mn-lt" pitchFamily="34" charset="-122"/>
                <a:cs typeface="+mn-lt" pitchFamily="34" charset="-120"/>
              </a:rPr>
              <a:t>3 services</a:t>
            </a:r>
            <a:pPr indent="0" marL="0">
              <a:buNone/>
            </a:pPr>
            <a:r>
              <a:rPr lang="en-US" sz="1600" dirty="0">
                <a:solidFill>
                  <a:srgbClr val="065F46"/>
                </a:solidFill>
                <a:latin typeface="+mn-lt" pitchFamily="34" charset="0"/>
                <a:ea typeface="+mn-lt" pitchFamily="34" charset="-122"/>
                <a:cs typeface="+mn-lt" pitchFamily="34" charset="-120"/>
              </a:rPr>
              <a:t>: frontend, backend and postgres, started together with health checks</a:t>
            </a:r>
            <a:endParaRPr lang="en-US" sz="16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2"/>
                </a:solidFill>
                <a:latin typeface="+mn-lt" pitchFamily="34" charset="0"/>
                <a:ea typeface="+mn-lt" pitchFamily="34" charset="-122"/>
                <a:cs typeface="+mn-lt" pitchFamily="34" charset="-120"/>
              </a:rPr>
              <a:t>STAGE 05  ·  SECURITY SCAN</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Trivy: a gate, not a guarantee</a:t>
            </a:r>
            <a:endParaRPr lang="en-US" sz="3400" dirty="0"/>
          </a:p>
        </p:txBody>
      </p:sp>
      <p:sp>
        <p:nvSpPr>
          <p:cNvPr id="5" name="lead"/>
          <p:cNvSpPr txBox="1"/>
          <p:nvPr/>
        </p:nvSpPr>
        <p:spPr>
          <a:xfrm>
            <a:off x="548640" y="1600200"/>
            <a:ext cx="10789920" cy="777240"/>
          </a:xfrm>
          <a:prstGeom prst="rect">
            <a:avLst/>
          </a:prstGeom>
          <a:noFill/>
          <a:ln/>
        </p:spPr>
        <p:txBody>
          <a:bodyPr wrap="square" lIns="0" tIns="0" rIns="0" bIns="0" rtlCol="0" anchor="t"/>
          <a:lstStyle/>
          <a:p>
            <a:pPr indent="0" marL="0">
              <a:buNone/>
            </a:pPr>
            <a:r>
              <a:rPr lang="en-US" sz="1800" dirty="0">
                <a:solidFill>
                  <a:srgbClr val="A9CFC8"/>
                </a:solidFill>
                <a:latin typeface="+mn-lt" pitchFamily="34" charset="0"/>
                <a:ea typeface="+mn-lt" pitchFamily="34" charset="-122"/>
                <a:cs typeface="+mn-lt" pitchFamily="34" charset="-120"/>
              </a:rPr>
              <a:t>The pipeline scans both images and </a:t>
            </a:r>
            <a:pPr indent="0" marL="0">
              <a:buNone/>
            </a:pPr>
            <a:r>
              <a:rPr lang="en-US" sz="1800" b="1" dirty="0">
                <a:solidFill>
                  <a:srgbClr val="FFFFFF"/>
                </a:solidFill>
                <a:latin typeface="+mn-lt" pitchFamily="34" charset="0"/>
                <a:ea typeface="+mn-lt" pitchFamily="34" charset="-122"/>
                <a:cs typeface="+mn-lt" pitchFamily="34" charset="-120"/>
              </a:rPr>
              <a:t>fails the build on any fixable HIGH or CRITICAL vulnerability</a:t>
            </a:r>
            <a:pPr indent="0" marL="0">
              <a:buNone/>
            </a:pPr>
            <a:r>
              <a:rPr lang="en-US" sz="1800" dirty="0">
                <a:solidFill>
                  <a:srgbClr val="A9CFC8"/>
                </a:solidFill>
                <a:latin typeface="+mn-lt" pitchFamily="34" charset="0"/>
                <a:ea typeface="+mn-lt" pitchFamily="34" charset="-122"/>
                <a:cs typeface="+mn-lt" pitchFamily="34" charset="-120"/>
              </a:rPr>
              <a:t>. A vulnerable image is never pushed.</a:t>
            </a:r>
            <a:endParaRPr lang="en-US" sz="1800" dirty="0"/>
          </a:p>
        </p:txBody>
      </p:sp>
      <p:sp>
        <p:nvSpPr>
          <p:cNvPr id="6" name="problem card"/>
          <p:cNvSpPr/>
          <p:nvPr/>
        </p:nvSpPr>
        <p:spPr>
          <a:xfrm>
            <a:off x="548640" y="2606040"/>
            <a:ext cx="5364328" cy="2377440"/>
          </a:xfrm>
          <a:prstGeom prst="roundRect">
            <a:avLst>
              <a:gd name="adj" fmla="val 4615"/>
            </a:avLst>
          </a:prstGeom>
          <a:solidFill>
            <a:srgbClr val="3A1D1E"/>
          </a:solidFill>
          <a:ln w="12700">
            <a:solidFill>
              <a:srgbClr val="8C3B3F"/>
            </a:solidFill>
            <a:prstDash val="solid"/>
          </a:ln>
        </p:spPr>
      </p:sp>
      <p:sp>
        <p:nvSpPr>
          <p:cNvPr id="7" name="problem dot"/>
          <p:cNvSpPr/>
          <p:nvPr/>
        </p:nvSpPr>
        <p:spPr>
          <a:xfrm>
            <a:off x="868680" y="2880360"/>
            <a:ext cx="566928" cy="566928"/>
          </a:xfrm>
          <a:prstGeom prst="ellipse">
            <a:avLst/>
          </a:prstGeom>
          <a:solidFill>
            <a:srgbClr val="5A2A2D"/>
          </a:solidFill>
          <a:ln/>
        </p:spPr>
      </p:sp>
      <p:pic>
        <p:nvPicPr>
          <p:cNvPr id="8" name="Image 0" descr="problem">    </p:cNvPr>
          <p:cNvPicPr>
            <a:picLocks noChangeAspect="1"/>
          </p:cNvPicPr>
          <p:nvPr/>
        </p:nvPicPr>
        <p:blipFill>
          <a:blip r:embed="rId1"/>
          <a:stretch>
            <a:fillRect/>
          </a:stretch>
        </p:blipFill>
        <p:spPr>
          <a:xfrm>
            <a:off x="1004743" y="3016423"/>
            <a:ext cx="294803" cy="294803"/>
          </a:xfrm>
          <a:prstGeom prst="rect">
            <a:avLst/>
          </a:prstGeom>
        </p:spPr>
      </p:pic>
      <p:sp>
        <p:nvSpPr>
          <p:cNvPr id="9" name="problem title"/>
          <p:cNvSpPr txBox="1"/>
          <p:nvPr/>
        </p:nvSpPr>
        <p:spPr>
          <a:xfrm>
            <a:off x="1600200" y="2926080"/>
            <a:ext cx="4084168" cy="457200"/>
          </a:xfrm>
          <a:prstGeom prst="rect">
            <a:avLst/>
          </a:prstGeom>
          <a:noFill/>
          <a:ln/>
        </p:spPr>
        <p:txBody>
          <a:bodyPr wrap="square" lIns="0" tIns="0" rIns="0" bIns="0" rtlCol="0" anchor="ctr"/>
          <a:lstStyle/>
          <a:p>
            <a:pPr indent="0" marL="0">
              <a:buNone/>
            </a:pPr>
            <a:r>
              <a:rPr lang="en-US" sz="1500" b="1" spc="100" kern="0" dirty="0">
                <a:solidFill>
                  <a:srgbClr val="FCA5A5"/>
                </a:solidFill>
                <a:latin typeface="+mn-lt" pitchFamily="34" charset="0"/>
                <a:ea typeface="+mn-lt" pitchFamily="34" charset="-122"/>
                <a:cs typeface="+mn-lt" pitchFamily="34" charset="-120"/>
              </a:rPr>
              <a:t>THE PROBLEM IT CAUGHT</a:t>
            </a:r>
            <a:endParaRPr lang="en-US" sz="1500" dirty="0"/>
          </a:p>
        </p:txBody>
      </p:sp>
      <p:sp>
        <p:nvSpPr>
          <p:cNvPr id="10" name="problem desc"/>
          <p:cNvSpPr txBox="1"/>
          <p:nvPr/>
        </p:nvSpPr>
        <p:spPr>
          <a:xfrm>
            <a:off x="868680" y="3657600"/>
            <a:ext cx="4724248" cy="1143000"/>
          </a:xfrm>
          <a:prstGeom prst="rect">
            <a:avLst/>
          </a:prstGeom>
          <a:noFill/>
          <a:ln/>
        </p:spPr>
        <p:txBody>
          <a:bodyPr wrap="square" lIns="0" tIns="0" rIns="0" bIns="0" rtlCol="0" anchor="t"/>
          <a:lstStyle/>
          <a:p>
            <a:pPr indent="0" marL="0">
              <a:buNone/>
            </a:pPr>
            <a:r>
              <a:rPr lang="en-US" sz="1600" dirty="0">
                <a:solidFill>
                  <a:srgbClr val="F5D7D9"/>
                </a:solidFill>
                <a:latin typeface="+mn-lt" pitchFamily="34" charset="0"/>
                <a:ea typeface="+mn-lt" pitchFamily="34" charset="-122"/>
                <a:cs typeface="+mn-lt" pitchFamily="34" charset="-120"/>
              </a:rPr>
              <a:t>First scan failed with </a:t>
            </a:r>
            <a:pPr indent="0" marL="0">
              <a:buNone/>
            </a:pPr>
            <a:r>
              <a:rPr lang="en-US" sz="1600" b="1" dirty="0">
                <a:solidFill>
                  <a:srgbClr val="FFFFFF"/>
                </a:solidFill>
                <a:latin typeface="+mn-lt" pitchFamily="34" charset="0"/>
                <a:ea typeface="+mn-lt" pitchFamily="34" charset="-122"/>
                <a:cs typeface="+mn-lt" pitchFamily="34" charset="-120"/>
              </a:rPr>
              <a:t>4 HIGH CVEs</a:t>
            </a:r>
            <a:pPr indent="0" marL="0">
              <a:buNone/>
            </a:pPr>
            <a:r>
              <a:rPr lang="en-US" sz="1600" dirty="0">
                <a:solidFill>
                  <a:srgbClr val="F5D7D9"/>
                </a:solidFill>
                <a:latin typeface="+mn-lt" pitchFamily="34" charset="0"/>
                <a:ea typeface="+mn-lt" pitchFamily="34" charset="-122"/>
                <a:cs typeface="+mn-lt" pitchFamily="34" charset="-120"/>
              </a:rPr>
              <a:t> (urllib3, msgpack, setuptools), all bundled inside pip, which ClinicFlow never uses.</a:t>
            </a:r>
            <a:endParaRPr lang="en-US" sz="1600" dirty="0"/>
          </a:p>
        </p:txBody>
      </p:sp>
      <p:sp>
        <p:nvSpPr>
          <p:cNvPr id="11" name="fix card"/>
          <p:cNvSpPr/>
          <p:nvPr/>
        </p:nvSpPr>
        <p:spPr>
          <a:xfrm>
            <a:off x="6278728" y="2606040"/>
            <a:ext cx="5364328" cy="2377440"/>
          </a:xfrm>
          <a:prstGeom prst="roundRect">
            <a:avLst>
              <a:gd name="adj" fmla="val 4615"/>
            </a:avLst>
          </a:prstGeom>
          <a:solidFill>
            <a:srgbClr val="123A30"/>
          </a:solidFill>
          <a:ln w="12700">
            <a:solidFill>
              <a:srgbClr val="1F7A5C"/>
            </a:solidFill>
            <a:prstDash val="solid"/>
          </a:ln>
        </p:spPr>
      </p:sp>
      <p:sp>
        <p:nvSpPr>
          <p:cNvPr id="12" name="fix dot"/>
          <p:cNvSpPr/>
          <p:nvPr/>
        </p:nvSpPr>
        <p:spPr>
          <a:xfrm>
            <a:off x="6598768" y="2880360"/>
            <a:ext cx="566928" cy="566928"/>
          </a:xfrm>
          <a:prstGeom prst="ellipse">
            <a:avLst/>
          </a:prstGeom>
          <a:solidFill>
            <a:srgbClr val="1F5C4D"/>
          </a:solidFill>
          <a:ln/>
        </p:spPr>
      </p:sp>
      <p:pic>
        <p:nvPicPr>
          <p:cNvPr id="13" name="Image 1" descr="fix">    </p:cNvPr>
          <p:cNvPicPr>
            <a:picLocks noChangeAspect="1"/>
          </p:cNvPicPr>
          <p:nvPr/>
        </p:nvPicPr>
        <p:blipFill>
          <a:blip r:embed="rId2"/>
          <a:stretch>
            <a:fillRect/>
          </a:stretch>
        </p:blipFill>
        <p:spPr>
          <a:xfrm>
            <a:off x="6734830" y="3016423"/>
            <a:ext cx="294803" cy="294803"/>
          </a:xfrm>
          <a:prstGeom prst="rect">
            <a:avLst/>
          </a:prstGeom>
        </p:spPr>
      </p:pic>
      <p:sp>
        <p:nvSpPr>
          <p:cNvPr id="14" name="fix title"/>
          <p:cNvSpPr txBox="1"/>
          <p:nvPr/>
        </p:nvSpPr>
        <p:spPr>
          <a:xfrm>
            <a:off x="7330288" y="2926080"/>
            <a:ext cx="4084168" cy="457200"/>
          </a:xfrm>
          <a:prstGeom prst="rect">
            <a:avLst/>
          </a:prstGeom>
          <a:noFill/>
          <a:ln/>
        </p:spPr>
        <p:txBody>
          <a:bodyPr wrap="square" lIns="0" tIns="0" rIns="0" bIns="0" rtlCol="0" anchor="ctr"/>
          <a:lstStyle/>
          <a:p>
            <a:pPr indent="0" marL="0">
              <a:buNone/>
            </a:pPr>
            <a:r>
              <a:rPr lang="en-US" sz="1500" b="1" spc="100" kern="0" dirty="0">
                <a:solidFill>
                  <a:srgbClr val="6EE7B7"/>
                </a:solidFill>
                <a:latin typeface="+mn-lt" pitchFamily="34" charset="0"/>
                <a:ea typeface="+mn-lt" pitchFamily="34" charset="-122"/>
                <a:cs typeface="+mn-lt" pitchFamily="34" charset="-120"/>
              </a:rPr>
              <a:t>THE FIX</a:t>
            </a:r>
            <a:endParaRPr lang="en-US" sz="1500" dirty="0"/>
          </a:p>
        </p:txBody>
      </p:sp>
      <p:sp>
        <p:nvSpPr>
          <p:cNvPr id="15" name="fix desc"/>
          <p:cNvSpPr txBox="1"/>
          <p:nvPr/>
        </p:nvSpPr>
        <p:spPr>
          <a:xfrm>
            <a:off x="6598768" y="3657600"/>
            <a:ext cx="4724248" cy="1143000"/>
          </a:xfrm>
          <a:prstGeom prst="rect">
            <a:avLst/>
          </a:prstGeom>
          <a:noFill/>
          <a:ln/>
        </p:spPr>
        <p:txBody>
          <a:bodyPr wrap="square" lIns="0" tIns="0" rIns="0" bIns="0" rtlCol="0" anchor="t"/>
          <a:lstStyle/>
          <a:p>
            <a:pPr indent="0" marL="0">
              <a:buNone/>
            </a:pPr>
            <a:r>
              <a:rPr lang="en-US" sz="1600" dirty="0">
                <a:solidFill>
                  <a:srgbClr val="C8F3E2"/>
                </a:solidFill>
                <a:latin typeface="+mn-lt" pitchFamily="34" charset="0"/>
                <a:ea typeface="+mn-lt" pitchFamily="34" charset="-122"/>
                <a:cs typeface="+mn-lt" pitchFamily="34" charset="-120"/>
              </a:rPr>
              <a:t>Removed pip from the runtime image. All four CVEs gone, smaller attack surface. </a:t>
            </a:r>
            <a:pPr indent="0" marL="0">
              <a:buNone/>
            </a:pPr>
            <a:r>
              <a:rPr lang="en-US" sz="1600" b="1" dirty="0">
                <a:solidFill>
                  <a:srgbClr val="FFFFFF"/>
                </a:solidFill>
                <a:latin typeface="+mn-lt" pitchFamily="34" charset="0"/>
                <a:ea typeface="+mn-lt" pitchFamily="34" charset="-122"/>
                <a:cs typeface="+mn-lt" pitchFamily="34" charset="-120"/>
              </a:rPr>
              <a:t>Result: 0 HIGH / CRITICAL.</a:t>
            </a:r>
            <a:endParaRPr lang="en-US" sz="1600" dirty="0"/>
          </a:p>
        </p:txBody>
      </p:sp>
      <p:sp>
        <p:nvSpPr>
          <p:cNvPr id="16" name="layer Secret scanning"/>
          <p:cNvSpPr/>
          <p:nvPr/>
        </p:nvSpPr>
        <p:spPr>
          <a:xfrm>
            <a:off x="548640" y="5349240"/>
            <a:ext cx="1691640" cy="384048"/>
          </a:xfrm>
          <a:prstGeom prst="roundRect">
            <a:avLst>
              <a:gd name="adj" fmla="val 50000"/>
            </a:avLst>
          </a:prstGeom>
          <a:solidFill>
            <a:srgbClr val="14303A"/>
          </a:solidFill>
          <a:ln/>
        </p:spPr>
      </p:sp>
      <p:sp>
        <p:nvSpPr>
          <p:cNvPr id="17" name="layer Secret scanning label"/>
          <p:cNvSpPr txBox="1"/>
          <p:nvPr/>
        </p:nvSpPr>
        <p:spPr>
          <a:xfrm>
            <a:off x="548640" y="5349240"/>
            <a:ext cx="1691640" cy="384048"/>
          </a:xfrm>
          <a:prstGeom prst="rect">
            <a:avLst/>
          </a:prstGeom>
          <a:noFill/>
          <a:ln/>
        </p:spPr>
        <p:txBody>
          <a:bodyPr wrap="square" lIns="0" tIns="0" rIns="0" bIns="0" rtlCol="0" anchor="ctr"/>
          <a:lstStyle/>
          <a:p>
            <a:pPr algn="ctr" indent="0" marL="0">
              <a:buNone/>
            </a:pPr>
            <a:r>
              <a:rPr lang="en-US" sz="1200" b="1" dirty="0">
                <a:solidFill>
                  <a:srgbClr val="CFEAE4"/>
                </a:solidFill>
                <a:latin typeface="+mn-lt" pitchFamily="34" charset="0"/>
                <a:ea typeface="+mn-lt" pitchFamily="34" charset="-122"/>
                <a:cs typeface="+mn-lt" pitchFamily="34" charset="-120"/>
              </a:rPr>
              <a:t>Secret scanning</a:t>
            </a:r>
            <a:endParaRPr lang="en-US" sz="1200" dirty="0"/>
          </a:p>
        </p:txBody>
      </p:sp>
      <p:sp>
        <p:nvSpPr>
          <p:cNvPr id="18" name="layer Dependency scanning"/>
          <p:cNvSpPr/>
          <p:nvPr/>
        </p:nvSpPr>
        <p:spPr>
          <a:xfrm>
            <a:off x="2377440" y="5349240"/>
            <a:ext cx="2020824" cy="384048"/>
          </a:xfrm>
          <a:prstGeom prst="roundRect">
            <a:avLst>
              <a:gd name="adj" fmla="val 50000"/>
            </a:avLst>
          </a:prstGeom>
          <a:solidFill>
            <a:srgbClr val="14303A"/>
          </a:solidFill>
          <a:ln/>
        </p:spPr>
      </p:sp>
      <p:sp>
        <p:nvSpPr>
          <p:cNvPr id="19" name="layer Dependency scanning label"/>
          <p:cNvSpPr txBox="1"/>
          <p:nvPr/>
        </p:nvSpPr>
        <p:spPr>
          <a:xfrm>
            <a:off x="2377440" y="5349240"/>
            <a:ext cx="2020824" cy="384048"/>
          </a:xfrm>
          <a:prstGeom prst="rect">
            <a:avLst/>
          </a:prstGeom>
          <a:noFill/>
          <a:ln/>
        </p:spPr>
        <p:txBody>
          <a:bodyPr wrap="square" lIns="0" tIns="0" rIns="0" bIns="0" rtlCol="0" anchor="ctr"/>
          <a:lstStyle/>
          <a:p>
            <a:pPr algn="ctr" indent="0" marL="0">
              <a:buNone/>
            </a:pPr>
            <a:r>
              <a:rPr lang="en-US" sz="1200" b="1" dirty="0">
                <a:solidFill>
                  <a:srgbClr val="CFEAE4"/>
                </a:solidFill>
                <a:latin typeface="+mn-lt" pitchFamily="34" charset="0"/>
                <a:ea typeface="+mn-lt" pitchFamily="34" charset="-122"/>
                <a:cs typeface="+mn-lt" pitchFamily="34" charset="-120"/>
              </a:rPr>
              <a:t>Dependency scanning</a:t>
            </a:r>
            <a:endParaRPr lang="en-US" sz="1200" dirty="0"/>
          </a:p>
        </p:txBody>
      </p:sp>
      <p:sp>
        <p:nvSpPr>
          <p:cNvPr id="20" name="layer Container scanning"/>
          <p:cNvSpPr/>
          <p:nvPr/>
        </p:nvSpPr>
        <p:spPr>
          <a:xfrm>
            <a:off x="4535424" y="5349240"/>
            <a:ext cx="1938528" cy="384048"/>
          </a:xfrm>
          <a:prstGeom prst="roundRect">
            <a:avLst>
              <a:gd name="adj" fmla="val 50000"/>
            </a:avLst>
          </a:prstGeom>
          <a:solidFill>
            <a:srgbClr val="14303A"/>
          </a:solidFill>
          <a:ln/>
        </p:spPr>
      </p:sp>
      <p:sp>
        <p:nvSpPr>
          <p:cNvPr id="21" name="layer Container scanning label"/>
          <p:cNvSpPr txBox="1"/>
          <p:nvPr/>
        </p:nvSpPr>
        <p:spPr>
          <a:xfrm>
            <a:off x="4535424" y="5349240"/>
            <a:ext cx="1938528" cy="384048"/>
          </a:xfrm>
          <a:prstGeom prst="rect">
            <a:avLst/>
          </a:prstGeom>
          <a:noFill/>
          <a:ln/>
        </p:spPr>
        <p:txBody>
          <a:bodyPr wrap="square" lIns="0" tIns="0" rIns="0" bIns="0" rtlCol="0" anchor="ctr"/>
          <a:lstStyle/>
          <a:p>
            <a:pPr algn="ctr" indent="0" marL="0">
              <a:buNone/>
            </a:pPr>
            <a:r>
              <a:rPr lang="en-US" sz="1200" b="1" dirty="0">
                <a:solidFill>
                  <a:srgbClr val="CFEAE4"/>
                </a:solidFill>
                <a:latin typeface="+mn-lt" pitchFamily="34" charset="0"/>
                <a:ea typeface="+mn-lt" pitchFamily="34" charset="-122"/>
                <a:cs typeface="+mn-lt" pitchFamily="34" charset="-120"/>
              </a:rPr>
              <a:t>Container scanning</a:t>
            </a:r>
            <a:endParaRPr lang="en-US" sz="1200" dirty="0"/>
          </a:p>
        </p:txBody>
      </p:sp>
      <p:sp>
        <p:nvSpPr>
          <p:cNvPr id="22" name="layer IaC misconfig scanning"/>
          <p:cNvSpPr/>
          <p:nvPr/>
        </p:nvSpPr>
        <p:spPr>
          <a:xfrm>
            <a:off x="6611112" y="5349240"/>
            <a:ext cx="2267712" cy="384048"/>
          </a:xfrm>
          <a:prstGeom prst="roundRect">
            <a:avLst>
              <a:gd name="adj" fmla="val 50000"/>
            </a:avLst>
          </a:prstGeom>
          <a:solidFill>
            <a:srgbClr val="14303A"/>
          </a:solidFill>
          <a:ln/>
        </p:spPr>
      </p:sp>
      <p:sp>
        <p:nvSpPr>
          <p:cNvPr id="23" name="layer IaC misconfig scanning label"/>
          <p:cNvSpPr txBox="1"/>
          <p:nvPr/>
        </p:nvSpPr>
        <p:spPr>
          <a:xfrm>
            <a:off x="6611112" y="5349240"/>
            <a:ext cx="2267712" cy="384048"/>
          </a:xfrm>
          <a:prstGeom prst="rect">
            <a:avLst/>
          </a:prstGeom>
          <a:noFill/>
          <a:ln/>
        </p:spPr>
        <p:txBody>
          <a:bodyPr wrap="square" lIns="0" tIns="0" rIns="0" bIns="0" rtlCol="0" anchor="ctr"/>
          <a:lstStyle/>
          <a:p>
            <a:pPr algn="ctr" indent="0" marL="0">
              <a:buNone/>
            </a:pPr>
            <a:r>
              <a:rPr lang="en-US" sz="1200" b="1" dirty="0">
                <a:solidFill>
                  <a:srgbClr val="CFEAE4"/>
                </a:solidFill>
                <a:latin typeface="+mn-lt" pitchFamily="34" charset="0"/>
                <a:ea typeface="+mn-lt" pitchFamily="34" charset="-122"/>
                <a:cs typeface="+mn-lt" pitchFamily="34" charset="-120"/>
              </a:rPr>
              <a:t>IaC misconfig scanning</a:t>
            </a:r>
            <a:endParaRPr lang="en-US" sz="1200" dirty="0"/>
          </a:p>
        </p:txBody>
      </p:sp>
      <p:sp>
        <p:nvSpPr>
          <p:cNvPr id="24" name="layer Results in GitHub Security tab"/>
          <p:cNvSpPr/>
          <p:nvPr/>
        </p:nvSpPr>
        <p:spPr>
          <a:xfrm>
            <a:off x="9015984" y="5349240"/>
            <a:ext cx="2926080" cy="384048"/>
          </a:xfrm>
          <a:prstGeom prst="roundRect">
            <a:avLst>
              <a:gd name="adj" fmla="val 50000"/>
            </a:avLst>
          </a:prstGeom>
          <a:solidFill>
            <a:srgbClr val="14303A"/>
          </a:solidFill>
          <a:ln/>
        </p:spPr>
      </p:sp>
      <p:sp>
        <p:nvSpPr>
          <p:cNvPr id="25" name="layer Results in GitHub Security tab label"/>
          <p:cNvSpPr txBox="1"/>
          <p:nvPr/>
        </p:nvSpPr>
        <p:spPr>
          <a:xfrm>
            <a:off x="9015984" y="5349240"/>
            <a:ext cx="2926080" cy="384048"/>
          </a:xfrm>
          <a:prstGeom prst="rect">
            <a:avLst/>
          </a:prstGeom>
          <a:noFill/>
          <a:ln/>
        </p:spPr>
        <p:txBody>
          <a:bodyPr wrap="square" lIns="0" tIns="0" rIns="0" bIns="0" rtlCol="0" anchor="ctr"/>
          <a:lstStyle/>
          <a:p>
            <a:pPr algn="ctr" indent="0" marL="0">
              <a:buNone/>
            </a:pPr>
            <a:r>
              <a:rPr lang="en-US" sz="1200" b="1" dirty="0">
                <a:solidFill>
                  <a:srgbClr val="CFEAE4"/>
                </a:solidFill>
                <a:latin typeface="+mn-lt" pitchFamily="34" charset="0"/>
                <a:ea typeface="+mn-lt" pitchFamily="34" charset="-122"/>
                <a:cs typeface="+mn-lt" pitchFamily="34" charset="-120"/>
              </a:rPr>
              <a:t>Results in GitHub Security tab</a:t>
            </a:r>
            <a:endParaRPr lang="en-US" sz="12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06  ·  REGISTRY</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Published to GHCR</a:t>
            </a:r>
            <a:endParaRPr lang="en-US" sz="3400" dirty="0"/>
          </a:p>
        </p:txBody>
      </p:sp>
      <p:sp>
        <p:nvSpPr>
          <p:cNvPr id="5" name="lead"/>
          <p:cNvSpPr txBox="1"/>
          <p:nvPr/>
        </p:nvSpPr>
        <p:spPr>
          <a:xfrm>
            <a:off x="548640" y="1600200"/>
            <a:ext cx="5394960" cy="118872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The pipeline pushes both images to the GitHub Container Registry, tagged with the exact Git commit SHA, never </a:t>
            </a:r>
            <a:pPr indent="0" marL="0">
              <a:buNone/>
            </a:pPr>
            <a:r>
              <a:rPr lang="en-US" sz="1700" dirty="0">
                <a:solidFill>
                  <a:schemeClr val="accent6"/>
                </a:solidFill>
                <a:latin typeface="Courier New" pitchFamily="34" charset="0"/>
                <a:ea typeface="Courier New" pitchFamily="34" charset="-122"/>
                <a:cs typeface="Courier New" pitchFamily="34" charset="-120"/>
              </a:rPr>
              <a:t>latest</a:t>
            </a:r>
            <a:pPr indent="0" marL="0">
              <a:buNone/>
            </a:pPr>
            <a:r>
              <a:rPr lang="en-US" sz="1700" dirty="0">
                <a:solidFill>
                  <a:schemeClr val="accent6"/>
                </a:solidFill>
                <a:latin typeface="+mn-lt" pitchFamily="34" charset="0"/>
                <a:ea typeface="+mn-lt" pitchFamily="34" charset="-122"/>
                <a:cs typeface="+mn-lt" pitchFamily="34" charset="-120"/>
              </a:rPr>
              <a:t>.</a:t>
            </a:r>
            <a:endParaRPr lang="en-US" sz="1700" dirty="0"/>
          </a:p>
        </p:txBody>
      </p:sp>
      <p:sp>
        <p:nvSpPr>
          <p:cNvPr id="6" name="why sha"/>
          <p:cNvSpPr/>
          <p:nvPr/>
        </p:nvSpPr>
        <p:spPr>
          <a:xfrm>
            <a:off x="548640" y="3017520"/>
            <a:ext cx="5394960" cy="2194560"/>
          </a:xfrm>
          <a:prstGeom prst="roundRect">
            <a:avLst>
              <a:gd name="adj" fmla="val 5000"/>
            </a:avLst>
          </a:prstGeom>
          <a:solidFill>
            <a:srgbClr val="E7F7F1"/>
          </a:solidFill>
          <a:ln w="12700">
            <a:solidFill>
              <a:srgbClr val="A7E3CF"/>
            </a:solidFill>
            <a:prstDash val="solid"/>
          </a:ln>
        </p:spPr>
      </p:sp>
      <p:sp>
        <p:nvSpPr>
          <p:cNvPr id="7" name="traceability dot"/>
          <p:cNvSpPr/>
          <p:nvPr/>
        </p:nvSpPr>
        <p:spPr>
          <a:xfrm>
            <a:off x="868680" y="3310128"/>
            <a:ext cx="566928" cy="566928"/>
          </a:xfrm>
          <a:prstGeom prst="ellipse">
            <a:avLst/>
          </a:prstGeom>
          <a:solidFill>
            <a:srgbClr val="FFFFFF"/>
          </a:solidFill>
          <a:ln/>
        </p:spPr>
      </p:sp>
      <p:pic>
        <p:nvPicPr>
          <p:cNvPr id="8" name="Image 0" descr="traceability">    </p:cNvPr>
          <p:cNvPicPr>
            <a:picLocks noChangeAspect="1"/>
          </p:cNvPicPr>
          <p:nvPr/>
        </p:nvPicPr>
        <p:blipFill>
          <a:blip r:embed="rId1"/>
          <a:stretch>
            <a:fillRect/>
          </a:stretch>
        </p:blipFill>
        <p:spPr>
          <a:xfrm>
            <a:off x="1004743" y="3446191"/>
            <a:ext cx="294803" cy="294803"/>
          </a:xfrm>
          <a:prstGeom prst="rect">
            <a:avLst/>
          </a:prstGeom>
        </p:spPr>
      </p:pic>
      <p:sp>
        <p:nvSpPr>
          <p:cNvPr id="9" name="why title"/>
          <p:cNvSpPr txBox="1"/>
          <p:nvPr/>
        </p:nvSpPr>
        <p:spPr>
          <a:xfrm>
            <a:off x="1600200" y="3310128"/>
            <a:ext cx="4114800" cy="566928"/>
          </a:xfrm>
          <a:prstGeom prst="rect">
            <a:avLst/>
          </a:prstGeom>
          <a:noFill/>
          <a:ln/>
        </p:spPr>
        <p:txBody>
          <a:bodyPr wrap="square" lIns="0" tIns="0" rIns="0" bIns="0" rtlCol="0" anchor="ctr"/>
          <a:lstStyle/>
          <a:p>
            <a:pPr indent="0" marL="0">
              <a:buNone/>
            </a:pPr>
            <a:r>
              <a:rPr lang="en-US" sz="1800" b="1" dirty="0">
                <a:solidFill>
                  <a:srgbClr val="065F46"/>
                </a:solidFill>
                <a:latin typeface="+mn-lt" pitchFamily="34" charset="0"/>
                <a:ea typeface="+mn-lt" pitchFamily="34" charset="-122"/>
                <a:cs typeface="+mn-lt" pitchFamily="34" charset="-120"/>
              </a:rPr>
              <a:t>Why the SHA and not “latest”?</a:t>
            </a:r>
            <a:endParaRPr lang="en-US" sz="1800" dirty="0"/>
          </a:p>
        </p:txBody>
      </p:sp>
      <p:sp>
        <p:nvSpPr>
          <p:cNvPr id="10" name="why desc"/>
          <p:cNvSpPr txBox="1"/>
          <p:nvPr/>
        </p:nvSpPr>
        <p:spPr>
          <a:xfrm>
            <a:off x="868680" y="4069080"/>
            <a:ext cx="4754880" cy="1005840"/>
          </a:xfrm>
          <a:prstGeom prst="rect">
            <a:avLst/>
          </a:prstGeom>
          <a:noFill/>
          <a:ln/>
        </p:spPr>
        <p:txBody>
          <a:bodyPr wrap="square" lIns="0" tIns="0" rIns="0" bIns="0" rtlCol="0" anchor="t"/>
          <a:lstStyle/>
          <a:p>
            <a:pPr indent="0" marL="0">
              <a:buNone/>
            </a:pPr>
            <a:r>
              <a:rPr lang="en-US" sz="1500" dirty="0">
                <a:solidFill>
                  <a:srgbClr val="2C5C4E"/>
                </a:solidFill>
                <a:latin typeface="+mn-lt" pitchFamily="34" charset="0"/>
                <a:ea typeface="+mn-lt" pitchFamily="34" charset="-122"/>
                <a:cs typeface="+mn-lt" pitchFamily="34" charset="-120"/>
              </a:rPr>
              <a:t>Full traceability: any running pod points back to the exact commit that built it. Rolling back means redeploying an older SHA.</a:t>
            </a:r>
            <a:endParaRPr lang="en-US" sz="1500" dirty="0"/>
          </a:p>
        </p:txBody>
      </p:sp>
      <p:sp>
        <p:nvSpPr>
          <p:cNvPr id="11" name="image tags"/>
          <p:cNvSpPr/>
          <p:nvPr/>
        </p:nvSpPr>
        <p:spPr>
          <a:xfrm>
            <a:off x="6446520" y="1600200"/>
            <a:ext cx="5196535" cy="3611880"/>
          </a:xfrm>
          <a:prstGeom prst="roundRect">
            <a:avLst>
              <a:gd name="adj" fmla="val 3038"/>
            </a:avLst>
          </a:prstGeom>
          <a:solidFill>
            <a:srgbClr val="0E1418"/>
          </a:solidFill>
          <a:ln/>
        </p:spPr>
      </p:sp>
      <p:sp>
        <p:nvSpPr>
          <p:cNvPr id="12" name="image tags text"/>
          <p:cNvSpPr txBox="1"/>
          <p:nvPr/>
        </p:nvSpPr>
        <p:spPr>
          <a:xfrm>
            <a:off x="6720840" y="1828800"/>
            <a:ext cx="4647895" cy="3154680"/>
          </a:xfrm>
          <a:prstGeom prst="rect">
            <a:avLst/>
          </a:prstGeom>
          <a:noFill/>
          <a:ln/>
        </p:spPr>
        <p:txBody>
          <a:bodyPr wrap="square" lIns="0" tIns="0" rIns="0" bIns="0" rtlCol="0" anchor="t"/>
          <a:lstStyle/>
          <a:p>
            <a:pPr indent="0" marL="0">
              <a:spcAft>
                <a:spcPts val="500"/>
              </a:spcAft>
              <a:buNone/>
            </a:pPr>
            <a:r>
              <a:rPr lang="en-US" sz="1300" dirty="0">
                <a:solidFill>
                  <a:srgbClr val="7C8B93"/>
                </a:solidFill>
                <a:latin typeface="Courier New" pitchFamily="34" charset="0"/>
                <a:ea typeface="Courier New" pitchFamily="34" charset="-122"/>
                <a:cs typeface="Courier New" pitchFamily="34" charset="-120"/>
              </a:rPr>
              <a:t>commit A  -&gt;  image A</a:t>
            </a:r>
            <a:endParaRPr lang="en-US" sz="1300" dirty="0"/>
          </a:p>
          <a:p>
            <a:pPr indent="0" marL="0">
              <a:spcAft>
                <a:spcPts val="500"/>
              </a:spcAft>
              <a:buNone/>
            </a:pPr>
            <a:r>
              <a:rPr lang="en-US" sz="1300" dirty="0">
                <a:solidFill>
                  <a:srgbClr val="7C8B93"/>
                </a:solidFill>
                <a:latin typeface="Courier New" pitchFamily="34" charset="0"/>
                <a:ea typeface="Courier New" pitchFamily="34" charset="-122"/>
                <a:cs typeface="Courier New" pitchFamily="34" charset="-120"/>
              </a:rPr>
              <a:t>commit B  -&gt;  image B</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ghcr.io/arju-prog/</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  clinicflow-backend:</a:t>
            </a:r>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3702b1a...</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ghcr.io/arju-prog/</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  clinicflow-frontend:</a:t>
            </a:r>
            <a:pPr indent="0" marL="0">
              <a:spcAft>
                <a:spcPts val="500"/>
              </a:spcAft>
              <a:buNone/>
            </a:pPr>
            <a:r>
              <a:rPr lang="en-US" sz="1300" dirty="0">
                <a:solidFill>
                  <a:srgbClr val="F0B429"/>
                </a:solidFill>
                <a:latin typeface="Courier New" pitchFamily="34" charset="0"/>
                <a:ea typeface="Courier New" pitchFamily="34" charset="-122"/>
                <a:cs typeface="Courier New" pitchFamily="34" charset="-120"/>
              </a:rPr>
              <a:t>3702b1a...</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2DD4BF"/>
                </a:solidFill>
                <a:latin typeface="Courier New" pitchFamily="34" charset="0"/>
                <a:ea typeface="Courier New" pitchFamily="34" charset="-122"/>
                <a:cs typeface="Courier New" pitchFamily="34" charset="-120"/>
              </a:rPr>
              <a:t>both packages public</a:t>
            </a:r>
            <a:endParaRPr lang="en-US" sz="13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07  ·  TERRAFORM</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Infrastructure as Code</a:t>
            </a:r>
            <a:endParaRPr lang="en-US" sz="3400" dirty="0"/>
          </a:p>
        </p:txBody>
      </p:sp>
      <p:sp>
        <p:nvSpPr>
          <p:cNvPr id="5" name="lead"/>
          <p:cNvSpPr txBox="1"/>
          <p:nvPr/>
        </p:nvSpPr>
        <p:spPr>
          <a:xfrm>
            <a:off x="548640" y="1600200"/>
            <a:ext cx="10789920" cy="77724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Instead of clicking through the AWS console, the network and cluster are described in code. Terraform builds them to match, and tears them all down with one command.</a:t>
            </a:r>
            <a:endParaRPr lang="en-US" sz="1700" dirty="0"/>
          </a:p>
        </p:txBody>
      </p:sp>
      <p:sp>
        <p:nvSpPr>
          <p:cNvPr id="6" name="VPC card"/>
          <p:cNvSpPr/>
          <p:nvPr/>
        </p:nvSpPr>
        <p:spPr>
          <a:xfrm>
            <a:off x="548640" y="2606040"/>
            <a:ext cx="3484778" cy="2148840"/>
          </a:xfrm>
          <a:prstGeom prst="roundRect">
            <a:avLst>
              <a:gd name="adj" fmla="val 5106"/>
            </a:avLst>
          </a:prstGeom>
          <a:solidFill>
            <a:srgbClr val="FFFFFF"/>
          </a:solidFill>
          <a:ln w="12700">
            <a:solidFill>
              <a:srgbClr val="D6E3DF"/>
            </a:solidFill>
            <a:prstDash val="solid"/>
          </a:ln>
        </p:spPr>
      </p:sp>
      <p:sp>
        <p:nvSpPr>
          <p:cNvPr id="7" name="VPC dot"/>
          <p:cNvSpPr/>
          <p:nvPr/>
        </p:nvSpPr>
        <p:spPr>
          <a:xfrm>
            <a:off x="868680" y="2898648"/>
            <a:ext cx="603504" cy="603504"/>
          </a:xfrm>
          <a:prstGeom prst="ellipse">
            <a:avLst/>
          </a:prstGeom>
          <a:solidFill>
            <a:srgbClr val="CCFBF1"/>
          </a:solidFill>
          <a:ln/>
        </p:spPr>
      </p:sp>
      <p:pic>
        <p:nvPicPr>
          <p:cNvPr id="8" name="Image 0" descr="VPC">    </p:cNvPr>
          <p:cNvPicPr>
            <a:picLocks noChangeAspect="1"/>
          </p:cNvPicPr>
          <p:nvPr/>
        </p:nvPicPr>
        <p:blipFill>
          <a:blip r:embed="rId1"/>
          <a:stretch>
            <a:fillRect/>
          </a:stretch>
        </p:blipFill>
        <p:spPr>
          <a:xfrm>
            <a:off x="1013521" y="3043489"/>
            <a:ext cx="313822" cy="313822"/>
          </a:xfrm>
          <a:prstGeom prst="rect">
            <a:avLst/>
          </a:prstGeom>
        </p:spPr>
      </p:pic>
      <p:sp>
        <p:nvSpPr>
          <p:cNvPr id="9" name="VPC title"/>
          <p:cNvSpPr txBox="1"/>
          <p:nvPr/>
        </p:nvSpPr>
        <p:spPr>
          <a:xfrm>
            <a:off x="1645920" y="2898648"/>
            <a:ext cx="2204618" cy="603504"/>
          </a:xfrm>
          <a:prstGeom prst="rect">
            <a:avLst/>
          </a:prstGeom>
          <a:noFill/>
          <a:ln/>
        </p:spPr>
        <p:txBody>
          <a:bodyPr wrap="square" lIns="0" tIns="0" rIns="0" bIns="0" rtlCol="0" anchor="ctr"/>
          <a:lstStyle/>
          <a:p>
            <a:pPr indent="0" marL="0">
              <a:buNone/>
            </a:pPr>
            <a:r>
              <a:rPr lang="en-US" sz="1900" b="1" dirty="0">
                <a:solidFill>
                  <a:schemeClr val="tx1"/>
                </a:solidFill>
                <a:latin typeface="+mn-lt" pitchFamily="34" charset="0"/>
                <a:ea typeface="+mn-lt" pitchFamily="34" charset="-122"/>
                <a:cs typeface="+mn-lt" pitchFamily="34" charset="-120"/>
              </a:rPr>
              <a:t>VPC</a:t>
            </a:r>
            <a:endParaRPr lang="en-US" sz="1900" dirty="0"/>
          </a:p>
        </p:txBody>
      </p:sp>
      <p:sp>
        <p:nvSpPr>
          <p:cNvPr id="10" name="VPC desc"/>
          <p:cNvSpPr txBox="1"/>
          <p:nvPr/>
        </p:nvSpPr>
        <p:spPr>
          <a:xfrm>
            <a:off x="868680" y="3703320"/>
            <a:ext cx="2844698" cy="91440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10.30.0.0/16, 2 public and 2 private subnets across 2 availability zones, NAT gateway</a:t>
            </a:r>
            <a:endParaRPr lang="en-US" sz="1500" dirty="0"/>
          </a:p>
        </p:txBody>
      </p:sp>
      <p:sp>
        <p:nvSpPr>
          <p:cNvPr id="11" name="EKS cluster card"/>
          <p:cNvSpPr/>
          <p:nvPr/>
        </p:nvSpPr>
        <p:spPr>
          <a:xfrm>
            <a:off x="4353458" y="2606040"/>
            <a:ext cx="3484778" cy="2148840"/>
          </a:xfrm>
          <a:prstGeom prst="roundRect">
            <a:avLst>
              <a:gd name="adj" fmla="val 5106"/>
            </a:avLst>
          </a:prstGeom>
          <a:solidFill>
            <a:srgbClr val="FFFFFF"/>
          </a:solidFill>
          <a:ln w="12700">
            <a:solidFill>
              <a:srgbClr val="D6E3DF"/>
            </a:solidFill>
            <a:prstDash val="solid"/>
          </a:ln>
        </p:spPr>
      </p:sp>
      <p:sp>
        <p:nvSpPr>
          <p:cNvPr id="12" name="EKS cluster dot"/>
          <p:cNvSpPr/>
          <p:nvPr/>
        </p:nvSpPr>
        <p:spPr>
          <a:xfrm>
            <a:off x="4673498" y="2898648"/>
            <a:ext cx="603504" cy="603504"/>
          </a:xfrm>
          <a:prstGeom prst="ellipse">
            <a:avLst/>
          </a:prstGeom>
          <a:solidFill>
            <a:srgbClr val="CCFBF1"/>
          </a:solidFill>
          <a:ln/>
        </p:spPr>
      </p:sp>
      <p:pic>
        <p:nvPicPr>
          <p:cNvPr id="13" name="Image 1" descr="EKS cluster">    </p:cNvPr>
          <p:cNvPicPr>
            <a:picLocks noChangeAspect="1"/>
          </p:cNvPicPr>
          <p:nvPr/>
        </p:nvPicPr>
        <p:blipFill>
          <a:blip r:embed="rId2"/>
          <a:stretch>
            <a:fillRect/>
          </a:stretch>
        </p:blipFill>
        <p:spPr>
          <a:xfrm>
            <a:off x="4818339" y="3043489"/>
            <a:ext cx="313822" cy="313822"/>
          </a:xfrm>
          <a:prstGeom prst="rect">
            <a:avLst/>
          </a:prstGeom>
        </p:spPr>
      </p:pic>
      <p:sp>
        <p:nvSpPr>
          <p:cNvPr id="14" name="EKS cluster title"/>
          <p:cNvSpPr txBox="1"/>
          <p:nvPr/>
        </p:nvSpPr>
        <p:spPr>
          <a:xfrm>
            <a:off x="5450738" y="2898648"/>
            <a:ext cx="2204618" cy="603504"/>
          </a:xfrm>
          <a:prstGeom prst="rect">
            <a:avLst/>
          </a:prstGeom>
          <a:noFill/>
          <a:ln/>
        </p:spPr>
        <p:txBody>
          <a:bodyPr wrap="square" lIns="0" tIns="0" rIns="0" bIns="0" rtlCol="0" anchor="ctr"/>
          <a:lstStyle/>
          <a:p>
            <a:pPr indent="0" marL="0">
              <a:buNone/>
            </a:pPr>
            <a:r>
              <a:rPr lang="en-US" sz="1900" b="1" dirty="0">
                <a:solidFill>
                  <a:schemeClr val="tx1"/>
                </a:solidFill>
                <a:latin typeface="+mn-lt" pitchFamily="34" charset="0"/>
                <a:ea typeface="+mn-lt" pitchFamily="34" charset="-122"/>
                <a:cs typeface="+mn-lt" pitchFamily="34" charset="-120"/>
              </a:rPr>
              <a:t>EKS cluster</a:t>
            </a:r>
            <a:endParaRPr lang="en-US" sz="1900" dirty="0"/>
          </a:p>
        </p:txBody>
      </p:sp>
      <p:sp>
        <p:nvSpPr>
          <p:cNvPr id="15" name="EKS cluster desc"/>
          <p:cNvSpPr txBox="1"/>
          <p:nvPr/>
        </p:nvSpPr>
        <p:spPr>
          <a:xfrm>
            <a:off x="4673498" y="3703320"/>
            <a:ext cx="2844698" cy="91440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Kubernetes 1.34, managed node group, 2 worker nodes in Mumbai (ap-south-1)</a:t>
            </a:r>
            <a:endParaRPr lang="en-US" sz="1500" dirty="0"/>
          </a:p>
        </p:txBody>
      </p:sp>
      <p:sp>
        <p:nvSpPr>
          <p:cNvPr id="16" name="IAM + OIDC card"/>
          <p:cNvSpPr/>
          <p:nvPr/>
        </p:nvSpPr>
        <p:spPr>
          <a:xfrm>
            <a:off x="8158277" y="2606040"/>
            <a:ext cx="3484778" cy="2148840"/>
          </a:xfrm>
          <a:prstGeom prst="roundRect">
            <a:avLst>
              <a:gd name="adj" fmla="val 5106"/>
            </a:avLst>
          </a:prstGeom>
          <a:solidFill>
            <a:srgbClr val="FFFFFF"/>
          </a:solidFill>
          <a:ln w="12700">
            <a:solidFill>
              <a:srgbClr val="D6E3DF"/>
            </a:solidFill>
            <a:prstDash val="solid"/>
          </a:ln>
        </p:spPr>
      </p:sp>
      <p:sp>
        <p:nvSpPr>
          <p:cNvPr id="17" name="IAM + OIDC dot"/>
          <p:cNvSpPr/>
          <p:nvPr/>
        </p:nvSpPr>
        <p:spPr>
          <a:xfrm>
            <a:off x="8478317" y="2898648"/>
            <a:ext cx="603504" cy="603504"/>
          </a:xfrm>
          <a:prstGeom prst="ellipse">
            <a:avLst/>
          </a:prstGeom>
          <a:solidFill>
            <a:srgbClr val="CCFBF1"/>
          </a:solidFill>
          <a:ln/>
        </p:spPr>
      </p:sp>
      <p:pic>
        <p:nvPicPr>
          <p:cNvPr id="18" name="Image 2" descr="IAM + OIDC">    </p:cNvPr>
          <p:cNvPicPr>
            <a:picLocks noChangeAspect="1"/>
          </p:cNvPicPr>
          <p:nvPr/>
        </p:nvPicPr>
        <p:blipFill>
          <a:blip r:embed="rId3"/>
          <a:stretch>
            <a:fillRect/>
          </a:stretch>
        </p:blipFill>
        <p:spPr>
          <a:xfrm>
            <a:off x="8623158" y="3043489"/>
            <a:ext cx="313822" cy="313822"/>
          </a:xfrm>
          <a:prstGeom prst="rect">
            <a:avLst/>
          </a:prstGeom>
        </p:spPr>
      </p:pic>
      <p:sp>
        <p:nvSpPr>
          <p:cNvPr id="19" name="IAM + OIDC title"/>
          <p:cNvSpPr txBox="1"/>
          <p:nvPr/>
        </p:nvSpPr>
        <p:spPr>
          <a:xfrm>
            <a:off x="9255557" y="2898648"/>
            <a:ext cx="2204618" cy="603504"/>
          </a:xfrm>
          <a:prstGeom prst="rect">
            <a:avLst/>
          </a:prstGeom>
          <a:noFill/>
          <a:ln/>
        </p:spPr>
        <p:txBody>
          <a:bodyPr wrap="square" lIns="0" tIns="0" rIns="0" bIns="0" rtlCol="0" anchor="ctr"/>
          <a:lstStyle/>
          <a:p>
            <a:pPr indent="0" marL="0">
              <a:buNone/>
            </a:pPr>
            <a:r>
              <a:rPr lang="en-US" sz="1900" b="1" dirty="0">
                <a:solidFill>
                  <a:schemeClr val="tx1"/>
                </a:solidFill>
                <a:latin typeface="+mn-lt" pitchFamily="34" charset="0"/>
                <a:ea typeface="+mn-lt" pitchFamily="34" charset="-122"/>
                <a:cs typeface="+mn-lt" pitchFamily="34" charset="-120"/>
              </a:rPr>
              <a:t>IAM + OIDC</a:t>
            </a:r>
            <a:endParaRPr lang="en-US" sz="1900" dirty="0"/>
          </a:p>
        </p:txBody>
      </p:sp>
      <p:sp>
        <p:nvSpPr>
          <p:cNvPr id="20" name="IAM + OIDC desc"/>
          <p:cNvSpPr txBox="1"/>
          <p:nvPr/>
        </p:nvSpPr>
        <p:spPr>
          <a:xfrm>
            <a:off x="8478317" y="3703320"/>
            <a:ext cx="2844698" cy="91440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Keyless deploy role: GitHub authenticates to AWS with no stored keys</a:t>
            </a:r>
            <a:endParaRPr lang="en-US" sz="1500" dirty="0"/>
          </a:p>
        </p:txBody>
      </p:sp>
      <p:sp>
        <p:nvSpPr>
          <p:cNvPr id="21" name="cost callout"/>
          <p:cNvSpPr/>
          <p:nvPr/>
        </p:nvSpPr>
        <p:spPr>
          <a:xfrm>
            <a:off x="548640" y="5029200"/>
            <a:ext cx="11094415" cy="868680"/>
          </a:xfrm>
          <a:prstGeom prst="roundRect">
            <a:avLst>
              <a:gd name="adj" fmla="val 12632"/>
            </a:avLst>
          </a:prstGeom>
          <a:solidFill>
            <a:srgbClr val="FFF4E5"/>
          </a:solidFill>
          <a:ln w="12700">
            <a:solidFill>
              <a:srgbClr val="F5C67A"/>
            </a:solidFill>
            <a:prstDash val="solid"/>
          </a:ln>
        </p:spPr>
      </p:sp>
      <p:sp>
        <p:nvSpPr>
          <p:cNvPr id="22" name="cost dot"/>
          <p:cNvSpPr/>
          <p:nvPr/>
        </p:nvSpPr>
        <p:spPr>
          <a:xfrm>
            <a:off x="777240" y="5175504"/>
            <a:ext cx="566928" cy="566928"/>
          </a:xfrm>
          <a:prstGeom prst="ellipse">
            <a:avLst/>
          </a:prstGeom>
          <a:solidFill>
            <a:srgbClr val="FFFFFF"/>
          </a:solidFill>
          <a:ln/>
        </p:spPr>
      </p:sp>
      <p:pic>
        <p:nvPicPr>
          <p:cNvPr id="23" name="Image 3" descr="cost">    </p:cNvPr>
          <p:cNvPicPr>
            <a:picLocks noChangeAspect="1"/>
          </p:cNvPicPr>
          <p:nvPr/>
        </p:nvPicPr>
        <p:blipFill>
          <a:blip r:embed="rId4"/>
          <a:stretch>
            <a:fillRect/>
          </a:stretch>
        </p:blipFill>
        <p:spPr>
          <a:xfrm>
            <a:off x="913303" y="5311567"/>
            <a:ext cx="294803" cy="294803"/>
          </a:xfrm>
          <a:prstGeom prst="rect">
            <a:avLst/>
          </a:prstGeom>
        </p:spPr>
      </p:pic>
      <p:sp>
        <p:nvSpPr>
          <p:cNvPr id="24" name="cost text"/>
          <p:cNvSpPr txBox="1"/>
          <p:nvPr/>
        </p:nvSpPr>
        <p:spPr>
          <a:xfrm>
            <a:off x="1508760" y="5029200"/>
            <a:ext cx="9905695" cy="868680"/>
          </a:xfrm>
          <a:prstGeom prst="rect">
            <a:avLst/>
          </a:prstGeom>
          <a:noFill/>
          <a:ln/>
        </p:spPr>
        <p:txBody>
          <a:bodyPr wrap="square" lIns="0" tIns="0" rIns="0" bIns="0" rtlCol="0" anchor="ctr"/>
          <a:lstStyle/>
          <a:p>
            <a:pPr indent="0" marL="0">
              <a:buNone/>
            </a:pPr>
            <a:r>
              <a:rPr lang="en-US" sz="1600" b="1" dirty="0">
                <a:solidFill>
                  <a:srgbClr val="9A3412"/>
                </a:solidFill>
                <a:latin typeface="+mn-lt" pitchFamily="34" charset="0"/>
                <a:ea typeface="+mn-lt" pitchFamily="34" charset="-122"/>
                <a:cs typeface="+mn-lt" pitchFamily="34" charset="-120"/>
              </a:rPr>
              <a:t>Cost discipline: </a:t>
            </a:r>
            <a:pPr indent="0" marL="0">
              <a:buNone/>
            </a:pPr>
            <a:r>
              <a:rPr lang="en-US" sz="1600" dirty="0">
                <a:solidFill>
                  <a:srgbClr val="9A3412"/>
                </a:solidFill>
                <a:latin typeface="+mn-lt" pitchFamily="34" charset="0"/>
                <a:ea typeface="+mn-lt" pitchFamily="34" charset="-122"/>
                <a:cs typeface="+mn-lt" pitchFamily="34" charset="-120"/>
              </a:rPr>
              <a:t>a real EKS cluster bills by the hour. </a:t>
            </a:r>
            <a:pPr indent="0" marL="0">
              <a:buNone/>
            </a:pPr>
            <a:r>
              <a:rPr lang="en-US" sz="1600" dirty="0">
                <a:solidFill>
                  <a:srgbClr val="9A3412"/>
                </a:solidFill>
                <a:latin typeface="Courier New" pitchFamily="34" charset="0"/>
                <a:ea typeface="Courier New" pitchFamily="34" charset="-122"/>
                <a:cs typeface="Courier New" pitchFamily="34" charset="-120"/>
              </a:rPr>
              <a:t>terraform destroy</a:t>
            </a:r>
            <a:pPr indent="0" marL="0">
              <a:buNone/>
            </a:pPr>
            <a:r>
              <a:rPr lang="en-US" sz="1600" dirty="0">
                <a:solidFill>
                  <a:srgbClr val="9A3412"/>
                </a:solidFill>
                <a:latin typeface="+mn-lt" pitchFamily="34" charset="0"/>
                <a:ea typeface="+mn-lt" pitchFamily="34" charset="-122"/>
                <a:cs typeface="+mn-lt" pitchFamily="34" charset="-120"/>
              </a:rPr>
              <a:t> removed all 65 resources, verified 0 left.</a:t>
            </a:r>
            <a:endParaRPr lang="en-US" sz="16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2"/>
                </a:solidFill>
                <a:latin typeface="+mn-lt" pitchFamily="34" charset="0"/>
                <a:ea typeface="+mn-lt" pitchFamily="34" charset="-122"/>
                <a:cs typeface="+mn-lt" pitchFamily="34" charset="-120"/>
              </a:rPr>
              <a:t>STAGE 08  ·  KUBERNETES</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Running in the cluster</a:t>
            </a:r>
            <a:endParaRPr lang="en-US" sz="3400" dirty="0"/>
          </a:p>
        </p:txBody>
      </p:sp>
      <p:sp>
        <p:nvSpPr>
          <p:cNvPr id="5" name="lead"/>
          <p:cNvSpPr txBox="1"/>
          <p:nvPr/>
        </p:nvSpPr>
        <p:spPr>
          <a:xfrm>
            <a:off x="548640" y="1600200"/>
            <a:ext cx="5394960" cy="868680"/>
          </a:xfrm>
          <a:prstGeom prst="rect">
            <a:avLst/>
          </a:prstGeom>
          <a:noFill/>
          <a:ln/>
        </p:spPr>
        <p:txBody>
          <a:bodyPr wrap="square" lIns="0" tIns="0" rIns="0" bIns="0" rtlCol="0" anchor="t"/>
          <a:lstStyle/>
          <a:p>
            <a:pPr indent="0" marL="0">
              <a:buNone/>
            </a:pPr>
            <a:r>
              <a:rPr lang="en-US" sz="1700" dirty="0">
                <a:solidFill>
                  <a:srgbClr val="A9CFC8"/>
                </a:solidFill>
                <a:latin typeface="+mn-lt" pitchFamily="34" charset="0"/>
                <a:ea typeface="+mn-lt" pitchFamily="34" charset="-122"/>
                <a:cs typeface="+mn-lt" pitchFamily="34" charset="-120"/>
              </a:rPr>
              <a:t>Deployments keep pods alive. Services give them stable networking even as pods come and go.</a:t>
            </a:r>
            <a:endParaRPr lang="en-US" sz="1700" dirty="0"/>
          </a:p>
        </p:txBody>
      </p:sp>
      <p:sp>
        <p:nvSpPr>
          <p:cNvPr id="6" name="k8s facts"/>
          <p:cNvSpPr txBox="1"/>
          <p:nvPr/>
        </p:nvSpPr>
        <p:spPr>
          <a:xfrm>
            <a:off x="548640" y="2606040"/>
            <a:ext cx="5394960" cy="310896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rgbClr val="CFEAE4"/>
                </a:solidFill>
                <a:latin typeface="+mn-lt" pitchFamily="34" charset="0"/>
                <a:ea typeface="+mn-lt" pitchFamily="34" charset="-122"/>
                <a:cs typeface="+mn-lt" pitchFamily="34" charset="-120"/>
              </a:rPr>
              <a:t>Backend and frontend, </a:t>
            </a:r>
            <a:pPr indent="0" marL="0">
              <a:spcAft>
                <a:spcPts val="900"/>
              </a:spcAft>
              <a:buNone/>
            </a:pPr>
            <a:r>
              <a:rPr lang="en-US" sz="1700" b="1" dirty="0">
                <a:solidFill>
                  <a:srgbClr val="CFEAE4"/>
                </a:solidFill>
                <a:latin typeface="+mn-lt" pitchFamily="34" charset="0"/>
                <a:ea typeface="+mn-lt" pitchFamily="34" charset="-122"/>
                <a:cs typeface="+mn-lt" pitchFamily="34" charset="-120"/>
              </a:rPr>
              <a:t>2 replicas each</a:t>
            </a:r>
            <a:pPr indent="0" marL="0">
              <a:spcAft>
                <a:spcPts val="900"/>
              </a:spcAft>
              <a:buNone/>
            </a:pPr>
            <a:r>
              <a:rPr lang="en-US" sz="1700" dirty="0">
                <a:solidFill>
                  <a:srgbClr val="CFEAE4"/>
                </a:solidFill>
                <a:latin typeface="+mn-lt" pitchFamily="34" charset="0"/>
                <a:ea typeface="+mn-lt" pitchFamily="34" charset="-122"/>
                <a:cs typeface="+mn-lt" pitchFamily="34" charset="-120"/>
              </a:rPr>
              <a:t>, spread across nodes</a:t>
            </a:r>
            <a:endParaRPr lang="en-US" sz="1700" dirty="0"/>
          </a:p>
          <a:p>
            <a:pPr marL="228600" indent="-228600">
              <a:spcAft>
                <a:spcPts val="900"/>
              </a:spcAft>
              <a:buSzPct val="100000"/>
              <a:buChar char="•"/>
            </a:pPr>
            <a:r>
              <a:rPr lang="en-US" sz="1700" dirty="0">
                <a:solidFill>
                  <a:srgbClr val="CFEAE4"/>
                </a:solidFill>
                <a:latin typeface="+mn-lt" pitchFamily="34" charset="0"/>
                <a:ea typeface="+mn-lt" pitchFamily="34" charset="-122"/>
                <a:cs typeface="+mn-lt" pitchFamily="34" charset="-120"/>
              </a:rPr>
              <a:t>ClusterIP Services for stable internal routing</a:t>
            </a:r>
            <a:endParaRPr lang="en-US" sz="1700" dirty="0"/>
          </a:p>
          <a:p>
            <a:pPr marL="228600" indent="-228600">
              <a:spcAft>
                <a:spcPts val="900"/>
              </a:spcAft>
              <a:buSzPct val="100000"/>
              <a:buChar char="•"/>
            </a:pPr>
            <a:r>
              <a:rPr lang="en-US" sz="1700" dirty="0">
                <a:solidFill>
                  <a:srgbClr val="CFEAE4"/>
                </a:solidFill>
                <a:latin typeface="+mn-lt" pitchFamily="34" charset="0"/>
                <a:ea typeface="+mn-lt" pitchFamily="34" charset="-122"/>
                <a:cs typeface="+mn-lt" pitchFamily="34" charset="-120"/>
              </a:rPr>
              <a:t>PostgreSQL as a StatefulSet on an EBS volume</a:t>
            </a:r>
            <a:endParaRPr lang="en-US" sz="1700" dirty="0"/>
          </a:p>
          <a:p>
            <a:pPr marL="228600" indent="-228600">
              <a:spcAft>
                <a:spcPts val="900"/>
              </a:spcAft>
              <a:buSzPct val="100000"/>
              <a:buChar char="•"/>
            </a:pPr>
            <a:r>
              <a:rPr lang="en-US" sz="1700" dirty="0">
                <a:solidFill>
                  <a:srgbClr val="CFEAE4"/>
                </a:solidFill>
                <a:latin typeface="+mn-lt" pitchFamily="34" charset="0"/>
                <a:ea typeface="+mn-lt" pitchFamily="34" charset="-122"/>
                <a:cs typeface="+mn-lt" pitchFamily="34" charset="-120"/>
              </a:rPr>
              <a:t>Hardened pods: non-root, read-only filesystem, dropped capabilities</a:t>
            </a:r>
            <a:endParaRPr lang="en-US" sz="1700" dirty="0"/>
          </a:p>
        </p:txBody>
      </p:sp>
      <p:sp>
        <p:nvSpPr>
          <p:cNvPr id="7" name="kubectl get pods"/>
          <p:cNvSpPr/>
          <p:nvPr/>
        </p:nvSpPr>
        <p:spPr>
          <a:xfrm>
            <a:off x="6400800" y="1600200"/>
            <a:ext cx="5242255" cy="3291840"/>
          </a:xfrm>
          <a:prstGeom prst="roundRect">
            <a:avLst>
              <a:gd name="adj" fmla="val 3333"/>
            </a:avLst>
          </a:prstGeom>
          <a:solidFill>
            <a:srgbClr val="0E1418"/>
          </a:solidFill>
          <a:ln/>
        </p:spPr>
      </p:sp>
      <p:sp>
        <p:nvSpPr>
          <p:cNvPr id="8" name="kubectl get pods text"/>
          <p:cNvSpPr txBox="1"/>
          <p:nvPr/>
        </p:nvSpPr>
        <p:spPr>
          <a:xfrm>
            <a:off x="6675120" y="1828800"/>
            <a:ext cx="4693615" cy="2834640"/>
          </a:xfrm>
          <a:prstGeom prst="rect">
            <a:avLst/>
          </a:prstGeom>
          <a:noFill/>
          <a:ln/>
        </p:spPr>
        <p:txBody>
          <a:bodyPr wrap="square" lIns="0" tIns="0" rIns="0" bIns="0" rtlCol="0" anchor="t"/>
          <a:lstStyle/>
          <a:p>
            <a:pPr indent="0" marL="0">
              <a:spcAft>
                <a:spcPts val="500"/>
              </a:spcAft>
              <a:buNone/>
            </a:pPr>
            <a:r>
              <a:rPr lang="en-US" sz="1300" dirty="0">
                <a:solidFill>
                  <a:srgbClr val="7C8B93"/>
                </a:solidFill>
                <a:latin typeface="Courier New" pitchFamily="34" charset="0"/>
                <a:ea typeface="Courier New" pitchFamily="34" charset="-122"/>
                <a:cs typeface="Courier New" pitchFamily="34" charset="-120"/>
              </a:rPr>
              <a:t>$ kubectl get pods -n clinicflow</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clinicflow-backend-...mwtzl   </a:t>
            </a:r>
            <a:pPr indent="0" marL="0">
              <a:spcAft>
                <a:spcPts val="500"/>
              </a:spcAft>
              <a:buNone/>
            </a:pPr>
            <a:r>
              <a:rPr lang="en-US" sz="1300" dirty="0">
                <a:solidFill>
                  <a:srgbClr val="2DD4BF"/>
                </a:solidFill>
                <a:latin typeface="Courier New" pitchFamily="34" charset="0"/>
                <a:ea typeface="Courier New" pitchFamily="34" charset="-122"/>
                <a:cs typeface="Courier New" pitchFamily="34" charset="-120"/>
              </a:rPr>
              <a:t>Running</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clinicflow-backend-...ss26r   </a:t>
            </a:r>
            <a:pPr indent="0" marL="0">
              <a:spcAft>
                <a:spcPts val="500"/>
              </a:spcAft>
              <a:buNone/>
            </a:pPr>
            <a:r>
              <a:rPr lang="en-US" sz="1300" dirty="0">
                <a:solidFill>
                  <a:srgbClr val="2DD4BF"/>
                </a:solidFill>
                <a:latin typeface="Courier New" pitchFamily="34" charset="0"/>
                <a:ea typeface="Courier New" pitchFamily="34" charset="-122"/>
                <a:cs typeface="Courier New" pitchFamily="34" charset="-120"/>
              </a:rPr>
              <a:t>Running</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clinicflow-frontend-...hrxfl  </a:t>
            </a:r>
            <a:pPr indent="0" marL="0">
              <a:spcAft>
                <a:spcPts val="500"/>
              </a:spcAft>
              <a:buNone/>
            </a:pPr>
            <a:r>
              <a:rPr lang="en-US" sz="1300" dirty="0">
                <a:solidFill>
                  <a:srgbClr val="2DD4BF"/>
                </a:solidFill>
                <a:latin typeface="Courier New" pitchFamily="34" charset="0"/>
                <a:ea typeface="Courier New" pitchFamily="34" charset="-122"/>
                <a:cs typeface="Courier New" pitchFamily="34" charset="-120"/>
              </a:rPr>
              <a:t>Running</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clinicflow-frontend-...rnvf7  </a:t>
            </a:r>
            <a:pPr indent="0" marL="0">
              <a:spcAft>
                <a:spcPts val="500"/>
              </a:spcAft>
              <a:buNone/>
            </a:pPr>
            <a:r>
              <a:rPr lang="en-US" sz="1300" dirty="0">
                <a:solidFill>
                  <a:srgbClr val="2DD4BF"/>
                </a:solidFill>
                <a:latin typeface="Courier New" pitchFamily="34" charset="0"/>
                <a:ea typeface="Courier New" pitchFamily="34" charset="-122"/>
                <a:cs typeface="Courier New" pitchFamily="34" charset="-120"/>
              </a:rPr>
              <a:t>Running</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clinicflow-postgres-0         </a:t>
            </a:r>
            <a:pPr indent="0" marL="0">
              <a:spcAft>
                <a:spcPts val="500"/>
              </a:spcAft>
              <a:buNone/>
            </a:pPr>
            <a:r>
              <a:rPr lang="en-US" sz="1300" dirty="0">
                <a:solidFill>
                  <a:srgbClr val="2DD4BF"/>
                </a:solidFill>
                <a:latin typeface="Courier New" pitchFamily="34" charset="0"/>
                <a:ea typeface="Courier New" pitchFamily="34" charset="-122"/>
                <a:cs typeface="Courier New" pitchFamily="34" charset="-120"/>
              </a:rPr>
              <a:t>Running</a:t>
            </a:r>
            <a:endParaRPr lang="en-US" sz="1300" dirty="0"/>
          </a:p>
          <a:p>
            <a:pPr indent="0" marL="0">
              <a:spcAft>
                <a:spcPts val="500"/>
              </a:spcAft>
              <a:buNone/>
            </a:pPr>
            <a:r>
              <a:rPr lang="en-US" sz="1300" dirty="0">
                <a:solidFill>
                  <a:srgbClr val="E9F1EF"/>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7C8B93"/>
                </a:solidFill>
                <a:latin typeface="Courier New" pitchFamily="34" charset="0"/>
                <a:ea typeface="Courier New" pitchFamily="34" charset="-122"/>
                <a:cs typeface="Courier New" pitchFamily="34" charset="-120"/>
              </a:rPr>
              <a:t>across 2 nodes, all 1/1 Ready</a:t>
            </a:r>
            <a:endParaRPr lang="en-US" sz="13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09  ·  HELM</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Packaged deployment</a:t>
            </a:r>
            <a:endParaRPr lang="en-US" sz="3400" dirty="0"/>
          </a:p>
        </p:txBody>
      </p:sp>
      <p:sp>
        <p:nvSpPr>
          <p:cNvPr id="5" name="lead"/>
          <p:cNvSpPr txBox="1"/>
          <p:nvPr/>
        </p:nvSpPr>
        <p:spPr>
          <a:xfrm>
            <a:off x="548640" y="1600200"/>
            <a:ext cx="5212080" cy="118872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Instead of editing dozens of YAML files by hand, Helm turns the whole deployment into one reusable, versioned package.</a:t>
            </a:r>
            <a:endParaRPr lang="en-US" sz="1700" dirty="0"/>
          </a:p>
        </p:txBody>
      </p:sp>
      <p:sp>
        <p:nvSpPr>
          <p:cNvPr id="6" name="helm Chart"/>
          <p:cNvSpPr/>
          <p:nvPr/>
        </p:nvSpPr>
        <p:spPr>
          <a:xfrm>
            <a:off x="548640" y="3017520"/>
            <a:ext cx="902970" cy="384048"/>
          </a:xfrm>
          <a:prstGeom prst="roundRect">
            <a:avLst>
              <a:gd name="adj" fmla="val 50000"/>
            </a:avLst>
          </a:prstGeom>
          <a:solidFill>
            <a:srgbClr val="E6F6F3"/>
          </a:solidFill>
          <a:ln/>
        </p:spPr>
      </p:sp>
      <p:sp>
        <p:nvSpPr>
          <p:cNvPr id="7" name="helm Chart label"/>
          <p:cNvSpPr txBox="1"/>
          <p:nvPr/>
        </p:nvSpPr>
        <p:spPr>
          <a:xfrm>
            <a:off x="548640" y="3017520"/>
            <a:ext cx="902970"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Chart</a:t>
            </a:r>
            <a:endParaRPr lang="en-US" sz="1300" dirty="0"/>
          </a:p>
        </p:txBody>
      </p:sp>
      <p:sp>
        <p:nvSpPr>
          <p:cNvPr id="8" name="helm values"/>
          <p:cNvSpPr/>
          <p:nvPr/>
        </p:nvSpPr>
        <p:spPr>
          <a:xfrm>
            <a:off x="1634490" y="3017520"/>
            <a:ext cx="992124" cy="384048"/>
          </a:xfrm>
          <a:prstGeom prst="roundRect">
            <a:avLst>
              <a:gd name="adj" fmla="val 50000"/>
            </a:avLst>
          </a:prstGeom>
          <a:solidFill>
            <a:srgbClr val="E6F6F3"/>
          </a:solidFill>
          <a:ln/>
        </p:spPr>
      </p:sp>
      <p:sp>
        <p:nvSpPr>
          <p:cNvPr id="9" name="helm values label"/>
          <p:cNvSpPr txBox="1"/>
          <p:nvPr/>
        </p:nvSpPr>
        <p:spPr>
          <a:xfrm>
            <a:off x="1634490" y="3017520"/>
            <a:ext cx="992124"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values</a:t>
            </a:r>
            <a:endParaRPr lang="en-US" sz="1300" dirty="0"/>
          </a:p>
        </p:txBody>
      </p:sp>
      <p:sp>
        <p:nvSpPr>
          <p:cNvPr id="10" name="helm templates"/>
          <p:cNvSpPr/>
          <p:nvPr/>
        </p:nvSpPr>
        <p:spPr>
          <a:xfrm>
            <a:off x="2809494" y="3017520"/>
            <a:ext cx="1259586" cy="384048"/>
          </a:xfrm>
          <a:prstGeom prst="roundRect">
            <a:avLst>
              <a:gd name="adj" fmla="val 50000"/>
            </a:avLst>
          </a:prstGeom>
          <a:solidFill>
            <a:srgbClr val="E6F6F3"/>
          </a:solidFill>
          <a:ln/>
        </p:spPr>
      </p:sp>
      <p:sp>
        <p:nvSpPr>
          <p:cNvPr id="11" name="helm templates label"/>
          <p:cNvSpPr txBox="1"/>
          <p:nvPr/>
        </p:nvSpPr>
        <p:spPr>
          <a:xfrm>
            <a:off x="2809494" y="3017520"/>
            <a:ext cx="1259586"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templates</a:t>
            </a:r>
            <a:endParaRPr lang="en-US" sz="1300" dirty="0"/>
          </a:p>
        </p:txBody>
      </p:sp>
      <p:sp>
        <p:nvSpPr>
          <p:cNvPr id="12" name="helm release"/>
          <p:cNvSpPr/>
          <p:nvPr/>
        </p:nvSpPr>
        <p:spPr>
          <a:xfrm>
            <a:off x="4251960" y="3017520"/>
            <a:ext cx="1081278" cy="384048"/>
          </a:xfrm>
          <a:prstGeom prst="roundRect">
            <a:avLst>
              <a:gd name="adj" fmla="val 50000"/>
            </a:avLst>
          </a:prstGeom>
          <a:solidFill>
            <a:srgbClr val="E6F6F3"/>
          </a:solidFill>
          <a:ln/>
        </p:spPr>
      </p:sp>
      <p:sp>
        <p:nvSpPr>
          <p:cNvPr id="13" name="helm release label"/>
          <p:cNvSpPr txBox="1"/>
          <p:nvPr/>
        </p:nvSpPr>
        <p:spPr>
          <a:xfrm>
            <a:off x="4251960" y="3017520"/>
            <a:ext cx="1081278"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release</a:t>
            </a:r>
            <a:endParaRPr lang="en-US" sz="1300" dirty="0"/>
          </a:p>
        </p:txBody>
      </p:sp>
      <p:sp>
        <p:nvSpPr>
          <p:cNvPr id="14" name="helm rollback"/>
          <p:cNvSpPr/>
          <p:nvPr/>
        </p:nvSpPr>
        <p:spPr>
          <a:xfrm>
            <a:off x="548640" y="3566160"/>
            <a:ext cx="1170432" cy="384048"/>
          </a:xfrm>
          <a:prstGeom prst="roundRect">
            <a:avLst>
              <a:gd name="adj" fmla="val 50000"/>
            </a:avLst>
          </a:prstGeom>
          <a:solidFill>
            <a:srgbClr val="E6F6F3"/>
          </a:solidFill>
          <a:ln/>
        </p:spPr>
      </p:sp>
      <p:sp>
        <p:nvSpPr>
          <p:cNvPr id="15" name="helm rollback label"/>
          <p:cNvSpPr txBox="1"/>
          <p:nvPr/>
        </p:nvSpPr>
        <p:spPr>
          <a:xfrm>
            <a:off x="548640" y="3566160"/>
            <a:ext cx="1170432" cy="384048"/>
          </a:xfrm>
          <a:prstGeom prst="rect">
            <a:avLst/>
          </a:prstGeom>
          <a:noFill/>
          <a:ln/>
        </p:spPr>
        <p:txBody>
          <a:bodyPr wrap="square" lIns="0" tIns="0" rIns="0" bIns="0" rtlCol="0" anchor="ctr"/>
          <a:lstStyle/>
          <a:p>
            <a:pPr algn="ctr" indent="0" marL="0">
              <a:buNone/>
            </a:pPr>
            <a:r>
              <a:rPr lang="en-US" sz="1300" b="1" dirty="0">
                <a:solidFill>
                  <a:srgbClr val="0F766E"/>
                </a:solidFill>
                <a:latin typeface="+mn-lt" pitchFamily="34" charset="0"/>
                <a:ea typeface="+mn-lt" pitchFamily="34" charset="-122"/>
                <a:cs typeface="+mn-lt" pitchFamily="34" charset="-120"/>
              </a:rPr>
              <a:t>rollback</a:t>
            </a:r>
            <a:endParaRPr lang="en-US" sz="1300" dirty="0"/>
          </a:p>
        </p:txBody>
      </p:sp>
      <p:sp>
        <p:nvSpPr>
          <p:cNvPr id="16" name="env note"/>
          <p:cNvSpPr txBox="1"/>
          <p:nvPr/>
        </p:nvSpPr>
        <p:spPr>
          <a:xfrm>
            <a:off x="548640" y="4206240"/>
            <a:ext cx="5212080" cy="91440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A values-dev.yaml for the local kind cluster and a values-prod.yaml for EKS: one chart, two environments.</a:t>
            </a:r>
            <a:endParaRPr lang="en-US" sz="1500" dirty="0"/>
          </a:p>
        </p:txBody>
      </p:sp>
      <p:sp>
        <p:nvSpPr>
          <p:cNvPr id="17" name="helm install"/>
          <p:cNvSpPr/>
          <p:nvPr/>
        </p:nvSpPr>
        <p:spPr>
          <a:xfrm>
            <a:off x="6172200" y="1600200"/>
            <a:ext cx="5470855" cy="1143000"/>
          </a:xfrm>
          <a:prstGeom prst="roundRect">
            <a:avLst>
              <a:gd name="adj" fmla="val 9600"/>
            </a:avLst>
          </a:prstGeom>
          <a:solidFill>
            <a:srgbClr val="0E1418"/>
          </a:solidFill>
          <a:ln/>
        </p:spPr>
      </p:sp>
      <p:sp>
        <p:nvSpPr>
          <p:cNvPr id="18" name="helm install text"/>
          <p:cNvSpPr txBox="1"/>
          <p:nvPr/>
        </p:nvSpPr>
        <p:spPr>
          <a:xfrm>
            <a:off x="6446520" y="1828800"/>
            <a:ext cx="4922215" cy="685800"/>
          </a:xfrm>
          <a:prstGeom prst="rect">
            <a:avLst/>
          </a:prstGeom>
          <a:noFill/>
          <a:ln/>
        </p:spPr>
        <p:txBody>
          <a:bodyPr wrap="square" lIns="0" tIns="0" rIns="0" bIns="0" rtlCol="0" anchor="t"/>
          <a:lstStyle/>
          <a:p>
            <a:pPr indent="0" marL="0">
              <a:spcAft>
                <a:spcPts val="500"/>
              </a:spcAft>
              <a:buNone/>
            </a:pPr>
            <a:r>
              <a:rPr lang="en-US" sz="1300" dirty="0">
                <a:solidFill>
                  <a:srgbClr val="7C8B93"/>
                </a:solidFill>
                <a:latin typeface="Courier New" pitchFamily="34" charset="0"/>
                <a:ea typeface="Courier New" pitchFamily="34" charset="-122"/>
                <a:cs typeface="Courier New" pitchFamily="34" charset="-120"/>
              </a:rPr>
              <a:t>$ helm upgrade --install clinicflow ...</a:t>
            </a:r>
            <a:endParaRPr lang="en-US" sz="1300" dirty="0"/>
          </a:p>
          <a:p>
            <a:pPr indent="0" marL="0">
              <a:spcAft>
                <a:spcPts val="500"/>
              </a:spcAft>
              <a:buNone/>
            </a:pPr>
            <a:r>
              <a:rPr lang="en-US" sz="1300" dirty="0">
                <a:solidFill>
                  <a:srgbClr val="2DD4BF"/>
                </a:solidFill>
                <a:latin typeface="Courier New" pitchFamily="34" charset="0"/>
                <a:ea typeface="Courier New" pitchFamily="34" charset="-122"/>
                <a:cs typeface="Courier New" pitchFamily="34" charset="-120"/>
              </a:rPr>
              <a:t>Release "clinicflow" deployed  ·  revision 1</a:t>
            </a:r>
            <a:endParaRPr lang="en-US" sz="1300" dirty="0"/>
          </a:p>
        </p:txBody>
      </p:sp>
      <p:sp>
        <p:nvSpPr>
          <p:cNvPr id="19" name="chart card"/>
          <p:cNvSpPr/>
          <p:nvPr/>
        </p:nvSpPr>
        <p:spPr>
          <a:xfrm>
            <a:off x="6172200" y="2926080"/>
            <a:ext cx="5470855" cy="1600200"/>
          </a:xfrm>
          <a:prstGeom prst="roundRect">
            <a:avLst>
              <a:gd name="adj" fmla="val 6857"/>
            </a:avLst>
          </a:prstGeom>
          <a:solidFill>
            <a:srgbClr val="FFFFFF"/>
          </a:solidFill>
          <a:ln w="12700">
            <a:solidFill>
              <a:srgbClr val="D6E3DF"/>
            </a:solidFill>
            <a:prstDash val="solid"/>
          </a:ln>
        </p:spPr>
      </p:sp>
      <p:sp>
        <p:nvSpPr>
          <p:cNvPr id="20" name="chart dot"/>
          <p:cNvSpPr/>
          <p:nvPr/>
        </p:nvSpPr>
        <p:spPr>
          <a:xfrm>
            <a:off x="6446520" y="3154680"/>
            <a:ext cx="566928" cy="566928"/>
          </a:xfrm>
          <a:prstGeom prst="ellipse">
            <a:avLst/>
          </a:prstGeom>
          <a:solidFill>
            <a:srgbClr val="CCFBF1"/>
          </a:solidFill>
          <a:ln/>
        </p:spPr>
      </p:sp>
      <p:pic>
        <p:nvPicPr>
          <p:cNvPr id="21" name="Image 0" descr="chart">    </p:cNvPr>
          <p:cNvPicPr>
            <a:picLocks noChangeAspect="1"/>
          </p:cNvPicPr>
          <p:nvPr/>
        </p:nvPicPr>
        <p:blipFill>
          <a:blip r:embed="rId1"/>
          <a:stretch>
            <a:fillRect/>
          </a:stretch>
        </p:blipFill>
        <p:spPr>
          <a:xfrm>
            <a:off x="6582583" y="3290743"/>
            <a:ext cx="294803" cy="294803"/>
          </a:xfrm>
          <a:prstGeom prst="rect">
            <a:avLst/>
          </a:prstGeom>
        </p:spPr>
      </p:pic>
      <p:sp>
        <p:nvSpPr>
          <p:cNvPr id="22" name="chart title"/>
          <p:cNvSpPr txBox="1"/>
          <p:nvPr/>
        </p:nvSpPr>
        <p:spPr>
          <a:xfrm>
            <a:off x="7178040" y="3154680"/>
            <a:ext cx="4389120" cy="566928"/>
          </a:xfrm>
          <a:prstGeom prst="rect">
            <a:avLst/>
          </a:prstGeom>
          <a:noFill/>
          <a:ln/>
        </p:spPr>
        <p:txBody>
          <a:bodyPr wrap="square" lIns="0" tIns="0" rIns="0" bIns="0" rtlCol="0" anchor="ctr"/>
          <a:lstStyle/>
          <a:p>
            <a:pPr indent="0" marL="0">
              <a:buNone/>
            </a:pPr>
            <a:r>
              <a:rPr lang="en-US" sz="1800" b="1" dirty="0">
                <a:solidFill>
                  <a:schemeClr val="tx1"/>
                </a:solidFill>
                <a:latin typeface="+mn-lt" pitchFamily="34" charset="0"/>
                <a:ea typeface="+mn-lt" pitchFamily="34" charset="-122"/>
                <a:cs typeface="+mn-lt" pitchFamily="34" charset="-120"/>
              </a:rPr>
              <a:t>One chart configures it all</a:t>
            </a:r>
            <a:endParaRPr lang="en-US" sz="1800" dirty="0"/>
          </a:p>
        </p:txBody>
      </p:sp>
      <p:sp>
        <p:nvSpPr>
          <p:cNvPr id="23" name="chart desc"/>
          <p:cNvSpPr txBox="1"/>
          <p:nvPr/>
        </p:nvSpPr>
        <p:spPr>
          <a:xfrm>
            <a:off x="6446520" y="3794760"/>
            <a:ext cx="4922215" cy="64008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Deployments, Services, Ingress, HPA, PodDisruptionBudgets, NetworkPolicy and ServiceMonitor.</a:t>
            </a:r>
            <a:endParaRPr lang="en-US" sz="1500" dirty="0"/>
          </a:p>
        </p:txBody>
      </p:sp>
      <p:sp>
        <p:nvSpPr>
          <p:cNvPr id="24" name="rollback card"/>
          <p:cNvSpPr/>
          <p:nvPr/>
        </p:nvSpPr>
        <p:spPr>
          <a:xfrm>
            <a:off x="6172200" y="4709160"/>
            <a:ext cx="5470855" cy="1005840"/>
          </a:xfrm>
          <a:prstGeom prst="roundRect">
            <a:avLst>
              <a:gd name="adj" fmla="val 10909"/>
            </a:avLst>
          </a:prstGeom>
          <a:solidFill>
            <a:srgbClr val="E7F7F1"/>
          </a:solidFill>
          <a:ln w="12700">
            <a:solidFill>
              <a:srgbClr val="A7E3CF"/>
            </a:solidFill>
            <a:prstDash val="solid"/>
          </a:ln>
        </p:spPr>
      </p:sp>
      <p:sp>
        <p:nvSpPr>
          <p:cNvPr id="25" name="rollback dot"/>
          <p:cNvSpPr/>
          <p:nvPr/>
        </p:nvSpPr>
        <p:spPr>
          <a:xfrm>
            <a:off x="6400800" y="4910328"/>
            <a:ext cx="566928" cy="566928"/>
          </a:xfrm>
          <a:prstGeom prst="ellipse">
            <a:avLst/>
          </a:prstGeom>
          <a:solidFill>
            <a:srgbClr val="FFFFFF"/>
          </a:solidFill>
          <a:ln/>
        </p:spPr>
      </p:sp>
      <p:pic>
        <p:nvPicPr>
          <p:cNvPr id="26" name="Image 1" descr="rollback">    </p:cNvPr>
          <p:cNvPicPr>
            <a:picLocks noChangeAspect="1"/>
          </p:cNvPicPr>
          <p:nvPr/>
        </p:nvPicPr>
        <p:blipFill>
          <a:blip r:embed="rId2"/>
          <a:stretch>
            <a:fillRect/>
          </a:stretch>
        </p:blipFill>
        <p:spPr>
          <a:xfrm>
            <a:off x="6536863" y="5046391"/>
            <a:ext cx="294803" cy="294803"/>
          </a:xfrm>
          <a:prstGeom prst="rect">
            <a:avLst/>
          </a:prstGeom>
        </p:spPr>
      </p:pic>
      <p:sp>
        <p:nvSpPr>
          <p:cNvPr id="27" name="rollback text"/>
          <p:cNvSpPr txBox="1"/>
          <p:nvPr/>
        </p:nvSpPr>
        <p:spPr>
          <a:xfrm>
            <a:off x="7132320" y="4709160"/>
            <a:ext cx="4327855" cy="1005840"/>
          </a:xfrm>
          <a:prstGeom prst="rect">
            <a:avLst/>
          </a:prstGeom>
          <a:noFill/>
          <a:ln/>
        </p:spPr>
        <p:txBody>
          <a:bodyPr wrap="square" lIns="0" tIns="0" rIns="0" bIns="0" rtlCol="0" anchor="ctr"/>
          <a:lstStyle/>
          <a:p>
            <a:pPr indent="0" marL="0">
              <a:buNone/>
            </a:pPr>
            <a:r>
              <a:rPr lang="en-US" sz="1500" dirty="0">
                <a:solidFill>
                  <a:srgbClr val="065F46"/>
                </a:solidFill>
                <a:latin typeface="+mn-lt" pitchFamily="34" charset="0"/>
                <a:ea typeface="+mn-lt" pitchFamily="34" charset="-122"/>
                <a:cs typeface="+mn-lt" pitchFamily="34" charset="-120"/>
              </a:rPr>
              <a:t>A failed upgrade rolls itself back, so production stays on the last good release.</a:t>
            </a:r>
            <a:endParaRPr lang="en-US" sz="15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10  ·  INGRESS</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One door, two routes</a:t>
            </a:r>
            <a:endParaRPr lang="en-US" sz="3400" dirty="0"/>
          </a:p>
        </p:txBody>
      </p:sp>
      <p:sp>
        <p:nvSpPr>
          <p:cNvPr id="5" name="lead"/>
          <p:cNvSpPr txBox="1"/>
          <p:nvPr/>
        </p:nvSpPr>
        <p:spPr>
          <a:xfrm>
            <a:off x="548640" y="1600200"/>
            <a:ext cx="5212080" cy="118872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The Ingress routes external traffic by path, so the browser never needs to know the internal service names.</a:t>
            </a:r>
            <a:endParaRPr lang="en-US" sz="1700" dirty="0"/>
          </a:p>
        </p:txBody>
      </p:sp>
      <p:sp>
        <p:nvSpPr>
          <p:cNvPr id="6" name="distinction"/>
          <p:cNvSpPr/>
          <p:nvPr/>
        </p:nvSpPr>
        <p:spPr>
          <a:xfrm>
            <a:off x="548640" y="3017520"/>
            <a:ext cx="5212080" cy="1737360"/>
          </a:xfrm>
          <a:prstGeom prst="roundRect">
            <a:avLst>
              <a:gd name="adj" fmla="val 6316"/>
            </a:avLst>
          </a:prstGeom>
          <a:solidFill>
            <a:srgbClr val="FFF4E5"/>
          </a:solidFill>
          <a:ln w="12700">
            <a:solidFill>
              <a:srgbClr val="F5C67A"/>
            </a:solidFill>
            <a:prstDash val="solid"/>
          </a:ln>
        </p:spPr>
      </p:sp>
      <p:sp>
        <p:nvSpPr>
          <p:cNvPr id="7" name="distinction dot"/>
          <p:cNvSpPr/>
          <p:nvPr/>
        </p:nvSpPr>
        <p:spPr>
          <a:xfrm>
            <a:off x="822960" y="3291840"/>
            <a:ext cx="548640" cy="548640"/>
          </a:xfrm>
          <a:prstGeom prst="ellipse">
            <a:avLst/>
          </a:prstGeom>
          <a:solidFill>
            <a:srgbClr val="FFFFFF"/>
          </a:solidFill>
          <a:ln/>
        </p:spPr>
      </p:sp>
      <p:pic>
        <p:nvPicPr>
          <p:cNvPr id="8" name="Image 0" descr="distinction">    </p:cNvPr>
          <p:cNvPicPr>
            <a:picLocks noChangeAspect="1"/>
          </p:cNvPicPr>
          <p:nvPr/>
        </p:nvPicPr>
        <p:blipFill>
          <a:blip r:embed="rId1"/>
          <a:stretch>
            <a:fillRect/>
          </a:stretch>
        </p:blipFill>
        <p:spPr>
          <a:xfrm>
            <a:off x="954634" y="3423514"/>
            <a:ext cx="285293" cy="285293"/>
          </a:xfrm>
          <a:prstGeom prst="rect">
            <a:avLst/>
          </a:prstGeom>
        </p:spPr>
      </p:pic>
      <p:sp>
        <p:nvSpPr>
          <p:cNvPr id="9" name="distinction title"/>
          <p:cNvSpPr txBox="1"/>
          <p:nvPr/>
        </p:nvSpPr>
        <p:spPr>
          <a:xfrm>
            <a:off x="1554480" y="3291840"/>
            <a:ext cx="3931920" cy="548640"/>
          </a:xfrm>
          <a:prstGeom prst="rect">
            <a:avLst/>
          </a:prstGeom>
          <a:noFill/>
          <a:ln/>
        </p:spPr>
        <p:txBody>
          <a:bodyPr wrap="square" lIns="0" tIns="0" rIns="0" bIns="0" rtlCol="0" anchor="ctr"/>
          <a:lstStyle/>
          <a:p>
            <a:pPr indent="0" marL="0">
              <a:buNone/>
            </a:pPr>
            <a:r>
              <a:rPr lang="en-US" sz="1800" b="1" dirty="0">
                <a:solidFill>
                  <a:srgbClr val="9A3412"/>
                </a:solidFill>
                <a:latin typeface="+mn-lt" pitchFamily="34" charset="0"/>
                <a:ea typeface="+mn-lt" pitchFamily="34" charset="-122"/>
                <a:cs typeface="+mn-lt" pitchFamily="34" charset="-120"/>
              </a:rPr>
              <a:t>A key distinction</a:t>
            </a:r>
            <a:endParaRPr lang="en-US" sz="1800" dirty="0"/>
          </a:p>
        </p:txBody>
      </p:sp>
      <p:sp>
        <p:nvSpPr>
          <p:cNvPr id="10" name="distinction desc"/>
          <p:cNvSpPr txBox="1"/>
          <p:nvPr/>
        </p:nvSpPr>
        <p:spPr>
          <a:xfrm>
            <a:off x="822960" y="3931920"/>
            <a:ext cx="4663440" cy="731520"/>
          </a:xfrm>
          <a:prstGeom prst="rect">
            <a:avLst/>
          </a:prstGeom>
          <a:noFill/>
          <a:ln/>
        </p:spPr>
        <p:txBody>
          <a:bodyPr wrap="square" lIns="0" tIns="0" rIns="0" bIns="0" rtlCol="0" anchor="t"/>
          <a:lstStyle/>
          <a:p>
            <a:pPr indent="0" marL="0">
              <a:buNone/>
            </a:pPr>
            <a:r>
              <a:rPr lang="en-US" sz="1500" dirty="0">
                <a:solidFill>
                  <a:srgbClr val="7C2D12"/>
                </a:solidFill>
                <a:latin typeface="+mn-lt" pitchFamily="34" charset="0"/>
                <a:ea typeface="+mn-lt" pitchFamily="34" charset="-122"/>
                <a:cs typeface="+mn-lt" pitchFamily="34" charset="-120"/>
              </a:rPr>
              <a:t>An Ingress is only configuration. An Ingress Controller (Traefik) actually implements it.</a:t>
            </a:r>
            <a:endParaRPr lang="en-US" sz="1500" dirty="0"/>
          </a:p>
        </p:txBody>
      </p:sp>
      <p:sp>
        <p:nvSpPr>
          <p:cNvPr id="11" name="route /"/>
          <p:cNvSpPr/>
          <p:nvPr/>
        </p:nvSpPr>
        <p:spPr>
          <a:xfrm>
            <a:off x="6172200" y="1600200"/>
            <a:ext cx="5470855" cy="868680"/>
          </a:xfrm>
          <a:prstGeom prst="roundRect">
            <a:avLst>
              <a:gd name="adj" fmla="val 12632"/>
            </a:avLst>
          </a:prstGeom>
          <a:solidFill>
            <a:srgbClr val="0B1F2A"/>
          </a:solidFill>
          <a:ln/>
        </p:spPr>
      </p:sp>
      <p:sp>
        <p:nvSpPr>
          <p:cNvPr id="12" name="route path 0"/>
          <p:cNvSpPr txBox="1"/>
          <p:nvPr/>
        </p:nvSpPr>
        <p:spPr>
          <a:xfrm>
            <a:off x="6492240" y="1600200"/>
            <a:ext cx="1280160" cy="868680"/>
          </a:xfrm>
          <a:prstGeom prst="rect">
            <a:avLst/>
          </a:prstGeom>
          <a:noFill/>
          <a:ln/>
        </p:spPr>
        <p:txBody>
          <a:bodyPr wrap="square" lIns="0" tIns="0" rIns="0" bIns="0" rtlCol="0" anchor="ctr"/>
          <a:lstStyle/>
          <a:p>
            <a:pPr indent="0" marL="0">
              <a:buNone/>
            </a:pPr>
            <a:r>
              <a:rPr lang="en-US" sz="2000" b="1" dirty="0">
                <a:solidFill>
                  <a:schemeClr val="accent2"/>
                </a:solidFill>
                <a:latin typeface="Courier New" pitchFamily="34" charset="0"/>
                <a:ea typeface="Courier New" pitchFamily="34" charset="-122"/>
                <a:cs typeface="Courier New" pitchFamily="34" charset="-120"/>
              </a:rPr>
              <a:t>/</a:t>
            </a:r>
            <a:endParaRPr lang="en-US" sz="2000" dirty="0"/>
          </a:p>
        </p:txBody>
      </p:sp>
      <p:sp>
        <p:nvSpPr>
          <p:cNvPr id="13" name="route arrow 0"/>
          <p:cNvSpPr/>
          <p:nvPr/>
        </p:nvSpPr>
        <p:spPr>
          <a:xfrm>
            <a:off x="7863840" y="1929384"/>
            <a:ext cx="457200" cy="219456"/>
          </a:xfrm>
          <a:prstGeom prst="rightArrow">
            <a:avLst/>
          </a:prstGeom>
          <a:solidFill>
            <a:srgbClr val="2DD4BF"/>
          </a:solidFill>
          <a:ln/>
        </p:spPr>
      </p:sp>
      <p:sp>
        <p:nvSpPr>
          <p:cNvPr id="14" name="route target 0"/>
          <p:cNvSpPr txBox="1"/>
          <p:nvPr/>
        </p:nvSpPr>
        <p:spPr>
          <a:xfrm>
            <a:off x="8549640" y="1600200"/>
            <a:ext cx="2910535" cy="868680"/>
          </a:xfrm>
          <a:prstGeom prst="rect">
            <a:avLst/>
          </a:prstGeom>
          <a:noFill/>
          <a:ln/>
        </p:spPr>
        <p:txBody>
          <a:bodyPr wrap="square" lIns="0" tIns="0" rIns="0" bIns="0" rtlCol="0" anchor="ctr"/>
          <a:lstStyle/>
          <a:p>
            <a:pPr indent="0" marL="0">
              <a:buNone/>
            </a:pPr>
            <a:r>
              <a:rPr lang="en-US" sz="1900" dirty="0">
                <a:solidFill>
                  <a:schemeClr val="bg1"/>
                </a:solidFill>
                <a:latin typeface="+mn-lt" pitchFamily="34" charset="0"/>
                <a:ea typeface="+mn-lt" pitchFamily="34" charset="-122"/>
                <a:cs typeface="+mn-lt" pitchFamily="34" charset="-120"/>
              </a:rPr>
              <a:t>React frontend</a:t>
            </a:r>
            <a:endParaRPr lang="en-US" sz="1900" dirty="0"/>
          </a:p>
        </p:txBody>
      </p:sp>
      <p:sp>
        <p:nvSpPr>
          <p:cNvPr id="15" name="route /api"/>
          <p:cNvSpPr/>
          <p:nvPr/>
        </p:nvSpPr>
        <p:spPr>
          <a:xfrm>
            <a:off x="6172200" y="2697480"/>
            <a:ext cx="5470855" cy="868680"/>
          </a:xfrm>
          <a:prstGeom prst="roundRect">
            <a:avLst>
              <a:gd name="adj" fmla="val 12632"/>
            </a:avLst>
          </a:prstGeom>
          <a:solidFill>
            <a:srgbClr val="0B1F2A"/>
          </a:solidFill>
          <a:ln/>
        </p:spPr>
      </p:sp>
      <p:sp>
        <p:nvSpPr>
          <p:cNvPr id="16" name="route path 1"/>
          <p:cNvSpPr txBox="1"/>
          <p:nvPr/>
        </p:nvSpPr>
        <p:spPr>
          <a:xfrm>
            <a:off x="6492240" y="2697480"/>
            <a:ext cx="1280160" cy="868680"/>
          </a:xfrm>
          <a:prstGeom prst="rect">
            <a:avLst/>
          </a:prstGeom>
          <a:noFill/>
          <a:ln/>
        </p:spPr>
        <p:txBody>
          <a:bodyPr wrap="square" lIns="0" tIns="0" rIns="0" bIns="0" rtlCol="0" anchor="ctr"/>
          <a:lstStyle/>
          <a:p>
            <a:pPr indent="0" marL="0">
              <a:buNone/>
            </a:pPr>
            <a:r>
              <a:rPr lang="en-US" sz="2000" b="1" dirty="0">
                <a:solidFill>
                  <a:schemeClr val="accent2"/>
                </a:solidFill>
                <a:latin typeface="Courier New" pitchFamily="34" charset="0"/>
                <a:ea typeface="Courier New" pitchFamily="34" charset="-122"/>
                <a:cs typeface="Courier New" pitchFamily="34" charset="-120"/>
              </a:rPr>
              <a:t>/api</a:t>
            </a:r>
            <a:endParaRPr lang="en-US" sz="2000" dirty="0"/>
          </a:p>
        </p:txBody>
      </p:sp>
      <p:sp>
        <p:nvSpPr>
          <p:cNvPr id="17" name="route arrow 1"/>
          <p:cNvSpPr/>
          <p:nvPr/>
        </p:nvSpPr>
        <p:spPr>
          <a:xfrm>
            <a:off x="7863840" y="3026664"/>
            <a:ext cx="457200" cy="219456"/>
          </a:xfrm>
          <a:prstGeom prst="rightArrow">
            <a:avLst/>
          </a:prstGeom>
          <a:solidFill>
            <a:srgbClr val="2DD4BF"/>
          </a:solidFill>
          <a:ln/>
        </p:spPr>
      </p:sp>
      <p:sp>
        <p:nvSpPr>
          <p:cNvPr id="18" name="route target 1"/>
          <p:cNvSpPr txBox="1"/>
          <p:nvPr/>
        </p:nvSpPr>
        <p:spPr>
          <a:xfrm>
            <a:off x="8549640" y="2697480"/>
            <a:ext cx="2910535" cy="868680"/>
          </a:xfrm>
          <a:prstGeom prst="rect">
            <a:avLst/>
          </a:prstGeom>
          <a:noFill/>
          <a:ln/>
        </p:spPr>
        <p:txBody>
          <a:bodyPr wrap="square" lIns="0" tIns="0" rIns="0" bIns="0" rtlCol="0" anchor="ctr"/>
          <a:lstStyle/>
          <a:p>
            <a:pPr indent="0" marL="0">
              <a:buNone/>
            </a:pPr>
            <a:r>
              <a:rPr lang="en-US" sz="1900" dirty="0">
                <a:solidFill>
                  <a:schemeClr val="bg1"/>
                </a:solidFill>
                <a:latin typeface="+mn-lt" pitchFamily="34" charset="0"/>
                <a:ea typeface="+mn-lt" pitchFamily="34" charset="-122"/>
                <a:cs typeface="+mn-lt" pitchFamily="34" charset="-120"/>
              </a:rPr>
              <a:t>FastAPI backend</a:t>
            </a:r>
            <a:endParaRPr lang="en-US" sz="1900" dirty="0"/>
          </a:p>
        </p:txBody>
      </p:sp>
      <p:sp>
        <p:nvSpPr>
          <p:cNvPr id="19" name="traefik note"/>
          <p:cNvSpPr/>
          <p:nvPr/>
        </p:nvSpPr>
        <p:spPr>
          <a:xfrm>
            <a:off x="6172200" y="3931920"/>
            <a:ext cx="5470855" cy="1371600"/>
          </a:xfrm>
          <a:prstGeom prst="roundRect">
            <a:avLst>
              <a:gd name="adj" fmla="val 8000"/>
            </a:avLst>
          </a:prstGeom>
          <a:solidFill>
            <a:srgbClr val="EEF0FF"/>
          </a:solidFill>
          <a:ln w="12700">
            <a:solidFill>
              <a:srgbClr val="C7CBF5"/>
            </a:solidFill>
            <a:prstDash val="solid"/>
          </a:ln>
        </p:spPr>
      </p:sp>
      <p:sp>
        <p:nvSpPr>
          <p:cNvPr id="20" name="traefik dot"/>
          <p:cNvSpPr/>
          <p:nvPr/>
        </p:nvSpPr>
        <p:spPr>
          <a:xfrm>
            <a:off x="6400800" y="4160520"/>
            <a:ext cx="548640" cy="548640"/>
          </a:xfrm>
          <a:prstGeom prst="ellipse">
            <a:avLst/>
          </a:prstGeom>
          <a:solidFill>
            <a:srgbClr val="FFFFFF"/>
          </a:solidFill>
          <a:ln/>
        </p:spPr>
      </p:sp>
      <p:pic>
        <p:nvPicPr>
          <p:cNvPr id="21" name="Image 1" descr="traefik">    </p:cNvPr>
          <p:cNvPicPr>
            <a:picLocks noChangeAspect="1"/>
          </p:cNvPicPr>
          <p:nvPr/>
        </p:nvPicPr>
        <p:blipFill>
          <a:blip r:embed="rId2"/>
          <a:stretch>
            <a:fillRect/>
          </a:stretch>
        </p:blipFill>
        <p:spPr>
          <a:xfrm>
            <a:off x="6532474" y="4292194"/>
            <a:ext cx="285293" cy="285293"/>
          </a:xfrm>
          <a:prstGeom prst="rect">
            <a:avLst/>
          </a:prstGeom>
        </p:spPr>
      </p:pic>
      <p:sp>
        <p:nvSpPr>
          <p:cNvPr id="22" name="traefik text"/>
          <p:cNvSpPr txBox="1"/>
          <p:nvPr/>
        </p:nvSpPr>
        <p:spPr>
          <a:xfrm>
            <a:off x="7132320" y="3931920"/>
            <a:ext cx="4327855" cy="1371600"/>
          </a:xfrm>
          <a:prstGeom prst="rect">
            <a:avLst/>
          </a:prstGeom>
          <a:noFill/>
          <a:ln/>
        </p:spPr>
        <p:txBody>
          <a:bodyPr wrap="square" lIns="0" tIns="0" rIns="0" bIns="0" rtlCol="0" anchor="ctr"/>
          <a:lstStyle/>
          <a:p>
            <a:pPr indent="0" marL="0">
              <a:buNone/>
            </a:pPr>
            <a:r>
              <a:rPr lang="en-US" sz="1500" b="1" dirty="0">
                <a:solidFill>
                  <a:srgbClr val="312E81"/>
                </a:solidFill>
                <a:latin typeface="+mn-lt" pitchFamily="34" charset="0"/>
                <a:ea typeface="+mn-lt" pitchFamily="34" charset="-122"/>
                <a:cs typeface="+mn-lt" pitchFamily="34" charset="-120"/>
              </a:rPr>
              <a:t>Note: </a:t>
            </a:r>
            <a:pPr indent="0" marL="0">
              <a:buNone/>
            </a:pPr>
            <a:r>
              <a:rPr lang="en-US" sz="1500" dirty="0">
                <a:solidFill>
                  <a:srgbClr val="312E81"/>
                </a:solidFill>
                <a:latin typeface="+mn-lt" pitchFamily="34" charset="0"/>
                <a:ea typeface="+mn-lt" pitchFamily="34" charset="-122"/>
                <a:cs typeface="+mn-lt" pitchFamily="34" charset="-120"/>
              </a:rPr>
              <a:t>I used Traefik, not ingress-nginx, because the ingress-nginx project was retired in March 2026. Same standard Ingress API.</a:t>
            </a:r>
            <a:endParaRPr lang="en-US" sz="15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2"/>
                </a:solidFill>
                <a:latin typeface="+mn-lt" pitchFamily="34" charset="0"/>
                <a:ea typeface="+mn-lt" pitchFamily="34" charset="-122"/>
                <a:cs typeface="+mn-lt" pitchFamily="34" charset="-120"/>
              </a:rPr>
              <a:t>STAGE 11  ·  AUTOSCALING</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The HPA scales under load</a:t>
            </a:r>
            <a:endParaRPr lang="en-US" sz="3400" dirty="0"/>
          </a:p>
        </p:txBody>
      </p:sp>
      <p:sp>
        <p:nvSpPr>
          <p:cNvPr id="5" name="lead"/>
          <p:cNvSpPr txBox="1"/>
          <p:nvPr/>
        </p:nvSpPr>
        <p:spPr>
          <a:xfrm>
            <a:off x="548640" y="1600200"/>
            <a:ext cx="10789920" cy="777240"/>
          </a:xfrm>
          <a:prstGeom prst="rect">
            <a:avLst/>
          </a:prstGeom>
          <a:noFill/>
          <a:ln/>
        </p:spPr>
        <p:txBody>
          <a:bodyPr wrap="square" lIns="0" tIns="0" rIns="0" bIns="0" rtlCol="0" anchor="t"/>
          <a:lstStyle/>
          <a:p>
            <a:pPr indent="0" marL="0">
              <a:buNone/>
            </a:pPr>
            <a:r>
              <a:rPr lang="en-US" sz="1800" dirty="0">
                <a:solidFill>
                  <a:srgbClr val="A9CFC8"/>
                </a:solidFill>
                <a:latin typeface="+mn-lt" pitchFamily="34" charset="0"/>
                <a:ea typeface="+mn-lt" pitchFamily="34" charset="-122"/>
                <a:cs typeface="+mn-lt" pitchFamily="34" charset="-120"/>
              </a:rPr>
              <a:t>The Horizontal Pod Autoscaler watches CPU and adds pods when the app gets busy. Measured live on EKS during a load test:</a:t>
            </a:r>
            <a:endParaRPr lang="en-US" sz="1800" dirty="0"/>
          </a:p>
        </p:txBody>
      </p:sp>
      <p:graphicFrame>
        <p:nvGraphicFramePr>
          <p:cNvPr id="6" name="replicas chart" descr=""/>
          <p:cNvGraphicFramePr/>
          <p:nvPr/>
        </p:nvGraphicFramePr>
        <p:xfrm>
          <a:off x="548640" y="2514600"/>
          <a:ext cx="6949440" cy="3566160"/>
        </p:xfrm>
        <a:graphic xmlns:a="http://schemas.openxmlformats.org/drawingml/2006/main">
          <a:graphicData uri="http://schemas.openxmlformats.org/drawingml/2006/chart">
            <c:chart xmlns:c="http://schemas.openxmlformats.org/drawingml/2006/chart" r:id="rId1"/>
          </a:graphicData>
        </a:graphic>
      </p:graphicFrame>
      <p:sp>
        <p:nvSpPr>
          <p:cNvPr id="7" name="stat 0"/>
          <p:cNvSpPr/>
          <p:nvPr/>
        </p:nvSpPr>
        <p:spPr>
          <a:xfrm>
            <a:off x="7909560" y="2514600"/>
            <a:ext cx="3733495" cy="1051560"/>
          </a:xfrm>
          <a:prstGeom prst="roundRect">
            <a:avLst>
              <a:gd name="adj" fmla="val 10435"/>
            </a:avLst>
          </a:prstGeom>
          <a:solidFill>
            <a:srgbClr val="14303A"/>
          </a:solidFill>
          <a:ln/>
        </p:spPr>
      </p:sp>
      <p:sp>
        <p:nvSpPr>
          <p:cNvPr id="8" name="stat value 0"/>
          <p:cNvSpPr txBox="1"/>
          <p:nvPr/>
        </p:nvSpPr>
        <p:spPr>
          <a:xfrm>
            <a:off x="8183880" y="2606040"/>
            <a:ext cx="3184855" cy="548640"/>
          </a:xfrm>
          <a:prstGeom prst="rect">
            <a:avLst/>
          </a:prstGeom>
          <a:noFill/>
          <a:ln/>
        </p:spPr>
        <p:txBody>
          <a:bodyPr wrap="square" lIns="0" tIns="0" rIns="0" bIns="0" rtlCol="0" anchor="t"/>
          <a:lstStyle/>
          <a:p>
            <a:pPr indent="0" marL="0">
              <a:buNone/>
            </a:pPr>
            <a:r>
              <a:rPr lang="en-US" sz="3000" b="1" dirty="0">
                <a:solidFill>
                  <a:schemeClr val="accent2"/>
                </a:solidFill>
                <a:latin typeface="+mn-lt" pitchFamily="34" charset="0"/>
                <a:ea typeface="+mn-lt" pitchFamily="34" charset="-122"/>
                <a:cs typeface="+mn-lt" pitchFamily="34" charset="-120"/>
              </a:rPr>
              <a:t>340%</a:t>
            </a:r>
            <a:endParaRPr lang="en-US" sz="3000" dirty="0"/>
          </a:p>
        </p:txBody>
      </p:sp>
      <p:sp>
        <p:nvSpPr>
          <p:cNvPr id="9" name="stat label 0"/>
          <p:cNvSpPr txBox="1"/>
          <p:nvPr/>
        </p:nvSpPr>
        <p:spPr>
          <a:xfrm>
            <a:off x="8183880" y="3154680"/>
            <a:ext cx="3184855" cy="320040"/>
          </a:xfrm>
          <a:prstGeom prst="rect">
            <a:avLst/>
          </a:prstGeom>
          <a:noFill/>
          <a:ln/>
        </p:spPr>
        <p:txBody>
          <a:bodyPr wrap="square" lIns="0" tIns="0" rIns="0" bIns="0" rtlCol="0" anchor="t"/>
          <a:lstStyle/>
          <a:p>
            <a:pPr indent="0" marL="0">
              <a:buNone/>
            </a:pPr>
            <a:r>
              <a:rPr lang="en-US" sz="1300" dirty="0">
                <a:solidFill>
                  <a:srgbClr val="A9CFC8"/>
                </a:solidFill>
                <a:latin typeface="+mn-lt" pitchFamily="34" charset="0"/>
                <a:ea typeface="+mn-lt" pitchFamily="34" charset="-122"/>
                <a:cs typeface="+mn-lt" pitchFamily="34" charset="-120"/>
              </a:rPr>
              <a:t>peak CPU, as a share of the request</a:t>
            </a:r>
            <a:endParaRPr lang="en-US" sz="1300" dirty="0"/>
          </a:p>
        </p:txBody>
      </p:sp>
      <p:sp>
        <p:nvSpPr>
          <p:cNvPr id="10" name="stat 1"/>
          <p:cNvSpPr/>
          <p:nvPr/>
        </p:nvSpPr>
        <p:spPr>
          <a:xfrm>
            <a:off x="7909560" y="3730752"/>
            <a:ext cx="3733495" cy="1051560"/>
          </a:xfrm>
          <a:prstGeom prst="roundRect">
            <a:avLst>
              <a:gd name="adj" fmla="val 10435"/>
            </a:avLst>
          </a:prstGeom>
          <a:solidFill>
            <a:srgbClr val="14303A"/>
          </a:solidFill>
          <a:ln/>
        </p:spPr>
      </p:sp>
      <p:sp>
        <p:nvSpPr>
          <p:cNvPr id="11" name="stat value 1"/>
          <p:cNvSpPr txBox="1"/>
          <p:nvPr/>
        </p:nvSpPr>
        <p:spPr>
          <a:xfrm>
            <a:off x="8183880" y="3822192"/>
            <a:ext cx="3184855" cy="548640"/>
          </a:xfrm>
          <a:prstGeom prst="rect">
            <a:avLst/>
          </a:prstGeom>
          <a:noFill/>
          <a:ln/>
        </p:spPr>
        <p:txBody>
          <a:bodyPr wrap="square" lIns="0" tIns="0" rIns="0" bIns="0" rtlCol="0" anchor="t"/>
          <a:lstStyle/>
          <a:p>
            <a:pPr indent="0" marL="0">
              <a:buNone/>
            </a:pPr>
            <a:r>
              <a:rPr lang="en-US" sz="3000" b="1" dirty="0">
                <a:solidFill>
                  <a:schemeClr val="accent2"/>
                </a:solidFill>
                <a:latin typeface="+mn-lt" pitchFamily="34" charset="0"/>
                <a:ea typeface="+mn-lt" pitchFamily="34" charset="-122"/>
                <a:cs typeface="+mn-lt" pitchFamily="34" charset="-120"/>
              </a:rPr>
              <a:t>2 → 6</a:t>
            </a:r>
            <a:endParaRPr lang="en-US" sz="3000" dirty="0"/>
          </a:p>
        </p:txBody>
      </p:sp>
      <p:sp>
        <p:nvSpPr>
          <p:cNvPr id="12" name="stat label 1"/>
          <p:cNvSpPr txBox="1"/>
          <p:nvPr/>
        </p:nvSpPr>
        <p:spPr>
          <a:xfrm>
            <a:off x="8183880" y="4370832"/>
            <a:ext cx="3184855" cy="320040"/>
          </a:xfrm>
          <a:prstGeom prst="rect">
            <a:avLst/>
          </a:prstGeom>
          <a:noFill/>
          <a:ln/>
        </p:spPr>
        <p:txBody>
          <a:bodyPr wrap="square" lIns="0" tIns="0" rIns="0" bIns="0" rtlCol="0" anchor="t"/>
          <a:lstStyle/>
          <a:p>
            <a:pPr indent="0" marL="0">
              <a:buNone/>
            </a:pPr>
            <a:r>
              <a:rPr lang="en-US" sz="1300" dirty="0">
                <a:solidFill>
                  <a:srgbClr val="A9CFC8"/>
                </a:solidFill>
                <a:latin typeface="+mn-lt" pitchFamily="34" charset="0"/>
                <a:ea typeface="+mn-lt" pitchFamily="34" charset="-122"/>
                <a:cs typeface="+mn-lt" pitchFamily="34" charset="-120"/>
              </a:rPr>
              <a:t>backend pods (min → max)</a:t>
            </a:r>
            <a:endParaRPr lang="en-US" sz="1300" dirty="0"/>
          </a:p>
        </p:txBody>
      </p:sp>
      <p:sp>
        <p:nvSpPr>
          <p:cNvPr id="13" name="stat 2"/>
          <p:cNvSpPr/>
          <p:nvPr/>
        </p:nvSpPr>
        <p:spPr>
          <a:xfrm>
            <a:off x="7909560" y="4946904"/>
            <a:ext cx="3733495" cy="1051560"/>
          </a:xfrm>
          <a:prstGeom prst="roundRect">
            <a:avLst>
              <a:gd name="adj" fmla="val 10435"/>
            </a:avLst>
          </a:prstGeom>
          <a:solidFill>
            <a:srgbClr val="14303A"/>
          </a:solidFill>
          <a:ln/>
        </p:spPr>
      </p:sp>
      <p:sp>
        <p:nvSpPr>
          <p:cNvPr id="14" name="stat value 2"/>
          <p:cNvSpPr txBox="1"/>
          <p:nvPr/>
        </p:nvSpPr>
        <p:spPr>
          <a:xfrm>
            <a:off x="8183880" y="5038344"/>
            <a:ext cx="3184855" cy="548640"/>
          </a:xfrm>
          <a:prstGeom prst="rect">
            <a:avLst/>
          </a:prstGeom>
          <a:noFill/>
          <a:ln/>
        </p:spPr>
        <p:txBody>
          <a:bodyPr wrap="square" lIns="0" tIns="0" rIns="0" bIns="0" rtlCol="0" anchor="t"/>
          <a:lstStyle/>
          <a:p>
            <a:pPr indent="0" marL="0">
              <a:buNone/>
            </a:pPr>
            <a:r>
              <a:rPr lang="en-US" sz="3000" b="1" dirty="0">
                <a:solidFill>
                  <a:schemeClr val="accent2"/>
                </a:solidFill>
                <a:latin typeface="+mn-lt" pitchFamily="34" charset="0"/>
                <a:ea typeface="+mn-lt" pitchFamily="34" charset="-122"/>
                <a:cs typeface="+mn-lt" pitchFamily="34" charset="-120"/>
              </a:rPr>
              <a:t>~90 s</a:t>
            </a:r>
            <a:endParaRPr lang="en-US" sz="3000" dirty="0"/>
          </a:p>
        </p:txBody>
      </p:sp>
      <p:sp>
        <p:nvSpPr>
          <p:cNvPr id="15" name="stat label 2"/>
          <p:cNvSpPr txBox="1"/>
          <p:nvPr/>
        </p:nvSpPr>
        <p:spPr>
          <a:xfrm>
            <a:off x="8183880" y="5586984"/>
            <a:ext cx="3184855" cy="320040"/>
          </a:xfrm>
          <a:prstGeom prst="rect">
            <a:avLst/>
          </a:prstGeom>
          <a:noFill/>
          <a:ln/>
        </p:spPr>
        <p:txBody>
          <a:bodyPr wrap="square" lIns="0" tIns="0" rIns="0" bIns="0" rtlCol="0" anchor="t"/>
          <a:lstStyle/>
          <a:p>
            <a:pPr indent="0" marL="0">
              <a:buNone/>
            </a:pPr>
            <a:r>
              <a:rPr lang="en-US" sz="1300" dirty="0">
                <a:solidFill>
                  <a:srgbClr val="A9CFC8"/>
                </a:solidFill>
                <a:latin typeface="+mn-lt" pitchFamily="34" charset="0"/>
                <a:ea typeface="+mn-lt" pitchFamily="34" charset="-122"/>
                <a:cs typeface="+mn-lt" pitchFamily="34" charset="-120"/>
              </a:rPr>
              <a:t>from idle to full scale-out</a:t>
            </a:r>
            <a:endParaRPr lang="en-US" sz="1300" dirty="0"/>
          </a:p>
        </p:txBody>
      </p:sp>
      <p:sp>
        <p:nvSpPr>
          <p:cNvPr id="16" name="requirements"/>
          <p:cNvSpPr txBox="1"/>
          <p:nvPr/>
        </p:nvSpPr>
        <p:spPr>
          <a:xfrm>
            <a:off x="7909560" y="6172200"/>
            <a:ext cx="3733495" cy="274320"/>
          </a:xfrm>
          <a:prstGeom prst="rect">
            <a:avLst/>
          </a:prstGeom>
          <a:noFill/>
          <a:ln/>
        </p:spPr>
        <p:txBody>
          <a:bodyPr wrap="square" lIns="0" tIns="0" rIns="0" bIns="0" rtlCol="0" anchor="t"/>
          <a:lstStyle/>
          <a:p>
            <a:pPr indent="0" marL="0">
              <a:buNone/>
            </a:pPr>
            <a:r>
              <a:rPr lang="en-US" sz="1100" i="1" dirty="0">
                <a:solidFill>
                  <a:srgbClr val="A9CFC8"/>
                </a:solidFill>
                <a:latin typeface="+mn-lt" pitchFamily="34" charset="0"/>
                <a:ea typeface="+mn-lt" pitchFamily="34" charset="-122"/>
                <a:cs typeface="+mn-lt" pitchFamily="34" charset="-120"/>
              </a:rPr>
              <a:t>Requires CPU requests + metrics-server.</a:t>
            </a:r>
            <a:endParaRPr lang="en-US" sz="11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STAGE 12  ·  MONITORING</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Prometheus + Grafana</a:t>
            </a:r>
            <a:endParaRPr lang="en-US" sz="3400" dirty="0"/>
          </a:p>
        </p:txBody>
      </p:sp>
      <p:sp>
        <p:nvSpPr>
          <p:cNvPr id="5" name="lead"/>
          <p:cNvSpPr txBox="1"/>
          <p:nvPr/>
        </p:nvSpPr>
        <p:spPr>
          <a:xfrm>
            <a:off x="548640" y="1600200"/>
            <a:ext cx="10789920" cy="777240"/>
          </a:xfrm>
          <a:prstGeom prst="rect">
            <a:avLst/>
          </a:prstGeom>
          <a:noFill/>
          <a:ln/>
        </p:spPr>
        <p:txBody>
          <a:bodyPr wrap="square" lIns="0" tIns="0" rIns="0" bIns="0" rtlCol="0" anchor="t"/>
          <a:lstStyle/>
          <a:p>
            <a:pPr indent="0" marL="0">
              <a:buNone/>
            </a:pPr>
            <a:r>
              <a:rPr lang="en-US" sz="1700" dirty="0">
                <a:solidFill>
                  <a:schemeClr val="accent6"/>
                </a:solidFill>
                <a:latin typeface="+mn-lt" pitchFamily="34" charset="0"/>
                <a:ea typeface="+mn-lt" pitchFamily="34" charset="-122"/>
                <a:cs typeface="+mn-lt" pitchFamily="34" charset="-120"/>
              </a:rPr>
              <a:t>The backend exposes metrics, a ServiceMonitor tells Prometheus to scrape them, and Grafana turns them into a live dashboard. Live figures during the EKS load test:</a:t>
            </a:r>
            <a:endParaRPr lang="en-US" sz="1700" dirty="0"/>
          </a:p>
        </p:txBody>
      </p:sp>
      <p:sp>
        <p:nvSpPr>
          <p:cNvPr id="6" name="live 0"/>
          <p:cNvSpPr/>
          <p:nvPr/>
        </p:nvSpPr>
        <p:spPr>
          <a:xfrm>
            <a:off x="548640" y="2560320"/>
            <a:ext cx="2567864" cy="1234440"/>
          </a:xfrm>
          <a:prstGeom prst="roundRect">
            <a:avLst>
              <a:gd name="adj" fmla="val 8889"/>
            </a:avLst>
          </a:prstGeom>
          <a:solidFill>
            <a:srgbClr val="E7F7F1"/>
          </a:solidFill>
          <a:ln w="12700">
            <a:solidFill>
              <a:srgbClr val="A7E3CF"/>
            </a:solidFill>
            <a:prstDash val="solid"/>
          </a:ln>
        </p:spPr>
      </p:sp>
      <p:sp>
        <p:nvSpPr>
          <p:cNvPr id="7" name="live value 0"/>
          <p:cNvSpPr txBox="1"/>
          <p:nvPr/>
        </p:nvSpPr>
        <p:spPr>
          <a:xfrm>
            <a:off x="822960" y="2670048"/>
            <a:ext cx="2019224" cy="640080"/>
          </a:xfrm>
          <a:prstGeom prst="rect">
            <a:avLst/>
          </a:prstGeom>
          <a:noFill/>
          <a:ln/>
        </p:spPr>
        <p:txBody>
          <a:bodyPr wrap="square" lIns="0" tIns="0" rIns="0" bIns="0" rtlCol="0" anchor="t"/>
          <a:lstStyle/>
          <a:p>
            <a:pPr indent="0" marL="0">
              <a:buNone/>
            </a:pPr>
            <a:r>
              <a:rPr lang="en-US" sz="3200" b="1" dirty="0">
                <a:solidFill>
                  <a:schemeClr val="accent1"/>
                </a:solidFill>
                <a:latin typeface="+mn-lt" pitchFamily="34" charset="0"/>
                <a:ea typeface="+mn-lt" pitchFamily="34" charset="-122"/>
                <a:cs typeface="+mn-lt" pitchFamily="34" charset="-120"/>
              </a:rPr>
              <a:t>391</a:t>
            </a:r>
            <a:endParaRPr lang="en-US" sz="3200" dirty="0"/>
          </a:p>
        </p:txBody>
      </p:sp>
      <p:sp>
        <p:nvSpPr>
          <p:cNvPr id="8" name="live label 0"/>
          <p:cNvSpPr txBox="1"/>
          <p:nvPr/>
        </p:nvSpPr>
        <p:spPr>
          <a:xfrm>
            <a:off x="822960" y="3337560"/>
            <a:ext cx="2019224" cy="320040"/>
          </a:xfrm>
          <a:prstGeom prst="rect">
            <a:avLst/>
          </a:prstGeom>
          <a:noFill/>
          <a:ln/>
        </p:spPr>
        <p:txBody>
          <a:bodyPr wrap="square" lIns="0" tIns="0" rIns="0" bIns="0" rtlCol="0" anchor="t"/>
          <a:lstStyle/>
          <a:p>
            <a:pPr indent="0" marL="0">
              <a:buNone/>
            </a:pPr>
            <a:r>
              <a:rPr lang="en-US" sz="1300" dirty="0">
                <a:solidFill>
                  <a:srgbClr val="2C5C4E"/>
                </a:solidFill>
                <a:latin typeface="+mn-lt" pitchFamily="34" charset="0"/>
                <a:ea typeface="+mn-lt" pitchFamily="34" charset="-122"/>
                <a:cs typeface="+mn-lt" pitchFamily="34" charset="-120"/>
              </a:rPr>
              <a:t>requests / second</a:t>
            </a:r>
            <a:endParaRPr lang="en-US" sz="1300" dirty="0"/>
          </a:p>
        </p:txBody>
      </p:sp>
      <p:sp>
        <p:nvSpPr>
          <p:cNvPr id="9" name="live 1"/>
          <p:cNvSpPr/>
          <p:nvPr/>
        </p:nvSpPr>
        <p:spPr>
          <a:xfrm>
            <a:off x="3390824" y="2560320"/>
            <a:ext cx="2567864" cy="1234440"/>
          </a:xfrm>
          <a:prstGeom prst="roundRect">
            <a:avLst>
              <a:gd name="adj" fmla="val 8889"/>
            </a:avLst>
          </a:prstGeom>
          <a:solidFill>
            <a:srgbClr val="E7F7F1"/>
          </a:solidFill>
          <a:ln w="12700">
            <a:solidFill>
              <a:srgbClr val="A7E3CF"/>
            </a:solidFill>
            <a:prstDash val="solid"/>
          </a:ln>
        </p:spPr>
      </p:sp>
      <p:sp>
        <p:nvSpPr>
          <p:cNvPr id="10" name="live value 1"/>
          <p:cNvSpPr txBox="1"/>
          <p:nvPr/>
        </p:nvSpPr>
        <p:spPr>
          <a:xfrm>
            <a:off x="3665144" y="2670048"/>
            <a:ext cx="2019224" cy="640080"/>
          </a:xfrm>
          <a:prstGeom prst="rect">
            <a:avLst/>
          </a:prstGeom>
          <a:noFill/>
          <a:ln/>
        </p:spPr>
        <p:txBody>
          <a:bodyPr wrap="square" lIns="0" tIns="0" rIns="0" bIns="0" rtlCol="0" anchor="t"/>
          <a:lstStyle/>
          <a:p>
            <a:pPr indent="0" marL="0">
              <a:buNone/>
            </a:pPr>
            <a:r>
              <a:rPr lang="en-US" sz="3200" b="1" dirty="0">
                <a:solidFill>
                  <a:schemeClr val="accent1"/>
                </a:solidFill>
                <a:latin typeface="+mn-lt" pitchFamily="34" charset="0"/>
                <a:ea typeface="+mn-lt" pitchFamily="34" charset="-122"/>
                <a:cs typeface="+mn-lt" pitchFamily="34" charset="-120"/>
              </a:rPr>
              <a:t>0.00%</a:t>
            </a:r>
            <a:endParaRPr lang="en-US" sz="3200" dirty="0"/>
          </a:p>
        </p:txBody>
      </p:sp>
      <p:sp>
        <p:nvSpPr>
          <p:cNvPr id="11" name="live label 1"/>
          <p:cNvSpPr txBox="1"/>
          <p:nvPr/>
        </p:nvSpPr>
        <p:spPr>
          <a:xfrm>
            <a:off x="3665144" y="3337560"/>
            <a:ext cx="2019224" cy="320040"/>
          </a:xfrm>
          <a:prstGeom prst="rect">
            <a:avLst/>
          </a:prstGeom>
          <a:noFill/>
          <a:ln/>
        </p:spPr>
        <p:txBody>
          <a:bodyPr wrap="square" lIns="0" tIns="0" rIns="0" bIns="0" rtlCol="0" anchor="t"/>
          <a:lstStyle/>
          <a:p>
            <a:pPr indent="0" marL="0">
              <a:buNone/>
            </a:pPr>
            <a:r>
              <a:rPr lang="en-US" sz="1300" dirty="0">
                <a:solidFill>
                  <a:srgbClr val="2C5C4E"/>
                </a:solidFill>
                <a:latin typeface="+mn-lt" pitchFamily="34" charset="0"/>
                <a:ea typeface="+mn-lt" pitchFamily="34" charset="-122"/>
                <a:cs typeface="+mn-lt" pitchFamily="34" charset="-120"/>
              </a:rPr>
              <a:t>error rate (5xx)</a:t>
            </a:r>
            <a:endParaRPr lang="en-US" sz="1300" dirty="0"/>
          </a:p>
        </p:txBody>
      </p:sp>
      <p:sp>
        <p:nvSpPr>
          <p:cNvPr id="12" name="live 2"/>
          <p:cNvSpPr/>
          <p:nvPr/>
        </p:nvSpPr>
        <p:spPr>
          <a:xfrm>
            <a:off x="6233008" y="2560320"/>
            <a:ext cx="2567864" cy="1234440"/>
          </a:xfrm>
          <a:prstGeom prst="roundRect">
            <a:avLst>
              <a:gd name="adj" fmla="val 8889"/>
            </a:avLst>
          </a:prstGeom>
          <a:solidFill>
            <a:srgbClr val="E7F7F1"/>
          </a:solidFill>
          <a:ln w="12700">
            <a:solidFill>
              <a:srgbClr val="A7E3CF"/>
            </a:solidFill>
            <a:prstDash val="solid"/>
          </a:ln>
        </p:spPr>
      </p:sp>
      <p:sp>
        <p:nvSpPr>
          <p:cNvPr id="13" name="live value 2"/>
          <p:cNvSpPr txBox="1"/>
          <p:nvPr/>
        </p:nvSpPr>
        <p:spPr>
          <a:xfrm>
            <a:off x="6507328" y="2670048"/>
            <a:ext cx="2019224" cy="640080"/>
          </a:xfrm>
          <a:prstGeom prst="rect">
            <a:avLst/>
          </a:prstGeom>
          <a:noFill/>
          <a:ln/>
        </p:spPr>
        <p:txBody>
          <a:bodyPr wrap="square" lIns="0" tIns="0" rIns="0" bIns="0" rtlCol="0" anchor="t"/>
          <a:lstStyle/>
          <a:p>
            <a:pPr indent="0" marL="0">
              <a:buNone/>
            </a:pPr>
            <a:r>
              <a:rPr lang="en-US" sz="3200" b="1" dirty="0">
                <a:solidFill>
                  <a:schemeClr val="accent1"/>
                </a:solidFill>
                <a:latin typeface="+mn-lt" pitchFamily="34" charset="0"/>
                <a:ea typeface="+mn-lt" pitchFamily="34" charset="-122"/>
                <a:cs typeface="+mn-lt" pitchFamily="34" charset="-120"/>
              </a:rPr>
              <a:t>95 ms</a:t>
            </a:r>
            <a:endParaRPr lang="en-US" sz="3200" dirty="0"/>
          </a:p>
        </p:txBody>
      </p:sp>
      <p:sp>
        <p:nvSpPr>
          <p:cNvPr id="14" name="live label 2"/>
          <p:cNvSpPr txBox="1"/>
          <p:nvPr/>
        </p:nvSpPr>
        <p:spPr>
          <a:xfrm>
            <a:off x="6507328" y="3337560"/>
            <a:ext cx="2019224" cy="320040"/>
          </a:xfrm>
          <a:prstGeom prst="rect">
            <a:avLst/>
          </a:prstGeom>
          <a:noFill/>
          <a:ln/>
        </p:spPr>
        <p:txBody>
          <a:bodyPr wrap="square" lIns="0" tIns="0" rIns="0" bIns="0" rtlCol="0" anchor="t"/>
          <a:lstStyle/>
          <a:p>
            <a:pPr indent="0" marL="0">
              <a:buNone/>
            </a:pPr>
            <a:r>
              <a:rPr lang="en-US" sz="1300" dirty="0">
                <a:solidFill>
                  <a:srgbClr val="2C5C4E"/>
                </a:solidFill>
                <a:latin typeface="+mn-lt" pitchFamily="34" charset="0"/>
                <a:ea typeface="+mn-lt" pitchFamily="34" charset="-122"/>
                <a:cs typeface="+mn-lt" pitchFamily="34" charset="-120"/>
              </a:rPr>
              <a:t>p95 latency</a:t>
            </a:r>
            <a:endParaRPr lang="en-US" sz="1300" dirty="0"/>
          </a:p>
        </p:txBody>
      </p:sp>
      <p:sp>
        <p:nvSpPr>
          <p:cNvPr id="15" name="live 3"/>
          <p:cNvSpPr/>
          <p:nvPr/>
        </p:nvSpPr>
        <p:spPr>
          <a:xfrm>
            <a:off x="9075191" y="2560320"/>
            <a:ext cx="2567864" cy="1234440"/>
          </a:xfrm>
          <a:prstGeom prst="roundRect">
            <a:avLst>
              <a:gd name="adj" fmla="val 8889"/>
            </a:avLst>
          </a:prstGeom>
          <a:solidFill>
            <a:srgbClr val="E7F7F1"/>
          </a:solidFill>
          <a:ln w="12700">
            <a:solidFill>
              <a:srgbClr val="A7E3CF"/>
            </a:solidFill>
            <a:prstDash val="solid"/>
          </a:ln>
        </p:spPr>
      </p:sp>
      <p:sp>
        <p:nvSpPr>
          <p:cNvPr id="16" name="live value 3"/>
          <p:cNvSpPr txBox="1"/>
          <p:nvPr/>
        </p:nvSpPr>
        <p:spPr>
          <a:xfrm>
            <a:off x="9349511" y="2670048"/>
            <a:ext cx="2019224" cy="640080"/>
          </a:xfrm>
          <a:prstGeom prst="rect">
            <a:avLst/>
          </a:prstGeom>
          <a:noFill/>
          <a:ln/>
        </p:spPr>
        <p:txBody>
          <a:bodyPr wrap="square" lIns="0" tIns="0" rIns="0" bIns="0" rtlCol="0" anchor="t"/>
          <a:lstStyle/>
          <a:p>
            <a:pPr indent="0" marL="0">
              <a:buNone/>
            </a:pPr>
            <a:r>
              <a:rPr lang="en-US" sz="3200" b="1" dirty="0">
                <a:solidFill>
                  <a:schemeClr val="accent1"/>
                </a:solidFill>
                <a:latin typeface="+mn-lt" pitchFamily="34" charset="0"/>
                <a:ea typeface="+mn-lt" pitchFamily="34" charset="-122"/>
                <a:cs typeface="+mn-lt" pitchFamily="34" charset="-120"/>
              </a:rPr>
              <a:t>6 / 6</a:t>
            </a:r>
            <a:endParaRPr lang="en-US" sz="3200" dirty="0"/>
          </a:p>
        </p:txBody>
      </p:sp>
      <p:sp>
        <p:nvSpPr>
          <p:cNvPr id="17" name="live label 3"/>
          <p:cNvSpPr txBox="1"/>
          <p:nvPr/>
        </p:nvSpPr>
        <p:spPr>
          <a:xfrm>
            <a:off x="9349511" y="3337560"/>
            <a:ext cx="2019224" cy="320040"/>
          </a:xfrm>
          <a:prstGeom prst="rect">
            <a:avLst/>
          </a:prstGeom>
          <a:noFill/>
          <a:ln/>
        </p:spPr>
        <p:txBody>
          <a:bodyPr wrap="square" lIns="0" tIns="0" rIns="0" bIns="0" rtlCol="0" anchor="t"/>
          <a:lstStyle/>
          <a:p>
            <a:pPr indent="0" marL="0">
              <a:buNone/>
            </a:pPr>
            <a:r>
              <a:rPr lang="en-US" sz="1300" dirty="0">
                <a:solidFill>
                  <a:srgbClr val="2C5C4E"/>
                </a:solidFill>
                <a:latin typeface="+mn-lt" pitchFamily="34" charset="0"/>
                <a:ea typeface="+mn-lt" pitchFamily="34" charset="-122"/>
                <a:cs typeface="+mn-lt" pitchFamily="34" charset="-120"/>
              </a:rPr>
              <a:t>backend targets UP</a:t>
            </a:r>
            <a:endParaRPr lang="en-US" sz="1300" dirty="0"/>
          </a:p>
        </p:txBody>
      </p:sp>
      <p:sp>
        <p:nvSpPr>
          <p:cNvPr id="18" name="/metrics card"/>
          <p:cNvSpPr/>
          <p:nvPr/>
        </p:nvSpPr>
        <p:spPr>
          <a:xfrm>
            <a:off x="548640" y="4069080"/>
            <a:ext cx="3484778" cy="1965960"/>
          </a:xfrm>
          <a:prstGeom prst="roundRect">
            <a:avLst>
              <a:gd name="adj" fmla="val 5581"/>
            </a:avLst>
          </a:prstGeom>
          <a:solidFill>
            <a:srgbClr val="FFFFFF"/>
          </a:solidFill>
          <a:ln w="12700">
            <a:solidFill>
              <a:srgbClr val="D6E3DF"/>
            </a:solidFill>
            <a:prstDash val="solid"/>
          </a:ln>
        </p:spPr>
      </p:sp>
      <p:sp>
        <p:nvSpPr>
          <p:cNvPr id="19" name="/metrics dot"/>
          <p:cNvSpPr/>
          <p:nvPr/>
        </p:nvSpPr>
        <p:spPr>
          <a:xfrm>
            <a:off x="822960" y="4325112"/>
            <a:ext cx="548640" cy="548640"/>
          </a:xfrm>
          <a:prstGeom prst="ellipse">
            <a:avLst/>
          </a:prstGeom>
          <a:solidFill>
            <a:srgbClr val="CCFBF1"/>
          </a:solidFill>
          <a:ln/>
        </p:spPr>
      </p:sp>
      <p:pic>
        <p:nvPicPr>
          <p:cNvPr id="20" name="Image 0" descr="/metrics">    </p:cNvPr>
          <p:cNvPicPr>
            <a:picLocks noChangeAspect="1"/>
          </p:cNvPicPr>
          <p:nvPr/>
        </p:nvPicPr>
        <p:blipFill>
          <a:blip r:embed="rId1"/>
          <a:stretch>
            <a:fillRect/>
          </a:stretch>
        </p:blipFill>
        <p:spPr>
          <a:xfrm>
            <a:off x="954634" y="4456786"/>
            <a:ext cx="285293" cy="285293"/>
          </a:xfrm>
          <a:prstGeom prst="rect">
            <a:avLst/>
          </a:prstGeom>
        </p:spPr>
      </p:pic>
      <p:sp>
        <p:nvSpPr>
          <p:cNvPr id="21" name="/metrics title"/>
          <p:cNvSpPr txBox="1"/>
          <p:nvPr/>
        </p:nvSpPr>
        <p:spPr>
          <a:xfrm>
            <a:off x="1508760" y="4325112"/>
            <a:ext cx="2296058" cy="548640"/>
          </a:xfrm>
          <a:prstGeom prst="rect">
            <a:avLst/>
          </a:prstGeom>
          <a:noFill/>
          <a:ln/>
        </p:spPr>
        <p:txBody>
          <a:bodyPr wrap="square" lIns="0" tIns="0" rIns="0" bIns="0" rtlCol="0" anchor="ctr"/>
          <a:lstStyle/>
          <a:p>
            <a:pPr indent="0" marL="0">
              <a:buNone/>
            </a:pPr>
            <a:r>
              <a:rPr lang="en-US" sz="1800" b="1" dirty="0">
                <a:solidFill>
                  <a:schemeClr val="tx1"/>
                </a:solidFill>
                <a:latin typeface="+mn-lt" pitchFamily="34" charset="0"/>
                <a:ea typeface="+mn-lt" pitchFamily="34" charset="-122"/>
                <a:cs typeface="+mn-lt" pitchFamily="34" charset="-120"/>
              </a:rPr>
              <a:t>/metrics</a:t>
            </a:r>
            <a:endParaRPr lang="en-US" sz="1800" dirty="0"/>
          </a:p>
        </p:txBody>
      </p:sp>
      <p:sp>
        <p:nvSpPr>
          <p:cNvPr id="22" name="/metrics desc"/>
          <p:cNvSpPr txBox="1"/>
          <p:nvPr/>
        </p:nvSpPr>
        <p:spPr>
          <a:xfrm>
            <a:off x="822960" y="5029200"/>
            <a:ext cx="2936138" cy="868680"/>
          </a:xfrm>
          <a:prstGeom prst="rect">
            <a:avLst/>
          </a:prstGeom>
          <a:noFill/>
          <a:ln/>
        </p:spPr>
        <p:txBody>
          <a:bodyPr wrap="square" lIns="0" tIns="0" rIns="0" bIns="0" rtlCol="0" anchor="t"/>
          <a:lstStyle/>
          <a:p>
            <a:pPr indent="0" marL="0">
              <a:buNone/>
            </a:pPr>
            <a:r>
              <a:rPr lang="en-US" sz="1400" dirty="0">
                <a:solidFill>
                  <a:schemeClr val="accent6"/>
                </a:solidFill>
                <a:latin typeface="+mn-lt" pitchFamily="34" charset="0"/>
                <a:ea typeface="+mn-lt" pitchFamily="34" charset="-122"/>
                <a:cs typeface="+mn-lt" pitchFamily="34" charset="-120"/>
              </a:rPr>
              <a:t>HTTP rate and latency, plus custom counters: bookings and blocked double-bookings</a:t>
            </a:r>
            <a:endParaRPr lang="en-US" sz="1400" dirty="0"/>
          </a:p>
        </p:txBody>
      </p:sp>
      <p:sp>
        <p:nvSpPr>
          <p:cNvPr id="23" name="Prometheus card"/>
          <p:cNvSpPr/>
          <p:nvPr/>
        </p:nvSpPr>
        <p:spPr>
          <a:xfrm>
            <a:off x="4353458" y="4069080"/>
            <a:ext cx="3484778" cy="1965960"/>
          </a:xfrm>
          <a:prstGeom prst="roundRect">
            <a:avLst>
              <a:gd name="adj" fmla="val 5581"/>
            </a:avLst>
          </a:prstGeom>
          <a:solidFill>
            <a:srgbClr val="FFFFFF"/>
          </a:solidFill>
          <a:ln w="12700">
            <a:solidFill>
              <a:srgbClr val="D6E3DF"/>
            </a:solidFill>
            <a:prstDash val="solid"/>
          </a:ln>
        </p:spPr>
      </p:sp>
      <p:sp>
        <p:nvSpPr>
          <p:cNvPr id="24" name="Prometheus dot"/>
          <p:cNvSpPr/>
          <p:nvPr/>
        </p:nvSpPr>
        <p:spPr>
          <a:xfrm>
            <a:off x="4627778" y="4325112"/>
            <a:ext cx="548640" cy="548640"/>
          </a:xfrm>
          <a:prstGeom prst="ellipse">
            <a:avLst/>
          </a:prstGeom>
          <a:solidFill>
            <a:srgbClr val="CCFBF1"/>
          </a:solidFill>
          <a:ln/>
        </p:spPr>
      </p:sp>
      <p:pic>
        <p:nvPicPr>
          <p:cNvPr id="25" name="Image 1" descr="Prometheus">    </p:cNvPr>
          <p:cNvPicPr>
            <a:picLocks noChangeAspect="1"/>
          </p:cNvPicPr>
          <p:nvPr/>
        </p:nvPicPr>
        <p:blipFill>
          <a:blip r:embed="rId2"/>
          <a:stretch>
            <a:fillRect/>
          </a:stretch>
        </p:blipFill>
        <p:spPr>
          <a:xfrm>
            <a:off x="4759452" y="4456786"/>
            <a:ext cx="285293" cy="285293"/>
          </a:xfrm>
          <a:prstGeom prst="rect">
            <a:avLst/>
          </a:prstGeom>
        </p:spPr>
      </p:pic>
      <p:sp>
        <p:nvSpPr>
          <p:cNvPr id="26" name="Prometheus title"/>
          <p:cNvSpPr txBox="1"/>
          <p:nvPr/>
        </p:nvSpPr>
        <p:spPr>
          <a:xfrm>
            <a:off x="5313578" y="4325112"/>
            <a:ext cx="2296058" cy="548640"/>
          </a:xfrm>
          <a:prstGeom prst="rect">
            <a:avLst/>
          </a:prstGeom>
          <a:noFill/>
          <a:ln/>
        </p:spPr>
        <p:txBody>
          <a:bodyPr wrap="square" lIns="0" tIns="0" rIns="0" bIns="0" rtlCol="0" anchor="ctr"/>
          <a:lstStyle/>
          <a:p>
            <a:pPr indent="0" marL="0">
              <a:buNone/>
            </a:pPr>
            <a:r>
              <a:rPr lang="en-US" sz="1800" b="1" dirty="0">
                <a:solidFill>
                  <a:schemeClr val="tx1"/>
                </a:solidFill>
                <a:latin typeface="+mn-lt" pitchFamily="34" charset="0"/>
                <a:ea typeface="+mn-lt" pitchFamily="34" charset="-122"/>
                <a:cs typeface="+mn-lt" pitchFamily="34" charset="-120"/>
              </a:rPr>
              <a:t>Prometheus</a:t>
            </a:r>
            <a:endParaRPr lang="en-US" sz="1800" dirty="0"/>
          </a:p>
        </p:txBody>
      </p:sp>
      <p:sp>
        <p:nvSpPr>
          <p:cNvPr id="27" name="Prometheus desc"/>
          <p:cNvSpPr txBox="1"/>
          <p:nvPr/>
        </p:nvSpPr>
        <p:spPr>
          <a:xfrm>
            <a:off x="4627778" y="5029200"/>
            <a:ext cx="2936138" cy="868680"/>
          </a:xfrm>
          <a:prstGeom prst="rect">
            <a:avLst/>
          </a:prstGeom>
          <a:noFill/>
          <a:ln/>
        </p:spPr>
        <p:txBody>
          <a:bodyPr wrap="square" lIns="0" tIns="0" rIns="0" bIns="0" rtlCol="0" anchor="t"/>
          <a:lstStyle/>
          <a:p>
            <a:pPr indent="0" marL="0">
              <a:buNone/>
            </a:pPr>
            <a:r>
              <a:rPr lang="en-US" sz="1400" dirty="0">
                <a:solidFill>
                  <a:schemeClr val="accent6"/>
                </a:solidFill>
                <a:latin typeface="+mn-lt" pitchFamily="34" charset="0"/>
                <a:ea typeface="+mn-lt" pitchFamily="34" charset="-122"/>
                <a:cs typeface="+mn-lt" pitchFamily="34" charset="-120"/>
              </a:rPr>
              <a:t>Scrapes every backend pod via a ServiceMonitor; alert rules on errors and latency</a:t>
            </a:r>
            <a:endParaRPr lang="en-US" sz="1400" dirty="0"/>
          </a:p>
        </p:txBody>
      </p:sp>
      <p:sp>
        <p:nvSpPr>
          <p:cNvPr id="28" name="Grafana card"/>
          <p:cNvSpPr/>
          <p:nvPr/>
        </p:nvSpPr>
        <p:spPr>
          <a:xfrm>
            <a:off x="8158277" y="4069080"/>
            <a:ext cx="3484778" cy="1965960"/>
          </a:xfrm>
          <a:prstGeom prst="roundRect">
            <a:avLst>
              <a:gd name="adj" fmla="val 5581"/>
            </a:avLst>
          </a:prstGeom>
          <a:solidFill>
            <a:srgbClr val="FFFFFF"/>
          </a:solidFill>
          <a:ln w="12700">
            <a:solidFill>
              <a:srgbClr val="D6E3DF"/>
            </a:solidFill>
            <a:prstDash val="solid"/>
          </a:ln>
        </p:spPr>
      </p:sp>
      <p:sp>
        <p:nvSpPr>
          <p:cNvPr id="29" name="Grafana dot"/>
          <p:cNvSpPr/>
          <p:nvPr/>
        </p:nvSpPr>
        <p:spPr>
          <a:xfrm>
            <a:off x="8432597" y="4325112"/>
            <a:ext cx="548640" cy="548640"/>
          </a:xfrm>
          <a:prstGeom prst="ellipse">
            <a:avLst/>
          </a:prstGeom>
          <a:solidFill>
            <a:srgbClr val="CCFBF1"/>
          </a:solidFill>
          <a:ln/>
        </p:spPr>
      </p:sp>
      <p:pic>
        <p:nvPicPr>
          <p:cNvPr id="30" name="Image 2" descr="Grafana">    </p:cNvPr>
          <p:cNvPicPr>
            <a:picLocks noChangeAspect="1"/>
          </p:cNvPicPr>
          <p:nvPr/>
        </p:nvPicPr>
        <p:blipFill>
          <a:blip r:embed="rId3"/>
          <a:stretch>
            <a:fillRect/>
          </a:stretch>
        </p:blipFill>
        <p:spPr>
          <a:xfrm>
            <a:off x="8564270" y="4456786"/>
            <a:ext cx="285293" cy="285293"/>
          </a:xfrm>
          <a:prstGeom prst="rect">
            <a:avLst/>
          </a:prstGeom>
        </p:spPr>
      </p:pic>
      <p:sp>
        <p:nvSpPr>
          <p:cNvPr id="31" name="Grafana title"/>
          <p:cNvSpPr txBox="1"/>
          <p:nvPr/>
        </p:nvSpPr>
        <p:spPr>
          <a:xfrm>
            <a:off x="9118397" y="4325112"/>
            <a:ext cx="2296058" cy="548640"/>
          </a:xfrm>
          <a:prstGeom prst="rect">
            <a:avLst/>
          </a:prstGeom>
          <a:noFill/>
          <a:ln/>
        </p:spPr>
        <p:txBody>
          <a:bodyPr wrap="square" lIns="0" tIns="0" rIns="0" bIns="0" rtlCol="0" anchor="ctr"/>
          <a:lstStyle/>
          <a:p>
            <a:pPr indent="0" marL="0">
              <a:buNone/>
            </a:pPr>
            <a:r>
              <a:rPr lang="en-US" sz="1800" b="1" dirty="0">
                <a:solidFill>
                  <a:schemeClr val="tx1"/>
                </a:solidFill>
                <a:latin typeface="+mn-lt" pitchFamily="34" charset="0"/>
                <a:ea typeface="+mn-lt" pitchFamily="34" charset="-122"/>
                <a:cs typeface="+mn-lt" pitchFamily="34" charset="-120"/>
              </a:rPr>
              <a:t>Grafana</a:t>
            </a:r>
            <a:endParaRPr lang="en-US" sz="1800" dirty="0"/>
          </a:p>
        </p:txBody>
      </p:sp>
      <p:sp>
        <p:nvSpPr>
          <p:cNvPr id="32" name="Grafana desc"/>
          <p:cNvSpPr txBox="1"/>
          <p:nvPr/>
        </p:nvSpPr>
        <p:spPr>
          <a:xfrm>
            <a:off x="8432597" y="5029200"/>
            <a:ext cx="2936138" cy="868680"/>
          </a:xfrm>
          <a:prstGeom prst="rect">
            <a:avLst/>
          </a:prstGeom>
          <a:noFill/>
          <a:ln/>
        </p:spPr>
        <p:txBody>
          <a:bodyPr wrap="square" lIns="0" tIns="0" rIns="0" bIns="0" rtlCol="0" anchor="t"/>
          <a:lstStyle/>
          <a:p>
            <a:pPr indent="0" marL="0">
              <a:buNone/>
            </a:pPr>
            <a:r>
              <a:rPr lang="en-US" sz="1400" dirty="0">
                <a:solidFill>
                  <a:schemeClr val="accent6"/>
                </a:solidFill>
                <a:latin typeface="+mn-lt" pitchFamily="34" charset="0"/>
                <a:ea typeface="+mn-lt" pitchFamily="34" charset="-122"/>
                <a:cs typeface="+mn-lt" pitchFamily="34" charset="-120"/>
              </a:rPr>
              <a:t>Auto-provisioned dashboard: traffic, errors, p95, per-pod load and HPA replicas</a:t>
            </a:r>
            <a:endParaRPr lang="en-US" sz="14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2"/>
                </a:solidFill>
                <a:latin typeface="+mn-lt" pitchFamily="34" charset="0"/>
                <a:ea typeface="+mn-lt" pitchFamily="34" charset="-122"/>
                <a:cs typeface="+mn-lt" pitchFamily="34" charset="-120"/>
              </a:rPr>
              <a:t>STAGE 13  ·  TROUBLESHOOTING</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Breaking it on purpose</a:t>
            </a:r>
            <a:endParaRPr lang="en-US" sz="3400" dirty="0"/>
          </a:p>
        </p:txBody>
      </p:sp>
      <p:sp>
        <p:nvSpPr>
          <p:cNvPr id="5" name="lead"/>
          <p:cNvSpPr txBox="1"/>
          <p:nvPr/>
        </p:nvSpPr>
        <p:spPr>
          <a:xfrm>
            <a:off x="548640" y="1600200"/>
            <a:ext cx="10789920" cy="777240"/>
          </a:xfrm>
          <a:prstGeom prst="rect">
            <a:avLst/>
          </a:prstGeom>
          <a:noFill/>
          <a:ln/>
        </p:spPr>
        <p:txBody>
          <a:bodyPr wrap="square" lIns="0" tIns="0" rIns="0" bIns="0" rtlCol="0" anchor="t"/>
          <a:lstStyle/>
          <a:p>
            <a:pPr indent="0" marL="0">
              <a:buNone/>
            </a:pPr>
            <a:r>
              <a:rPr lang="en-US" sz="1800" dirty="0">
                <a:solidFill>
                  <a:srgbClr val="A9CFC8"/>
                </a:solidFill>
                <a:latin typeface="+mn-lt" pitchFamily="34" charset="0"/>
                <a:ea typeface="+mn-lt" pitchFamily="34" charset="-122"/>
                <a:cs typeface="+mn-lt" pitchFamily="34" charset="-120"/>
              </a:rPr>
              <a:t>Deliberately broken manifests, each teaching one failure mode and how to diagnose it with </a:t>
            </a:r>
            <a:pPr indent="0" marL="0">
              <a:buNone/>
            </a:pPr>
            <a:r>
              <a:rPr lang="en-US" sz="1800" dirty="0">
                <a:solidFill>
                  <a:srgbClr val="2DD4BF"/>
                </a:solidFill>
                <a:latin typeface="Courier New" pitchFamily="34" charset="0"/>
                <a:ea typeface="Courier New" pitchFamily="34" charset="-122"/>
                <a:cs typeface="Courier New" pitchFamily="34" charset="-120"/>
              </a:rPr>
              <a:t>kubectl</a:t>
            </a:r>
            <a:pPr indent="0" marL="0">
              <a:buNone/>
            </a:pPr>
            <a:r>
              <a:rPr lang="en-US" sz="1800" dirty="0">
                <a:solidFill>
                  <a:srgbClr val="A9CFC8"/>
                </a:solidFill>
                <a:latin typeface="+mn-lt" pitchFamily="34" charset="0"/>
                <a:ea typeface="+mn-lt" pitchFamily="34" charset="-122"/>
                <a:cs typeface="+mn-lt" pitchFamily="34" charset="-120"/>
              </a:rPr>
              <a:t>.</a:t>
            </a:r>
            <a:endParaRPr lang="en-US" sz="1800" dirty="0"/>
          </a:p>
        </p:txBody>
      </p:sp>
      <p:sp>
        <p:nvSpPr>
          <p:cNvPr id="6" name="ImagePullBackOff row"/>
          <p:cNvSpPr/>
          <p:nvPr/>
        </p:nvSpPr>
        <p:spPr>
          <a:xfrm>
            <a:off x="548640" y="2560320"/>
            <a:ext cx="11094415" cy="932688"/>
          </a:xfrm>
          <a:prstGeom prst="roundRect">
            <a:avLst>
              <a:gd name="adj" fmla="val 11765"/>
            </a:avLst>
          </a:prstGeom>
          <a:solidFill>
            <a:srgbClr val="14303A"/>
          </a:solidFill>
          <a:ln/>
        </p:spPr>
      </p:sp>
      <p:sp>
        <p:nvSpPr>
          <p:cNvPr id="7" name="ImagePullBackOff dot"/>
          <p:cNvSpPr/>
          <p:nvPr/>
        </p:nvSpPr>
        <p:spPr>
          <a:xfrm>
            <a:off x="777240" y="2743200"/>
            <a:ext cx="566928" cy="566928"/>
          </a:xfrm>
          <a:prstGeom prst="ellipse">
            <a:avLst/>
          </a:prstGeom>
          <a:solidFill>
            <a:srgbClr val="3A1D1E"/>
          </a:solidFill>
          <a:ln/>
        </p:spPr>
      </p:sp>
      <p:pic>
        <p:nvPicPr>
          <p:cNvPr id="8" name="Image 0" descr="ImagePullBackOff">    </p:cNvPr>
          <p:cNvPicPr>
            <a:picLocks noChangeAspect="1"/>
          </p:cNvPicPr>
          <p:nvPr/>
        </p:nvPicPr>
        <p:blipFill>
          <a:blip r:embed="rId1"/>
          <a:stretch>
            <a:fillRect/>
          </a:stretch>
        </p:blipFill>
        <p:spPr>
          <a:xfrm>
            <a:off x="913303" y="2879263"/>
            <a:ext cx="294803" cy="294803"/>
          </a:xfrm>
          <a:prstGeom prst="rect">
            <a:avLst/>
          </a:prstGeom>
        </p:spPr>
      </p:pic>
      <p:sp>
        <p:nvSpPr>
          <p:cNvPr id="9" name="ImagePullBackOff symptom"/>
          <p:cNvSpPr txBox="1"/>
          <p:nvPr/>
        </p:nvSpPr>
        <p:spPr>
          <a:xfrm>
            <a:off x="1554480" y="2560320"/>
            <a:ext cx="3017520" cy="932688"/>
          </a:xfrm>
          <a:prstGeom prst="rect">
            <a:avLst/>
          </a:prstGeom>
          <a:noFill/>
          <a:ln/>
        </p:spPr>
        <p:txBody>
          <a:bodyPr wrap="square" lIns="0" tIns="0" rIns="0" bIns="0" rtlCol="0" anchor="ctr"/>
          <a:lstStyle/>
          <a:p>
            <a:pPr indent="0" marL="0">
              <a:buNone/>
            </a:pPr>
            <a:r>
              <a:rPr lang="en-US" sz="1700" b="1" dirty="0">
                <a:solidFill>
                  <a:srgbClr val="FCA5A5"/>
                </a:solidFill>
                <a:latin typeface="+mn-lt" pitchFamily="34" charset="0"/>
                <a:ea typeface="+mn-lt" pitchFamily="34" charset="-122"/>
                <a:cs typeface="+mn-lt" pitchFamily="34" charset="-120"/>
              </a:rPr>
              <a:t>ImagePullBackOff</a:t>
            </a:r>
            <a:endParaRPr lang="en-US" sz="1700" dirty="0"/>
          </a:p>
        </p:txBody>
      </p:sp>
      <p:sp>
        <p:nvSpPr>
          <p:cNvPr id="10" name="ImagePullBackOff cause"/>
          <p:cNvSpPr txBox="1"/>
          <p:nvPr/>
        </p:nvSpPr>
        <p:spPr>
          <a:xfrm>
            <a:off x="4663440" y="2560320"/>
            <a:ext cx="3383280" cy="932688"/>
          </a:xfrm>
          <a:prstGeom prst="rect">
            <a:avLst/>
          </a:prstGeom>
          <a:noFill/>
          <a:ln/>
        </p:spPr>
        <p:txBody>
          <a:bodyPr wrap="square" lIns="0" tIns="0" rIns="0" bIns="0" rtlCol="0" anchor="ctr"/>
          <a:lstStyle/>
          <a:p>
            <a:pPr indent="0" marL="0">
              <a:buNone/>
            </a:pPr>
            <a:r>
              <a:rPr lang="en-US" sz="1500" dirty="0">
                <a:solidFill>
                  <a:srgbClr val="CFEAE4"/>
                </a:solidFill>
                <a:latin typeface="+mn-lt" pitchFamily="34" charset="0"/>
                <a:ea typeface="+mn-lt" pitchFamily="34" charset="-122"/>
                <a:cs typeface="+mn-lt" pitchFamily="34" charset="-120"/>
              </a:rPr>
              <a:t>Wrong image tag</a:t>
            </a:r>
            <a:endParaRPr lang="en-US" sz="1500" dirty="0"/>
          </a:p>
        </p:txBody>
      </p:sp>
      <p:sp>
        <p:nvSpPr>
          <p:cNvPr id="11" name="ImagePullBackOff command"/>
          <p:cNvSpPr txBox="1"/>
          <p:nvPr/>
        </p:nvSpPr>
        <p:spPr>
          <a:xfrm>
            <a:off x="8183880" y="2560320"/>
            <a:ext cx="3276295" cy="932688"/>
          </a:xfrm>
          <a:prstGeom prst="rect">
            <a:avLst/>
          </a:prstGeom>
          <a:noFill/>
          <a:ln/>
        </p:spPr>
        <p:txBody>
          <a:bodyPr wrap="square" lIns="0" tIns="0" rIns="0" bIns="0" rtlCol="0" anchor="ctr"/>
          <a:lstStyle/>
          <a:p>
            <a:pPr indent="0" marL="0">
              <a:buNone/>
            </a:pPr>
            <a:r>
              <a:rPr lang="en-US" sz="1300" dirty="0">
                <a:solidFill>
                  <a:srgbClr val="2DD4BF"/>
                </a:solidFill>
                <a:latin typeface="Courier New" pitchFamily="34" charset="0"/>
                <a:ea typeface="Courier New" pitchFamily="34" charset="-122"/>
                <a:cs typeface="Courier New" pitchFamily="34" charset="-120"/>
              </a:rPr>
              <a:t>kubectl describe pod  →  read the Events</a:t>
            </a:r>
            <a:endParaRPr lang="en-US" sz="1300" dirty="0"/>
          </a:p>
        </p:txBody>
      </p:sp>
      <p:sp>
        <p:nvSpPr>
          <p:cNvPr id="12" name="Service, no endpoints row"/>
          <p:cNvSpPr/>
          <p:nvPr/>
        </p:nvSpPr>
        <p:spPr>
          <a:xfrm>
            <a:off x="548640" y="3675888"/>
            <a:ext cx="11094415" cy="932688"/>
          </a:xfrm>
          <a:prstGeom prst="roundRect">
            <a:avLst>
              <a:gd name="adj" fmla="val 11765"/>
            </a:avLst>
          </a:prstGeom>
          <a:solidFill>
            <a:srgbClr val="14303A"/>
          </a:solidFill>
          <a:ln/>
        </p:spPr>
      </p:sp>
      <p:sp>
        <p:nvSpPr>
          <p:cNvPr id="13" name="Service, no endpoints dot"/>
          <p:cNvSpPr/>
          <p:nvPr/>
        </p:nvSpPr>
        <p:spPr>
          <a:xfrm>
            <a:off x="777240" y="3858768"/>
            <a:ext cx="566928" cy="566928"/>
          </a:xfrm>
          <a:prstGeom prst="ellipse">
            <a:avLst/>
          </a:prstGeom>
          <a:solidFill>
            <a:srgbClr val="3A1D1E"/>
          </a:solidFill>
          <a:ln/>
        </p:spPr>
      </p:sp>
      <p:pic>
        <p:nvPicPr>
          <p:cNvPr id="14" name="Image 1" descr="Service, no endpoints">    </p:cNvPr>
          <p:cNvPicPr>
            <a:picLocks noChangeAspect="1"/>
          </p:cNvPicPr>
          <p:nvPr/>
        </p:nvPicPr>
        <p:blipFill>
          <a:blip r:embed="rId2"/>
          <a:stretch>
            <a:fillRect/>
          </a:stretch>
        </p:blipFill>
        <p:spPr>
          <a:xfrm>
            <a:off x="913303" y="3994831"/>
            <a:ext cx="294803" cy="294803"/>
          </a:xfrm>
          <a:prstGeom prst="rect">
            <a:avLst/>
          </a:prstGeom>
        </p:spPr>
      </p:pic>
      <p:sp>
        <p:nvSpPr>
          <p:cNvPr id="15" name="Service, no endpoints symptom"/>
          <p:cNvSpPr txBox="1"/>
          <p:nvPr/>
        </p:nvSpPr>
        <p:spPr>
          <a:xfrm>
            <a:off x="1554480" y="3675888"/>
            <a:ext cx="3017520" cy="932688"/>
          </a:xfrm>
          <a:prstGeom prst="rect">
            <a:avLst/>
          </a:prstGeom>
          <a:noFill/>
          <a:ln/>
        </p:spPr>
        <p:txBody>
          <a:bodyPr wrap="square" lIns="0" tIns="0" rIns="0" bIns="0" rtlCol="0" anchor="ctr"/>
          <a:lstStyle/>
          <a:p>
            <a:pPr indent="0" marL="0">
              <a:buNone/>
            </a:pPr>
            <a:r>
              <a:rPr lang="en-US" sz="1700" b="1" dirty="0">
                <a:solidFill>
                  <a:srgbClr val="FCA5A5"/>
                </a:solidFill>
                <a:latin typeface="+mn-lt" pitchFamily="34" charset="0"/>
                <a:ea typeface="+mn-lt" pitchFamily="34" charset="-122"/>
                <a:cs typeface="+mn-lt" pitchFamily="34" charset="-120"/>
              </a:rPr>
              <a:t>Service, no endpoints</a:t>
            </a:r>
            <a:endParaRPr lang="en-US" sz="1700" dirty="0"/>
          </a:p>
        </p:txBody>
      </p:sp>
      <p:sp>
        <p:nvSpPr>
          <p:cNvPr id="16" name="Service, no endpoints cause"/>
          <p:cNvSpPr txBox="1"/>
          <p:nvPr/>
        </p:nvSpPr>
        <p:spPr>
          <a:xfrm>
            <a:off x="4663440" y="3675888"/>
            <a:ext cx="3383280" cy="932688"/>
          </a:xfrm>
          <a:prstGeom prst="rect">
            <a:avLst/>
          </a:prstGeom>
          <a:noFill/>
          <a:ln/>
        </p:spPr>
        <p:txBody>
          <a:bodyPr wrap="square" lIns="0" tIns="0" rIns="0" bIns="0" rtlCol="0" anchor="ctr"/>
          <a:lstStyle/>
          <a:p>
            <a:pPr indent="0" marL="0">
              <a:buNone/>
            </a:pPr>
            <a:r>
              <a:rPr lang="en-US" sz="1500" dirty="0">
                <a:solidFill>
                  <a:srgbClr val="CFEAE4"/>
                </a:solidFill>
                <a:latin typeface="+mn-lt" pitchFamily="34" charset="0"/>
                <a:ea typeface="+mn-lt" pitchFamily="34" charset="-122"/>
                <a:cs typeface="+mn-lt" pitchFamily="34" charset="-120"/>
              </a:rPr>
              <a:t>Selector typo: no Pod has that label, so no traffic</a:t>
            </a:r>
            <a:endParaRPr lang="en-US" sz="1500" dirty="0"/>
          </a:p>
        </p:txBody>
      </p:sp>
      <p:sp>
        <p:nvSpPr>
          <p:cNvPr id="17" name="Service, no endpoints command"/>
          <p:cNvSpPr txBox="1"/>
          <p:nvPr/>
        </p:nvSpPr>
        <p:spPr>
          <a:xfrm>
            <a:off x="8183880" y="3675888"/>
            <a:ext cx="3276295" cy="932688"/>
          </a:xfrm>
          <a:prstGeom prst="rect">
            <a:avLst/>
          </a:prstGeom>
          <a:noFill/>
          <a:ln/>
        </p:spPr>
        <p:txBody>
          <a:bodyPr wrap="square" lIns="0" tIns="0" rIns="0" bIns="0" rtlCol="0" anchor="ctr"/>
          <a:lstStyle/>
          <a:p>
            <a:pPr indent="0" marL="0">
              <a:buNone/>
            </a:pPr>
            <a:r>
              <a:rPr lang="en-US" sz="1300" dirty="0">
                <a:solidFill>
                  <a:srgbClr val="2DD4BF"/>
                </a:solidFill>
                <a:latin typeface="Courier New" pitchFamily="34" charset="0"/>
                <a:ea typeface="Courier New" pitchFamily="34" charset="-122"/>
                <a:cs typeface="Courier New" pitchFamily="34" charset="-120"/>
              </a:rPr>
              <a:t>kubectl get endpointslices  ·  --show-labels</a:t>
            </a:r>
            <a:endParaRPr lang="en-US" sz="1300" dirty="0"/>
          </a:p>
        </p:txBody>
      </p:sp>
      <p:sp>
        <p:nvSpPr>
          <p:cNvPr id="18" name="CrashLoopBackOff row"/>
          <p:cNvSpPr/>
          <p:nvPr/>
        </p:nvSpPr>
        <p:spPr>
          <a:xfrm>
            <a:off x="548640" y="4791456"/>
            <a:ext cx="11094415" cy="932688"/>
          </a:xfrm>
          <a:prstGeom prst="roundRect">
            <a:avLst>
              <a:gd name="adj" fmla="val 11765"/>
            </a:avLst>
          </a:prstGeom>
          <a:solidFill>
            <a:srgbClr val="14303A"/>
          </a:solidFill>
          <a:ln/>
        </p:spPr>
      </p:sp>
      <p:sp>
        <p:nvSpPr>
          <p:cNvPr id="19" name="CrashLoopBackOff dot"/>
          <p:cNvSpPr/>
          <p:nvPr/>
        </p:nvSpPr>
        <p:spPr>
          <a:xfrm>
            <a:off x="777240" y="4974336"/>
            <a:ext cx="566928" cy="566928"/>
          </a:xfrm>
          <a:prstGeom prst="ellipse">
            <a:avLst/>
          </a:prstGeom>
          <a:solidFill>
            <a:srgbClr val="3A1D1E"/>
          </a:solidFill>
          <a:ln/>
        </p:spPr>
      </p:sp>
      <p:pic>
        <p:nvPicPr>
          <p:cNvPr id="20" name="Image 2" descr="CrashLoopBackOff">    </p:cNvPr>
          <p:cNvPicPr>
            <a:picLocks noChangeAspect="1"/>
          </p:cNvPicPr>
          <p:nvPr/>
        </p:nvPicPr>
        <p:blipFill>
          <a:blip r:embed="rId3"/>
          <a:stretch>
            <a:fillRect/>
          </a:stretch>
        </p:blipFill>
        <p:spPr>
          <a:xfrm>
            <a:off x="913303" y="5110399"/>
            <a:ext cx="294803" cy="294803"/>
          </a:xfrm>
          <a:prstGeom prst="rect">
            <a:avLst/>
          </a:prstGeom>
        </p:spPr>
      </p:pic>
      <p:sp>
        <p:nvSpPr>
          <p:cNvPr id="21" name="CrashLoopBackOff symptom"/>
          <p:cNvSpPr txBox="1"/>
          <p:nvPr/>
        </p:nvSpPr>
        <p:spPr>
          <a:xfrm>
            <a:off x="1554480" y="4791456"/>
            <a:ext cx="3017520" cy="932688"/>
          </a:xfrm>
          <a:prstGeom prst="rect">
            <a:avLst/>
          </a:prstGeom>
          <a:noFill/>
          <a:ln/>
        </p:spPr>
        <p:txBody>
          <a:bodyPr wrap="square" lIns="0" tIns="0" rIns="0" bIns="0" rtlCol="0" anchor="ctr"/>
          <a:lstStyle/>
          <a:p>
            <a:pPr indent="0" marL="0">
              <a:buNone/>
            </a:pPr>
            <a:r>
              <a:rPr lang="en-US" sz="1700" b="1" dirty="0">
                <a:solidFill>
                  <a:srgbClr val="FCA5A5"/>
                </a:solidFill>
                <a:latin typeface="+mn-lt" pitchFamily="34" charset="0"/>
                <a:ea typeface="+mn-lt" pitchFamily="34" charset="-122"/>
                <a:cs typeface="+mn-lt" pitchFamily="34" charset="-120"/>
              </a:rPr>
              <a:t>CrashLoopBackOff</a:t>
            </a:r>
            <a:endParaRPr lang="en-US" sz="1700" dirty="0"/>
          </a:p>
        </p:txBody>
      </p:sp>
      <p:sp>
        <p:nvSpPr>
          <p:cNvPr id="22" name="CrashLoopBackOff cause"/>
          <p:cNvSpPr txBox="1"/>
          <p:nvPr/>
        </p:nvSpPr>
        <p:spPr>
          <a:xfrm>
            <a:off x="4663440" y="4791456"/>
            <a:ext cx="3383280" cy="932688"/>
          </a:xfrm>
          <a:prstGeom prst="rect">
            <a:avLst/>
          </a:prstGeom>
          <a:noFill/>
          <a:ln/>
        </p:spPr>
        <p:txBody>
          <a:bodyPr wrap="square" lIns="0" tIns="0" rIns="0" bIns="0" rtlCol="0" anchor="ctr"/>
          <a:lstStyle/>
          <a:p>
            <a:pPr indent="0" marL="0">
              <a:buNone/>
            </a:pPr>
            <a:r>
              <a:rPr lang="en-US" sz="1500" dirty="0">
                <a:solidFill>
                  <a:srgbClr val="CFEAE4"/>
                </a:solidFill>
                <a:latin typeface="+mn-lt" pitchFamily="34" charset="0"/>
                <a:ea typeface="+mn-lt" pitchFamily="34" charset="-122"/>
                <a:cs typeface="+mn-lt" pitchFamily="34" charset="-120"/>
              </a:rPr>
              <a:t>Wrong database password in the config</a:t>
            </a:r>
            <a:endParaRPr lang="en-US" sz="1500" dirty="0"/>
          </a:p>
        </p:txBody>
      </p:sp>
      <p:sp>
        <p:nvSpPr>
          <p:cNvPr id="23" name="CrashLoopBackOff command"/>
          <p:cNvSpPr txBox="1"/>
          <p:nvPr/>
        </p:nvSpPr>
        <p:spPr>
          <a:xfrm>
            <a:off x="8183880" y="4791456"/>
            <a:ext cx="3276295" cy="932688"/>
          </a:xfrm>
          <a:prstGeom prst="rect">
            <a:avLst/>
          </a:prstGeom>
          <a:noFill/>
          <a:ln/>
        </p:spPr>
        <p:txBody>
          <a:bodyPr wrap="square" lIns="0" tIns="0" rIns="0" bIns="0" rtlCol="0" anchor="ctr"/>
          <a:lstStyle/>
          <a:p>
            <a:pPr indent="0" marL="0">
              <a:buNone/>
            </a:pPr>
            <a:r>
              <a:rPr lang="en-US" sz="1300" dirty="0">
                <a:solidFill>
                  <a:srgbClr val="2DD4BF"/>
                </a:solidFill>
                <a:latin typeface="Courier New" pitchFamily="34" charset="0"/>
                <a:ea typeface="Courier New" pitchFamily="34" charset="-122"/>
                <a:cs typeface="Courier New" pitchFamily="34" charset="-120"/>
              </a:rPr>
              <a:t>kubectl logs  →  readiness never passes</a:t>
            </a:r>
            <a:endParaRPr lang="en-US" sz="13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algn="l" indent="0" marL="0">
              <a:buNone/>
            </a:pPr>
            <a:r>
              <a:rPr lang="en-US" sz="1300" b="1" spc="200" kern="0" dirty="0">
                <a:solidFill>
                  <a:schemeClr val="accent1"/>
                </a:solidFill>
                <a:latin typeface="+mn-lt" pitchFamily="34" charset="0"/>
                <a:ea typeface="+mn-lt" pitchFamily="34" charset="-122"/>
                <a:cs typeface="+mn-lt" pitchFamily="34" charset="-120"/>
              </a:rPr>
              <a:t>REAL PROBLEMS I SOLVED</a:t>
            </a:r>
            <a:endParaRPr lang="en-US" sz="1300" dirty="0"/>
          </a:p>
        </p:txBody>
      </p:sp>
      <p:sp>
        <p:nvSpPr>
          <p:cNvPr id="3" name="Text 0"/>
          <p:cNvSpPr/>
          <p:nvPr>
            <p:ph idx="101" type="title" hasCustomPrompt="1"/>
          </p:nvPr>
        </p:nvSpPr>
        <p:spPr>
          <a:xfrm>
            <a:off x="548640" y="713232"/>
            <a:ext cx="11094415" cy="713232"/>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Not a tutorial: real engineering</a:t>
            </a:r>
            <a:endParaRPr lang="en-US" sz="3400" dirty="0"/>
          </a:p>
        </p:txBody>
      </p:sp>
      <p:sp>
        <p:nvSpPr>
          <p:cNvPr id="5" name="Supply-chain awareness card"/>
          <p:cNvSpPr/>
          <p:nvPr/>
        </p:nvSpPr>
        <p:spPr>
          <a:xfrm>
            <a:off x="548640" y="1691640"/>
            <a:ext cx="5387188" cy="1874520"/>
          </a:xfrm>
          <a:prstGeom prst="roundRect">
            <a:avLst>
              <a:gd name="adj" fmla="val 5854"/>
            </a:avLst>
          </a:prstGeom>
          <a:solidFill>
            <a:srgbClr val="FFFFFF"/>
          </a:solidFill>
          <a:ln w="12700">
            <a:solidFill>
              <a:srgbClr val="D6E3DF"/>
            </a:solidFill>
            <a:prstDash val="solid"/>
          </a:ln>
        </p:spPr>
      </p:sp>
      <p:sp>
        <p:nvSpPr>
          <p:cNvPr id="6" name="Supply-chain awareness dot"/>
          <p:cNvSpPr/>
          <p:nvPr/>
        </p:nvSpPr>
        <p:spPr>
          <a:xfrm>
            <a:off x="868680" y="1984248"/>
            <a:ext cx="603504" cy="603504"/>
          </a:xfrm>
          <a:prstGeom prst="ellipse">
            <a:avLst/>
          </a:prstGeom>
          <a:solidFill>
            <a:srgbClr val="CCFBF1"/>
          </a:solidFill>
          <a:ln/>
        </p:spPr>
      </p:sp>
      <p:pic>
        <p:nvPicPr>
          <p:cNvPr id="7" name="Image 0" descr="Supply-chain awareness">    </p:cNvPr>
          <p:cNvPicPr>
            <a:picLocks noChangeAspect="1"/>
          </p:cNvPicPr>
          <p:nvPr/>
        </p:nvPicPr>
        <p:blipFill>
          <a:blip r:embed="rId1"/>
          <a:stretch>
            <a:fillRect/>
          </a:stretch>
        </p:blipFill>
        <p:spPr>
          <a:xfrm>
            <a:off x="1013521" y="2129089"/>
            <a:ext cx="313822" cy="313822"/>
          </a:xfrm>
          <a:prstGeom prst="rect">
            <a:avLst/>
          </a:prstGeom>
        </p:spPr>
      </p:pic>
      <p:sp>
        <p:nvSpPr>
          <p:cNvPr id="8" name="Supply-chain awareness title"/>
          <p:cNvSpPr txBox="1"/>
          <p:nvPr/>
        </p:nvSpPr>
        <p:spPr>
          <a:xfrm>
            <a:off x="1645920" y="1984248"/>
            <a:ext cx="4107028" cy="603504"/>
          </a:xfrm>
          <a:prstGeom prst="rect">
            <a:avLst/>
          </a:prstGeom>
          <a:noFill/>
          <a:ln/>
        </p:spPr>
        <p:txBody>
          <a:bodyPr wrap="square" lIns="0" tIns="0" rIns="0" bIns="0" rtlCol="0" anchor="ctr"/>
          <a:lstStyle/>
          <a:p>
            <a:pPr indent="0" marL="0">
              <a:buNone/>
            </a:pPr>
            <a:r>
              <a:rPr lang="en-US" sz="1900" b="1" dirty="0">
                <a:solidFill>
                  <a:schemeClr val="tx1"/>
                </a:solidFill>
                <a:latin typeface="+mn-lt" pitchFamily="34" charset="0"/>
                <a:ea typeface="+mn-lt" pitchFamily="34" charset="-122"/>
                <a:cs typeface="+mn-lt" pitchFamily="34" charset="-120"/>
              </a:rPr>
              <a:t>Supply-chain awareness</a:t>
            </a:r>
            <a:endParaRPr lang="en-US" sz="1900" dirty="0"/>
          </a:p>
        </p:txBody>
      </p:sp>
      <p:sp>
        <p:nvSpPr>
          <p:cNvPr id="9" name="Supply-chain awareness desc"/>
          <p:cNvSpPr txBox="1"/>
          <p:nvPr/>
        </p:nvSpPr>
        <p:spPr>
          <a:xfrm>
            <a:off x="868680" y="2715768"/>
            <a:ext cx="4747108" cy="73152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Pinned the Trivy action to a commit SHA, because its version tags were hijacked in a March 2026 attack.</a:t>
            </a:r>
            <a:endParaRPr lang="en-US" sz="1500" dirty="0"/>
          </a:p>
        </p:txBody>
      </p:sp>
      <p:sp>
        <p:nvSpPr>
          <p:cNvPr id="10" name="AWS Free plan limits card"/>
          <p:cNvSpPr/>
          <p:nvPr/>
        </p:nvSpPr>
        <p:spPr>
          <a:xfrm>
            <a:off x="6255868" y="1691640"/>
            <a:ext cx="5387188" cy="1874520"/>
          </a:xfrm>
          <a:prstGeom prst="roundRect">
            <a:avLst>
              <a:gd name="adj" fmla="val 5854"/>
            </a:avLst>
          </a:prstGeom>
          <a:solidFill>
            <a:srgbClr val="FFFFFF"/>
          </a:solidFill>
          <a:ln w="12700">
            <a:solidFill>
              <a:srgbClr val="D6E3DF"/>
            </a:solidFill>
            <a:prstDash val="solid"/>
          </a:ln>
        </p:spPr>
      </p:sp>
      <p:sp>
        <p:nvSpPr>
          <p:cNvPr id="11" name="AWS Free plan limits dot"/>
          <p:cNvSpPr/>
          <p:nvPr/>
        </p:nvSpPr>
        <p:spPr>
          <a:xfrm>
            <a:off x="6575908" y="1984248"/>
            <a:ext cx="603504" cy="603504"/>
          </a:xfrm>
          <a:prstGeom prst="ellipse">
            <a:avLst/>
          </a:prstGeom>
          <a:solidFill>
            <a:srgbClr val="CCFBF1"/>
          </a:solidFill>
          <a:ln/>
        </p:spPr>
      </p:sp>
      <p:pic>
        <p:nvPicPr>
          <p:cNvPr id="12" name="Image 1" descr="AWS Free plan limits">    </p:cNvPr>
          <p:cNvPicPr>
            <a:picLocks noChangeAspect="1"/>
          </p:cNvPicPr>
          <p:nvPr/>
        </p:nvPicPr>
        <p:blipFill>
          <a:blip r:embed="rId2"/>
          <a:stretch>
            <a:fillRect/>
          </a:stretch>
        </p:blipFill>
        <p:spPr>
          <a:xfrm>
            <a:off x="6720749" y="2129089"/>
            <a:ext cx="313822" cy="313822"/>
          </a:xfrm>
          <a:prstGeom prst="rect">
            <a:avLst/>
          </a:prstGeom>
        </p:spPr>
      </p:pic>
      <p:sp>
        <p:nvSpPr>
          <p:cNvPr id="13" name="AWS Free plan limits title"/>
          <p:cNvSpPr txBox="1"/>
          <p:nvPr/>
        </p:nvSpPr>
        <p:spPr>
          <a:xfrm>
            <a:off x="7353148" y="1984248"/>
            <a:ext cx="4107028" cy="603504"/>
          </a:xfrm>
          <a:prstGeom prst="rect">
            <a:avLst/>
          </a:prstGeom>
          <a:noFill/>
          <a:ln/>
        </p:spPr>
        <p:txBody>
          <a:bodyPr wrap="square" lIns="0" tIns="0" rIns="0" bIns="0" rtlCol="0" anchor="ctr"/>
          <a:lstStyle/>
          <a:p>
            <a:pPr indent="0" marL="0">
              <a:buNone/>
            </a:pPr>
            <a:r>
              <a:rPr lang="en-US" sz="1900" b="1" dirty="0">
                <a:solidFill>
                  <a:schemeClr val="tx1"/>
                </a:solidFill>
                <a:latin typeface="+mn-lt" pitchFamily="34" charset="0"/>
                <a:ea typeface="+mn-lt" pitchFamily="34" charset="-122"/>
                <a:cs typeface="+mn-lt" pitchFamily="34" charset="-120"/>
              </a:rPr>
              <a:t>AWS Free plan limits</a:t>
            </a:r>
            <a:endParaRPr lang="en-US" sz="1900" dirty="0"/>
          </a:p>
        </p:txBody>
      </p:sp>
      <p:sp>
        <p:nvSpPr>
          <p:cNvPr id="14" name="AWS Free plan limits desc"/>
          <p:cNvSpPr txBox="1"/>
          <p:nvPr/>
        </p:nvSpPr>
        <p:spPr>
          <a:xfrm>
            <a:off x="6575908" y="2715768"/>
            <a:ext cx="4747108" cy="73152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t3.medium nodes were blocked, so I switched the node group to the Free Tier m7i-flex.large.</a:t>
            </a:r>
            <a:endParaRPr lang="en-US" sz="1500" dirty="0"/>
          </a:p>
        </p:txBody>
      </p:sp>
      <p:sp>
        <p:nvSpPr>
          <p:cNvPr id="15" name="OIDC trust debugging card"/>
          <p:cNvSpPr/>
          <p:nvPr/>
        </p:nvSpPr>
        <p:spPr>
          <a:xfrm>
            <a:off x="548640" y="3794760"/>
            <a:ext cx="5387188" cy="1874520"/>
          </a:xfrm>
          <a:prstGeom prst="roundRect">
            <a:avLst>
              <a:gd name="adj" fmla="val 5854"/>
            </a:avLst>
          </a:prstGeom>
          <a:solidFill>
            <a:srgbClr val="FFFFFF"/>
          </a:solidFill>
          <a:ln w="12700">
            <a:solidFill>
              <a:srgbClr val="D6E3DF"/>
            </a:solidFill>
            <a:prstDash val="solid"/>
          </a:ln>
        </p:spPr>
      </p:sp>
      <p:sp>
        <p:nvSpPr>
          <p:cNvPr id="16" name="OIDC trust debugging dot"/>
          <p:cNvSpPr/>
          <p:nvPr/>
        </p:nvSpPr>
        <p:spPr>
          <a:xfrm>
            <a:off x="868680" y="4087368"/>
            <a:ext cx="603504" cy="603504"/>
          </a:xfrm>
          <a:prstGeom prst="ellipse">
            <a:avLst/>
          </a:prstGeom>
          <a:solidFill>
            <a:srgbClr val="CCFBF1"/>
          </a:solidFill>
          <a:ln/>
        </p:spPr>
      </p:sp>
      <p:pic>
        <p:nvPicPr>
          <p:cNvPr id="17" name="Image 2" descr="OIDC trust debugging">    </p:cNvPr>
          <p:cNvPicPr>
            <a:picLocks noChangeAspect="1"/>
          </p:cNvPicPr>
          <p:nvPr/>
        </p:nvPicPr>
        <p:blipFill>
          <a:blip r:embed="rId3"/>
          <a:stretch>
            <a:fillRect/>
          </a:stretch>
        </p:blipFill>
        <p:spPr>
          <a:xfrm>
            <a:off x="1013521" y="4232209"/>
            <a:ext cx="313822" cy="313822"/>
          </a:xfrm>
          <a:prstGeom prst="rect">
            <a:avLst/>
          </a:prstGeom>
        </p:spPr>
      </p:pic>
      <p:sp>
        <p:nvSpPr>
          <p:cNvPr id="18" name="OIDC trust debugging title"/>
          <p:cNvSpPr txBox="1"/>
          <p:nvPr/>
        </p:nvSpPr>
        <p:spPr>
          <a:xfrm>
            <a:off x="1645920" y="4087368"/>
            <a:ext cx="4107028" cy="603504"/>
          </a:xfrm>
          <a:prstGeom prst="rect">
            <a:avLst/>
          </a:prstGeom>
          <a:noFill/>
          <a:ln/>
        </p:spPr>
        <p:txBody>
          <a:bodyPr wrap="square" lIns="0" tIns="0" rIns="0" bIns="0" rtlCol="0" anchor="ctr"/>
          <a:lstStyle/>
          <a:p>
            <a:pPr indent="0" marL="0">
              <a:buNone/>
            </a:pPr>
            <a:r>
              <a:rPr lang="en-US" sz="1900" b="1" dirty="0">
                <a:solidFill>
                  <a:schemeClr val="tx1"/>
                </a:solidFill>
                <a:latin typeface="+mn-lt" pitchFamily="34" charset="0"/>
                <a:ea typeface="+mn-lt" pitchFamily="34" charset="-122"/>
                <a:cs typeface="+mn-lt" pitchFamily="34" charset="-120"/>
              </a:rPr>
              <a:t>OIDC trust debugging</a:t>
            </a:r>
            <a:endParaRPr lang="en-US" sz="1900" dirty="0"/>
          </a:p>
        </p:txBody>
      </p:sp>
      <p:sp>
        <p:nvSpPr>
          <p:cNvPr id="19" name="OIDC trust debugging desc"/>
          <p:cNvSpPr txBox="1"/>
          <p:nvPr/>
        </p:nvSpPr>
        <p:spPr>
          <a:xfrm>
            <a:off x="868680" y="4818888"/>
            <a:ext cx="4747108" cy="73152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GitHub’s new ID-based tokens broke the deploy role. I fixed the IAM trust policy to accept them.</a:t>
            </a:r>
            <a:endParaRPr lang="en-US" sz="1500" dirty="0"/>
          </a:p>
        </p:txBody>
      </p:sp>
      <p:sp>
        <p:nvSpPr>
          <p:cNvPr id="20" name="Removing beats upgrading card"/>
          <p:cNvSpPr/>
          <p:nvPr/>
        </p:nvSpPr>
        <p:spPr>
          <a:xfrm>
            <a:off x="6255868" y="3794760"/>
            <a:ext cx="5387188" cy="1874520"/>
          </a:xfrm>
          <a:prstGeom prst="roundRect">
            <a:avLst>
              <a:gd name="adj" fmla="val 5854"/>
            </a:avLst>
          </a:prstGeom>
          <a:solidFill>
            <a:srgbClr val="FFFFFF"/>
          </a:solidFill>
          <a:ln w="12700">
            <a:solidFill>
              <a:srgbClr val="D6E3DF"/>
            </a:solidFill>
            <a:prstDash val="solid"/>
          </a:ln>
        </p:spPr>
      </p:sp>
      <p:sp>
        <p:nvSpPr>
          <p:cNvPr id="21" name="Removing beats upgrading dot"/>
          <p:cNvSpPr/>
          <p:nvPr/>
        </p:nvSpPr>
        <p:spPr>
          <a:xfrm>
            <a:off x="6575908" y="4087368"/>
            <a:ext cx="603504" cy="603504"/>
          </a:xfrm>
          <a:prstGeom prst="ellipse">
            <a:avLst/>
          </a:prstGeom>
          <a:solidFill>
            <a:srgbClr val="CCFBF1"/>
          </a:solidFill>
          <a:ln/>
        </p:spPr>
      </p:sp>
      <p:pic>
        <p:nvPicPr>
          <p:cNvPr id="22" name="Image 3" descr="Removing beats upgrading">    </p:cNvPr>
          <p:cNvPicPr>
            <a:picLocks noChangeAspect="1"/>
          </p:cNvPicPr>
          <p:nvPr/>
        </p:nvPicPr>
        <p:blipFill>
          <a:blip r:embed="rId4"/>
          <a:stretch>
            <a:fillRect/>
          </a:stretch>
        </p:blipFill>
        <p:spPr>
          <a:xfrm>
            <a:off x="6720749" y="4232209"/>
            <a:ext cx="313822" cy="313822"/>
          </a:xfrm>
          <a:prstGeom prst="rect">
            <a:avLst/>
          </a:prstGeom>
        </p:spPr>
      </p:pic>
      <p:sp>
        <p:nvSpPr>
          <p:cNvPr id="23" name="Removing beats upgrading title"/>
          <p:cNvSpPr txBox="1"/>
          <p:nvPr/>
        </p:nvSpPr>
        <p:spPr>
          <a:xfrm>
            <a:off x="7353148" y="4087368"/>
            <a:ext cx="4107028" cy="603504"/>
          </a:xfrm>
          <a:prstGeom prst="rect">
            <a:avLst/>
          </a:prstGeom>
          <a:noFill/>
          <a:ln/>
        </p:spPr>
        <p:txBody>
          <a:bodyPr wrap="square" lIns="0" tIns="0" rIns="0" bIns="0" rtlCol="0" anchor="ctr"/>
          <a:lstStyle/>
          <a:p>
            <a:pPr indent="0" marL="0">
              <a:buNone/>
            </a:pPr>
            <a:r>
              <a:rPr lang="en-US" sz="1900" b="1" dirty="0">
                <a:solidFill>
                  <a:schemeClr val="tx1"/>
                </a:solidFill>
                <a:latin typeface="+mn-lt" pitchFamily="34" charset="0"/>
                <a:ea typeface="+mn-lt" pitchFamily="34" charset="-122"/>
                <a:cs typeface="+mn-lt" pitchFamily="34" charset="-120"/>
              </a:rPr>
              <a:t>Removing beats upgrading</a:t>
            </a:r>
            <a:endParaRPr lang="en-US" sz="1900" dirty="0"/>
          </a:p>
        </p:txBody>
      </p:sp>
      <p:sp>
        <p:nvSpPr>
          <p:cNvPr id="24" name="Removing beats upgrading desc"/>
          <p:cNvSpPr txBox="1"/>
          <p:nvPr/>
        </p:nvSpPr>
        <p:spPr>
          <a:xfrm>
            <a:off x="6575908" y="4818888"/>
            <a:ext cx="4747108" cy="731520"/>
          </a:xfrm>
          <a:prstGeom prst="rect">
            <a:avLst/>
          </a:prstGeom>
          <a:noFill/>
          <a:ln/>
        </p:spPr>
        <p:txBody>
          <a:bodyPr wrap="square" lIns="0" tIns="0" rIns="0" bIns="0" rtlCol="0" anchor="t"/>
          <a:lstStyle/>
          <a:p>
            <a:pPr indent="0" marL="0">
              <a:buNone/>
            </a:pPr>
            <a:r>
              <a:rPr lang="en-US" sz="1500" dirty="0">
                <a:solidFill>
                  <a:schemeClr val="accent6"/>
                </a:solidFill>
                <a:latin typeface="+mn-lt" pitchFamily="34" charset="0"/>
                <a:ea typeface="+mn-lt" pitchFamily="34" charset="-122"/>
                <a:cs typeface="+mn-lt" pitchFamily="34" charset="-120"/>
              </a:rPr>
              <a:t>Dropping pip from the runtime image cleared 4 HIGH CVEs and shrank the attack surface.</a:t>
            </a:r>
            <a:endParaRPr lang="en-US" sz="15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eyebrow"/>
          <p:cNvSpPr txBox="1"/>
          <p:nvPr/>
        </p:nvSpPr>
        <p:spPr>
          <a:xfrm>
            <a:off x="640080" y="868680"/>
            <a:ext cx="10058400" cy="365760"/>
          </a:xfrm>
          <a:prstGeom prst="rect">
            <a:avLst/>
          </a:prstGeom>
          <a:noFill/>
          <a:ln/>
        </p:spPr>
        <p:txBody>
          <a:bodyPr wrap="square" lIns="0" tIns="0" rIns="0" bIns="0" rtlCol="0" anchor="t"/>
          <a:lstStyle/>
          <a:p>
            <a:pPr indent="0" marL="0">
              <a:buNone/>
            </a:pPr>
            <a:r>
              <a:rPr lang="en-US" sz="1500" b="1" spc="300" kern="0" dirty="0">
                <a:solidFill>
                  <a:schemeClr val="accent2"/>
                </a:solidFill>
                <a:latin typeface="+mn-lt" pitchFamily="34" charset="0"/>
                <a:ea typeface="+mn-lt" pitchFamily="34" charset="-122"/>
                <a:cs typeface="+mn-lt" pitchFamily="34" charset="-120"/>
              </a:rPr>
              <a:t>THE OBJECTIVE OF SESSION 21</a:t>
            </a:r>
            <a:endParaRPr lang="en-US" sz="1500" dirty="0"/>
          </a:p>
        </p:txBody>
      </p:sp>
      <p:sp>
        <p:nvSpPr>
          <p:cNvPr id="4" name="statement"/>
          <p:cNvSpPr txBox="1"/>
          <p:nvPr/>
        </p:nvSpPr>
        <p:spPr>
          <a:xfrm>
            <a:off x="640080" y="1371600"/>
            <a:ext cx="10515600" cy="1463040"/>
          </a:xfrm>
          <a:prstGeom prst="rect">
            <a:avLst/>
          </a:prstGeom>
          <a:noFill/>
          <a:ln/>
        </p:spPr>
        <p:txBody>
          <a:bodyPr wrap="square" lIns="0" tIns="0" rIns="0" bIns="0" rtlCol="0" anchor="t"/>
          <a:lstStyle/>
          <a:p>
            <a:pPr indent="0" marL="0">
              <a:buNone/>
            </a:pPr>
            <a:r>
              <a:rPr lang="en-US" sz="4000" b="1" dirty="0">
                <a:solidFill>
                  <a:schemeClr val="bg1"/>
                </a:solidFill>
                <a:latin typeface="+mj-lt" pitchFamily="34" charset="0"/>
                <a:ea typeface="+mj-lt" pitchFamily="34" charset="-122"/>
                <a:cs typeface="+mj-lt" pitchFamily="34" charset="-120"/>
              </a:rPr>
              <a:t>Every running pod traces back to a commit</a:t>
            </a:r>
            <a:endParaRPr lang="en-US" sz="4000" dirty="0"/>
          </a:p>
        </p:txBody>
      </p:sp>
      <p:sp>
        <p:nvSpPr>
          <p:cNvPr id="5" name="summary"/>
          <p:cNvSpPr txBox="1"/>
          <p:nvPr/>
        </p:nvSpPr>
        <p:spPr>
          <a:xfrm>
            <a:off x="640080" y="2880360"/>
            <a:ext cx="9875520" cy="868680"/>
          </a:xfrm>
          <a:prstGeom prst="rect">
            <a:avLst/>
          </a:prstGeom>
          <a:noFill/>
          <a:ln/>
        </p:spPr>
        <p:txBody>
          <a:bodyPr wrap="square" lIns="0" tIns="0" rIns="0" bIns="0" rtlCol="0" anchor="t"/>
          <a:lstStyle/>
          <a:p>
            <a:pPr indent="0" marL="0">
              <a:buNone/>
            </a:pPr>
            <a:r>
              <a:rPr lang="en-US" sz="1900" dirty="0">
                <a:solidFill>
                  <a:srgbClr val="A9CFC8"/>
                </a:solidFill>
                <a:latin typeface="+mn-lt" pitchFamily="34" charset="0"/>
                <a:ea typeface="+mn-lt" pitchFamily="34" charset="-122"/>
                <a:cs typeface="+mn-lt" pitchFamily="34" charset="-120"/>
              </a:rPr>
              <a:t>One commit sets off tests, a security scan, an image build, a registry push and a Helm deploy to an autoscaling, monitored cluster. All of it automated.</a:t>
            </a:r>
            <a:endParaRPr lang="en-US" sz="1900" dirty="0"/>
          </a:p>
        </p:txBody>
      </p:sp>
      <p:sp>
        <p:nvSpPr>
          <p:cNvPr id="6" name="done App + DB + tests"/>
          <p:cNvSpPr/>
          <p:nvPr/>
        </p:nvSpPr>
        <p:spPr>
          <a:xfrm>
            <a:off x="640080" y="4023360"/>
            <a:ext cx="2203704" cy="384048"/>
          </a:xfrm>
          <a:prstGeom prst="roundRect">
            <a:avLst>
              <a:gd name="adj" fmla="val 50000"/>
            </a:avLst>
          </a:prstGeom>
          <a:solidFill>
            <a:srgbClr val="14303A"/>
          </a:solidFill>
          <a:ln/>
        </p:spPr>
      </p:sp>
      <p:pic>
        <p:nvPicPr>
          <p:cNvPr id="7" name="Image 0" descr="done">    </p:cNvPr>
          <p:cNvPicPr>
            <a:picLocks noChangeAspect="1"/>
          </p:cNvPicPr>
          <p:nvPr/>
        </p:nvPicPr>
        <p:blipFill>
          <a:blip r:embed="rId1"/>
          <a:stretch>
            <a:fillRect/>
          </a:stretch>
        </p:blipFill>
        <p:spPr>
          <a:xfrm>
            <a:off x="768096" y="4105656"/>
            <a:ext cx="219456" cy="219456"/>
          </a:xfrm>
          <a:prstGeom prst="rect">
            <a:avLst/>
          </a:prstGeom>
        </p:spPr>
      </p:pic>
      <p:sp>
        <p:nvSpPr>
          <p:cNvPr id="8" name="done label App + DB + tests"/>
          <p:cNvSpPr txBox="1"/>
          <p:nvPr/>
        </p:nvSpPr>
        <p:spPr>
          <a:xfrm>
            <a:off x="1051560" y="4023360"/>
            <a:ext cx="1700784" cy="384048"/>
          </a:xfrm>
          <a:prstGeom prst="rect">
            <a:avLst/>
          </a:prstGeom>
          <a:noFill/>
          <a:ln/>
        </p:spPr>
        <p:txBody>
          <a:bodyPr wrap="square" lIns="0" tIns="0" rIns="0" bIns="0" rtlCol="0" anchor="ctr"/>
          <a:lstStyle/>
          <a:p>
            <a:pPr indent="0" marL="0">
              <a:buNone/>
            </a:pPr>
            <a:r>
              <a:rPr lang="en-US" sz="1300" b="1" dirty="0">
                <a:solidFill>
                  <a:srgbClr val="CFEAE4"/>
                </a:solidFill>
                <a:latin typeface="+mn-lt" pitchFamily="34" charset="0"/>
                <a:ea typeface="+mn-lt" pitchFamily="34" charset="-122"/>
                <a:cs typeface="+mn-lt" pitchFamily="34" charset="-120"/>
              </a:rPr>
              <a:t>App + DB + tests</a:t>
            </a:r>
            <a:endParaRPr lang="en-US" sz="1300" dirty="0"/>
          </a:p>
        </p:txBody>
      </p:sp>
      <p:sp>
        <p:nvSpPr>
          <p:cNvPr id="9" name="done CI/CD + Trivy + GHCR"/>
          <p:cNvSpPr/>
          <p:nvPr/>
        </p:nvSpPr>
        <p:spPr>
          <a:xfrm>
            <a:off x="3026664" y="4023360"/>
            <a:ext cx="2560320" cy="384048"/>
          </a:xfrm>
          <a:prstGeom prst="roundRect">
            <a:avLst>
              <a:gd name="adj" fmla="val 50000"/>
            </a:avLst>
          </a:prstGeom>
          <a:solidFill>
            <a:srgbClr val="14303A"/>
          </a:solidFill>
          <a:ln/>
        </p:spPr>
      </p:sp>
      <p:pic>
        <p:nvPicPr>
          <p:cNvPr id="10" name="Image 1" descr="done">    </p:cNvPr>
          <p:cNvPicPr>
            <a:picLocks noChangeAspect="1"/>
          </p:cNvPicPr>
          <p:nvPr/>
        </p:nvPicPr>
        <p:blipFill>
          <a:blip r:embed="rId2"/>
          <a:stretch>
            <a:fillRect/>
          </a:stretch>
        </p:blipFill>
        <p:spPr>
          <a:xfrm>
            <a:off x="3154680" y="4105656"/>
            <a:ext cx="219456" cy="219456"/>
          </a:xfrm>
          <a:prstGeom prst="rect">
            <a:avLst/>
          </a:prstGeom>
        </p:spPr>
      </p:pic>
      <p:sp>
        <p:nvSpPr>
          <p:cNvPr id="11" name="done label CI/CD + Trivy + GHCR"/>
          <p:cNvSpPr txBox="1"/>
          <p:nvPr/>
        </p:nvSpPr>
        <p:spPr>
          <a:xfrm>
            <a:off x="3438144" y="4023360"/>
            <a:ext cx="2057400" cy="384048"/>
          </a:xfrm>
          <a:prstGeom prst="rect">
            <a:avLst/>
          </a:prstGeom>
          <a:noFill/>
          <a:ln/>
        </p:spPr>
        <p:txBody>
          <a:bodyPr wrap="square" lIns="0" tIns="0" rIns="0" bIns="0" rtlCol="0" anchor="ctr"/>
          <a:lstStyle/>
          <a:p>
            <a:pPr indent="0" marL="0">
              <a:buNone/>
            </a:pPr>
            <a:r>
              <a:rPr lang="en-US" sz="1300" b="1" dirty="0">
                <a:solidFill>
                  <a:srgbClr val="CFEAE4"/>
                </a:solidFill>
                <a:latin typeface="+mn-lt" pitchFamily="34" charset="0"/>
                <a:ea typeface="+mn-lt" pitchFamily="34" charset="-122"/>
                <a:cs typeface="+mn-lt" pitchFamily="34" charset="-120"/>
              </a:rPr>
              <a:t>CI/CD + Trivy + GHCR</a:t>
            </a:r>
            <a:endParaRPr lang="en-US" sz="1300" dirty="0"/>
          </a:p>
        </p:txBody>
      </p:sp>
      <p:sp>
        <p:nvSpPr>
          <p:cNvPr id="12" name="done Terraform + EKS"/>
          <p:cNvSpPr/>
          <p:nvPr/>
        </p:nvSpPr>
        <p:spPr>
          <a:xfrm>
            <a:off x="5769864" y="4023360"/>
            <a:ext cx="2114550" cy="384048"/>
          </a:xfrm>
          <a:prstGeom prst="roundRect">
            <a:avLst>
              <a:gd name="adj" fmla="val 50000"/>
            </a:avLst>
          </a:prstGeom>
          <a:solidFill>
            <a:srgbClr val="14303A"/>
          </a:solidFill>
          <a:ln/>
        </p:spPr>
      </p:sp>
      <p:pic>
        <p:nvPicPr>
          <p:cNvPr id="13" name="Image 2" descr="done">    </p:cNvPr>
          <p:cNvPicPr>
            <a:picLocks noChangeAspect="1"/>
          </p:cNvPicPr>
          <p:nvPr/>
        </p:nvPicPr>
        <p:blipFill>
          <a:blip r:embed="rId3"/>
          <a:stretch>
            <a:fillRect/>
          </a:stretch>
        </p:blipFill>
        <p:spPr>
          <a:xfrm>
            <a:off x="5897880" y="4105656"/>
            <a:ext cx="219456" cy="219456"/>
          </a:xfrm>
          <a:prstGeom prst="rect">
            <a:avLst/>
          </a:prstGeom>
        </p:spPr>
      </p:pic>
      <p:sp>
        <p:nvSpPr>
          <p:cNvPr id="14" name="done label Terraform + EKS"/>
          <p:cNvSpPr txBox="1"/>
          <p:nvPr/>
        </p:nvSpPr>
        <p:spPr>
          <a:xfrm>
            <a:off x="6181344" y="4023360"/>
            <a:ext cx="1611630" cy="384048"/>
          </a:xfrm>
          <a:prstGeom prst="rect">
            <a:avLst/>
          </a:prstGeom>
          <a:noFill/>
          <a:ln/>
        </p:spPr>
        <p:txBody>
          <a:bodyPr wrap="square" lIns="0" tIns="0" rIns="0" bIns="0" rtlCol="0" anchor="ctr"/>
          <a:lstStyle/>
          <a:p>
            <a:pPr indent="0" marL="0">
              <a:buNone/>
            </a:pPr>
            <a:r>
              <a:rPr lang="en-US" sz="1300" b="1" dirty="0">
                <a:solidFill>
                  <a:srgbClr val="CFEAE4"/>
                </a:solidFill>
                <a:latin typeface="+mn-lt" pitchFamily="34" charset="0"/>
                <a:ea typeface="+mn-lt" pitchFamily="34" charset="-122"/>
                <a:cs typeface="+mn-lt" pitchFamily="34" charset="-120"/>
              </a:rPr>
              <a:t>Terraform + EKS</a:t>
            </a:r>
            <a:endParaRPr lang="en-US" sz="1300" dirty="0"/>
          </a:p>
        </p:txBody>
      </p:sp>
      <p:sp>
        <p:nvSpPr>
          <p:cNvPr id="15" name="done Helm + Ingress + HPA"/>
          <p:cNvSpPr/>
          <p:nvPr/>
        </p:nvSpPr>
        <p:spPr>
          <a:xfrm>
            <a:off x="8067294" y="4023360"/>
            <a:ext cx="2560320" cy="384048"/>
          </a:xfrm>
          <a:prstGeom prst="roundRect">
            <a:avLst>
              <a:gd name="adj" fmla="val 50000"/>
            </a:avLst>
          </a:prstGeom>
          <a:solidFill>
            <a:srgbClr val="14303A"/>
          </a:solidFill>
          <a:ln/>
        </p:spPr>
      </p:sp>
      <p:pic>
        <p:nvPicPr>
          <p:cNvPr id="16" name="Image 3" descr="done">    </p:cNvPr>
          <p:cNvPicPr>
            <a:picLocks noChangeAspect="1"/>
          </p:cNvPicPr>
          <p:nvPr/>
        </p:nvPicPr>
        <p:blipFill>
          <a:blip r:embed="rId4"/>
          <a:stretch>
            <a:fillRect/>
          </a:stretch>
        </p:blipFill>
        <p:spPr>
          <a:xfrm>
            <a:off x="8195310" y="4105656"/>
            <a:ext cx="219456" cy="219456"/>
          </a:xfrm>
          <a:prstGeom prst="rect">
            <a:avLst/>
          </a:prstGeom>
        </p:spPr>
      </p:pic>
      <p:sp>
        <p:nvSpPr>
          <p:cNvPr id="17" name="done label Helm + Ingress + HPA"/>
          <p:cNvSpPr txBox="1"/>
          <p:nvPr/>
        </p:nvSpPr>
        <p:spPr>
          <a:xfrm>
            <a:off x="8478774" y="4023360"/>
            <a:ext cx="2057400" cy="384048"/>
          </a:xfrm>
          <a:prstGeom prst="rect">
            <a:avLst/>
          </a:prstGeom>
          <a:noFill/>
          <a:ln/>
        </p:spPr>
        <p:txBody>
          <a:bodyPr wrap="square" lIns="0" tIns="0" rIns="0" bIns="0" rtlCol="0" anchor="ctr"/>
          <a:lstStyle/>
          <a:p>
            <a:pPr indent="0" marL="0">
              <a:buNone/>
            </a:pPr>
            <a:r>
              <a:rPr lang="en-US" sz="1300" b="1" dirty="0">
                <a:solidFill>
                  <a:srgbClr val="CFEAE4"/>
                </a:solidFill>
                <a:latin typeface="+mn-lt" pitchFamily="34" charset="0"/>
                <a:ea typeface="+mn-lt" pitchFamily="34" charset="-122"/>
                <a:cs typeface="+mn-lt" pitchFamily="34" charset="-120"/>
              </a:rPr>
              <a:t>Helm + Ingress + HPA</a:t>
            </a:r>
            <a:endParaRPr lang="en-US" sz="1300" dirty="0"/>
          </a:p>
        </p:txBody>
      </p:sp>
      <p:sp>
        <p:nvSpPr>
          <p:cNvPr id="18" name="done Prometheus + Grafana"/>
          <p:cNvSpPr/>
          <p:nvPr/>
        </p:nvSpPr>
        <p:spPr>
          <a:xfrm>
            <a:off x="640080" y="4572000"/>
            <a:ext cx="2560320" cy="384048"/>
          </a:xfrm>
          <a:prstGeom prst="roundRect">
            <a:avLst>
              <a:gd name="adj" fmla="val 50000"/>
            </a:avLst>
          </a:prstGeom>
          <a:solidFill>
            <a:srgbClr val="14303A"/>
          </a:solidFill>
          <a:ln/>
        </p:spPr>
      </p:sp>
      <p:pic>
        <p:nvPicPr>
          <p:cNvPr id="19" name="Image 4" descr="done">    </p:cNvPr>
          <p:cNvPicPr>
            <a:picLocks noChangeAspect="1"/>
          </p:cNvPicPr>
          <p:nvPr/>
        </p:nvPicPr>
        <p:blipFill>
          <a:blip r:embed="rId5"/>
          <a:stretch>
            <a:fillRect/>
          </a:stretch>
        </p:blipFill>
        <p:spPr>
          <a:xfrm>
            <a:off x="768096" y="4654296"/>
            <a:ext cx="219456" cy="219456"/>
          </a:xfrm>
          <a:prstGeom prst="rect">
            <a:avLst/>
          </a:prstGeom>
        </p:spPr>
      </p:pic>
      <p:sp>
        <p:nvSpPr>
          <p:cNvPr id="20" name="done label Prometheus + Grafana"/>
          <p:cNvSpPr txBox="1"/>
          <p:nvPr/>
        </p:nvSpPr>
        <p:spPr>
          <a:xfrm>
            <a:off x="1051560" y="4572000"/>
            <a:ext cx="2057400" cy="384048"/>
          </a:xfrm>
          <a:prstGeom prst="rect">
            <a:avLst/>
          </a:prstGeom>
          <a:noFill/>
          <a:ln/>
        </p:spPr>
        <p:txBody>
          <a:bodyPr wrap="square" lIns="0" tIns="0" rIns="0" bIns="0" rtlCol="0" anchor="ctr"/>
          <a:lstStyle/>
          <a:p>
            <a:pPr indent="0" marL="0">
              <a:buNone/>
            </a:pPr>
            <a:r>
              <a:rPr lang="en-US" sz="1300" b="1" dirty="0">
                <a:solidFill>
                  <a:srgbClr val="CFEAE4"/>
                </a:solidFill>
                <a:latin typeface="+mn-lt" pitchFamily="34" charset="0"/>
                <a:ea typeface="+mn-lt" pitchFamily="34" charset="-122"/>
                <a:cs typeface="+mn-lt" pitchFamily="34" charset="-120"/>
              </a:rPr>
              <a:t>Prometheus + Grafana</a:t>
            </a:r>
            <a:endParaRPr lang="en-US" sz="1300" dirty="0"/>
          </a:p>
        </p:txBody>
      </p:sp>
      <p:sp>
        <p:nvSpPr>
          <p:cNvPr id="21" name="divider"/>
          <p:cNvSpPr/>
          <p:nvPr/>
        </p:nvSpPr>
        <p:spPr>
          <a:xfrm>
            <a:off x="640080" y="5623560"/>
            <a:ext cx="11002975" cy="0"/>
          </a:xfrm>
          <a:prstGeom prst="line">
            <a:avLst/>
          </a:prstGeom>
          <a:noFill/>
          <a:ln w="12700">
            <a:solidFill>
              <a:srgbClr val="1E3A42"/>
            </a:solidFill>
            <a:prstDash val="solid"/>
          </a:ln>
        </p:spPr>
      </p:sp>
      <p:sp>
        <p:nvSpPr>
          <p:cNvPr id="22" name="thanks"/>
          <p:cNvSpPr txBox="1"/>
          <p:nvPr/>
        </p:nvSpPr>
        <p:spPr>
          <a:xfrm>
            <a:off x="640080" y="5806440"/>
            <a:ext cx="5486400" cy="411480"/>
          </a:xfrm>
          <a:prstGeom prst="rect">
            <a:avLst/>
          </a:prstGeom>
          <a:noFill/>
          <a:ln/>
        </p:spPr>
        <p:txBody>
          <a:bodyPr wrap="square" lIns="0" tIns="0" rIns="0" bIns="0" rtlCol="0" anchor="t"/>
          <a:lstStyle/>
          <a:p>
            <a:pPr indent="0" marL="0">
              <a:buNone/>
            </a:pPr>
            <a:r>
              <a:rPr lang="en-US" sz="2000" b="1" dirty="0">
                <a:solidFill>
                  <a:schemeClr val="bg1"/>
                </a:solidFill>
                <a:latin typeface="+mn-lt" pitchFamily="34" charset="0"/>
                <a:ea typeface="+mn-lt" pitchFamily="34" charset="-122"/>
                <a:cs typeface="+mn-lt" pitchFamily="34" charset="-120"/>
              </a:rPr>
              <a:t>Thank you. Questions?</a:t>
            </a:r>
            <a:endParaRPr lang="en-US" sz="2000" dirty="0"/>
          </a:p>
        </p:txBody>
      </p:sp>
      <p:sp>
        <p:nvSpPr>
          <p:cNvPr id="23" name="presenter"/>
          <p:cNvSpPr txBox="1"/>
          <p:nvPr/>
        </p:nvSpPr>
        <p:spPr>
          <a:xfrm>
            <a:off x="640080" y="6217920"/>
            <a:ext cx="5486400" cy="320040"/>
          </a:xfrm>
          <a:prstGeom prst="rect">
            <a:avLst/>
          </a:prstGeom>
          <a:noFill/>
          <a:ln/>
        </p:spPr>
        <p:txBody>
          <a:bodyPr wrap="square" lIns="0" tIns="0" rIns="0" bIns="0" rtlCol="0" anchor="t"/>
          <a:lstStyle/>
          <a:p>
            <a:pPr indent="0" marL="0">
              <a:buNone/>
            </a:pPr>
            <a:r>
              <a:rPr lang="en-US" sz="1300" dirty="0">
                <a:solidFill>
                  <a:srgbClr val="A9CFC8"/>
                </a:solidFill>
                <a:latin typeface="+mn-lt" pitchFamily="34" charset="0"/>
                <a:ea typeface="+mn-lt" pitchFamily="34" charset="-122"/>
                <a:cs typeface="+mn-lt" pitchFamily="34" charset="-120"/>
              </a:rPr>
              <a:t>Arjun Aggarwal  ·  ClinicFlow DevOps Capstone</a:t>
            </a:r>
            <a:endParaRPr lang="en-US" sz="1300" dirty="0"/>
          </a:p>
        </p:txBody>
      </p:sp>
      <p:sp>
        <p:nvSpPr>
          <p:cNvPr id="24" name="repo"/>
          <p:cNvSpPr txBox="1"/>
          <p:nvPr/>
        </p:nvSpPr>
        <p:spPr>
          <a:xfrm>
            <a:off x="7071055" y="5943600"/>
            <a:ext cx="4572000" cy="365760"/>
          </a:xfrm>
          <a:prstGeom prst="rect">
            <a:avLst/>
          </a:prstGeom>
          <a:noFill/>
          <a:ln/>
        </p:spPr>
        <p:txBody>
          <a:bodyPr wrap="square" lIns="0" tIns="0" rIns="0" bIns="0" rtlCol="0" anchor="t"/>
          <a:lstStyle/>
          <a:p>
            <a:pPr algn="r" indent="0" marL="0">
              <a:buNone/>
            </a:pPr>
            <a:r>
              <a:rPr lang="en-US" sz="1300" dirty="0">
                <a:solidFill>
                  <a:srgbClr val="A9CFC8"/>
                </a:solidFill>
                <a:latin typeface="Courier New" pitchFamily="34" charset="0"/>
                <a:ea typeface="Courier New" pitchFamily="34" charset="-122"/>
                <a:cs typeface="Courier New" pitchFamily="34" charset="-120"/>
              </a:rPr>
              <a:t>github.com/arju-prog/clinicflow</a:t>
            </a:r>
            <a:endParaRPr lang="en-US" sz="1300" dirty="0"/>
          </a:p>
        </p:txBody>
      </p:sp>
      <p:sp>
        <p:nvSpPr>
          <p:cNvPr id="25" name="Text 0"/>
          <p:cNvSpPr/>
          <p:nvPr>
            <p:ph idx="100" type="title" hasCustomPrompt="1"/>
          </p:nvPr>
        </p:nvSpPr>
        <p:spPr>
          <a:xfrm>
            <a:off x="640080" y="2148840"/>
            <a:ext cx="10607040" cy="2011680"/>
          </a:xfrm>
          <a:prstGeom prst="rect">
            <a:avLst/>
          </a:prstGeom>
          <a:noFill/>
          <a:ln/>
        </p:spPr>
        <p:txBody>
          <a:bodyPr wrap="square" lIns="0" tIns="0" rIns="0" bIns="0" rtlCol="0" anchor="t"/>
          <a:lstStyle/>
          <a:p>
            <a:pPr algn="l" indent="0" marL="0">
              <a:buNone/>
            </a:pPr>
            <a:endParaRPr lang="en-US" sz="4400" dirty="0"/>
          </a:p>
        </p:txBody>
      </p:sp>
    </p:spTree>
  </p:cSld>
  <p:clrMapOvr>
    <a:masterClrMapping/>
  </p:clrMapOvr>
</p:sld>
</file>

<file path=ppt/theme/theme1.xml><?xml version="1.0" encoding="utf-8"?>
<a:theme xmlns:a="http://schemas.openxmlformats.org/drawingml/2006/main" name="ClinicFlow Teal">
  <a:themeElements>
    <a:clrScheme name="ClinicFlow Teal">
      <a:dk1>
        <a:srgbClr val="13211E"/>
      </a:dk1>
      <a:lt1>
        <a:srgbClr val="FFFFFF"/>
      </a:lt1>
      <a:dk2>
        <a:srgbClr val="0B1F2A"/>
      </a:dk2>
      <a:lt2>
        <a:srgbClr val="F4F8F7"/>
      </a:lt2>
      <a:accent1>
        <a:srgbClr val="0F766E"/>
      </a:accent1>
      <a:accent2>
        <a:srgbClr val="2DD4BF"/>
      </a:accent2>
      <a:accent3>
        <a:srgbClr val="F0B429"/>
      </a:accent3>
      <a:accent4>
        <a:srgbClr val="C2410C"/>
      </a:accent4>
      <a:accent5>
        <a:srgbClr val="4F46E5"/>
      </a:accent5>
      <a:accent6>
        <a:srgbClr val="5C6B66"/>
      </a:accent6>
      <a:hlink>
        <a:srgbClr val="0F766E"/>
      </a:hlink>
      <a:folHlink>
        <a:srgbClr val="115E59"/>
      </a:folHlink>
    </a:clrScheme>
    <a:fontScheme name="ClinicFlow Te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ClinicFlow - DevOps Final Capstone</dc:title>
  <dc:subject>Session 21 DevOps capstone presentation</dc:subject>
  <dc:creator>Arjun Aggarwal</dc:creator>
  <cp:lastModifiedBy>Arjun Aggarwal</cp:lastModifiedBy>
  <cp:revision>1</cp:revision>
  <dcterms:created xsi:type="dcterms:W3CDTF">2026-10-26T18:04:59Z</dcterms:created>
  <dcterms:modified xsi:type="dcterms:W3CDTF">2026-10-26T18:04:59Z</dcterms:modified>
</cp:coreProperties>
</file>